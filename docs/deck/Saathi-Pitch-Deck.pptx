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74519"/>
            <a:ext cx="7863840" cy="914400"/>
          </a:xfrm>
          <a:prstGeom prst="rect">
            <a:avLst/>
          </a:prstGeom>
          <a:noFill/>
        </p:spPr>
        <p:txBody>
          <a:bodyPr wrap="square" lIns="0" rIns="0" tIns="0" bIns="0" anchor="t">
            <a:spAutoFit/>
          </a:bodyPr>
          <a:lstStyle/>
          <a:p>
            <a:pPr algn="l">
              <a:lnSpc>
                <a:spcPct val="100000"/>
              </a:lnSpc>
              <a:spcBef>
                <a:spcPts val="0"/>
              </a:spcBef>
              <a:spcAft>
                <a:spcPts val="600"/>
              </a:spcAft>
            </a:pPr>
            <a:r>
              <a:rPr sz="6200" b="1" i="0">
                <a:solidFill>
                  <a:srgbClr val="115E59"/>
                </a:solidFill>
                <a:latin typeface="Arial"/>
              </a:rPr>
              <a:t>Saathi</a:t>
            </a:r>
          </a:p>
          <a:p>
            <a:pPr algn="l">
              <a:spcBef>
                <a:spcPts val="0"/>
              </a:spcBef>
              <a:spcAft>
                <a:spcPts val="0"/>
              </a:spcAft>
            </a:pPr>
            <a:r>
              <a:rPr sz="1500" b="0" i="0">
                <a:solidFill>
                  <a:srgbClr val="0F766E"/>
                </a:solidFill>
                <a:latin typeface="Arial"/>
              </a:rPr>
              <a:t>साथी  ·  companion</a:t>
            </a:r>
          </a:p>
        </p:txBody>
      </p:sp>
      <p:sp>
        <p:nvSpPr>
          <p:cNvPr id="5" name="Rectangle 4"/>
          <p:cNvSpPr/>
          <p:nvPr/>
        </p:nvSpPr>
        <p:spPr>
          <a:xfrm>
            <a:off x="1024128" y="3310128"/>
            <a:ext cx="128016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611880"/>
            <a:ext cx="8412480" cy="1097280"/>
          </a:xfrm>
          <a:prstGeom prst="rect">
            <a:avLst/>
          </a:prstGeom>
          <a:noFill/>
        </p:spPr>
        <p:txBody>
          <a:bodyPr wrap="square" lIns="0" rIns="0" tIns="0" bIns="0" anchor="t">
            <a:spAutoFit/>
          </a:bodyPr>
          <a:lstStyle/>
          <a:p>
            <a:pPr algn="l">
              <a:lnSpc>
                <a:spcPct val="120000"/>
              </a:lnSpc>
              <a:spcBef>
                <a:spcPts val="0"/>
              </a:spcBef>
              <a:spcAft>
                <a:spcPts val="1000"/>
              </a:spcAft>
            </a:pPr>
            <a:r>
              <a:rPr sz="2200" b="1" i="0">
                <a:solidFill>
                  <a:srgbClr val="1A2733"/>
                </a:solidFill>
                <a:latin typeface="Arial"/>
              </a:rPr>
              <a:t>Personalised learning for every underserved learner.</a:t>
            </a:r>
          </a:p>
          <a:p>
            <a:pPr algn="l">
              <a:lnSpc>
                <a:spcPct val="135000"/>
              </a:lnSpc>
              <a:spcBef>
                <a:spcPts val="0"/>
              </a:spcBef>
              <a:spcAft>
                <a:spcPts val="0"/>
              </a:spcAft>
            </a:pPr>
            <a:r>
              <a:rPr sz="1300" b="0" i="0">
                <a:solidFill>
                  <a:srgbClr val="3F4A57"/>
                </a:solidFill>
                <a:latin typeface="Arial"/>
              </a:rPr>
              <a:t>An AI learning companion that knows exactly what a learner is studying, where they are stuck, and how to help without handing over the answer.</a:t>
            </a:r>
          </a:p>
        </p:txBody>
      </p:sp>
      <p:sp>
        <p:nvSpPr>
          <p:cNvPr id="7" name="TextBox 6"/>
          <p:cNvSpPr txBox="1"/>
          <p:nvPr/>
        </p:nvSpPr>
        <p:spPr>
          <a:xfrm>
            <a:off x="1005840" y="5806440"/>
            <a:ext cx="9144000" cy="640080"/>
          </a:xfrm>
          <a:prstGeom prst="rect">
            <a:avLst/>
          </a:prstGeom>
          <a:noFill/>
        </p:spPr>
        <p:txBody>
          <a:bodyPr wrap="square" lIns="0" rIns="0" tIns="0" bIns="0" anchor="t">
            <a:spAutoFit/>
          </a:bodyPr>
          <a:lstStyle/>
          <a:p>
            <a:pPr algn="l">
              <a:spcBef>
                <a:spcPts val="0"/>
              </a:spcBef>
              <a:spcAft>
                <a:spcPts val="400"/>
              </a:spcAft>
            </a:pPr>
            <a:r>
              <a:rPr sz="1150" b="1" i="0">
                <a:solidFill>
                  <a:srgbClr val="115E59"/>
                </a:solidFill>
                <a:latin typeface="Arial"/>
              </a:rPr>
              <a:t>Live product  ·  saathi-ap19.vercel.app</a:t>
            </a:r>
          </a:p>
          <a:p>
            <a:pPr algn="l">
              <a:spcBef>
                <a:spcPts val="0"/>
              </a:spcBef>
              <a:spcAft>
                <a:spcPts val="0"/>
              </a:spcAft>
            </a:pPr>
            <a:r>
              <a:rPr sz="1000" b="0" i="0">
                <a:solidFill>
                  <a:srgbClr val="5B6673"/>
                </a:solidFill>
                <a:latin typeface="Arial"/>
              </a:rPr>
              <a:t>Buildathon MVP  ·  August 2026  ·  Built by Akriti Panwar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01 · PROBLEM</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Enrolment was solved. Learning was not.</a:t>
            </a:r>
          </a:p>
        </p:txBody>
      </p:sp>
      <p:sp>
        <p:nvSpPr>
          <p:cNvPr id="5" name="TextBox 4"/>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6" name="TextBox 5"/>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a:t>
            </a:r>
          </a:p>
        </p:txBody>
      </p:sp>
      <p:sp>
        <p:nvSpPr>
          <p:cNvPr id="7" name="Rounded Rectangle 6"/>
          <p:cNvSpPr/>
          <p:nvPr/>
        </p:nvSpPr>
        <p:spPr>
          <a:xfrm>
            <a:off x="566928" y="1389888"/>
            <a:ext cx="5468112" cy="1536192"/>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554480"/>
            <a:ext cx="41148" cy="1207007"/>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72768"/>
            <a:ext cx="5010912" cy="1207007"/>
          </a:xfrm>
          <a:prstGeom prst="rect">
            <a:avLst/>
          </a:prstGeom>
          <a:noFill/>
        </p:spPr>
        <p:txBody>
          <a:bodyPr wrap="square" lIns="0" rIns="0" tIns="0" bIns="0" anchor="t">
            <a:spAutoFit/>
          </a:bodyPr>
          <a:lstStyle/>
          <a:p>
            <a:pPr algn="l">
              <a:lnSpc>
                <a:spcPct val="105000"/>
              </a:lnSpc>
              <a:spcBef>
                <a:spcPts val="0"/>
              </a:spcBef>
              <a:spcAft>
                <a:spcPts val="500"/>
              </a:spcAft>
            </a:pPr>
            <a:r>
              <a:rPr sz="1350" b="1" i="0">
                <a:solidFill>
                  <a:srgbClr val="1A2733"/>
                </a:solidFill>
                <a:latin typeface="Arial"/>
              </a:rPr>
              <a:t>Children move up a grade without mastering the last one</a:t>
            </a:r>
          </a:p>
          <a:p>
            <a:pPr algn="l">
              <a:lnSpc>
                <a:spcPct val="122000"/>
              </a:lnSpc>
              <a:spcBef>
                <a:spcPts val="0"/>
              </a:spcBef>
              <a:spcAft>
                <a:spcPts val="0"/>
              </a:spcAft>
            </a:pPr>
            <a:r>
              <a:rPr sz="1050" b="0" i="0">
                <a:solidFill>
                  <a:srgbClr val="3F4A57"/>
                </a:solidFill>
                <a:latin typeface="Arial"/>
              </a:rPr>
              <a:t>India put 248 million children in school. It did not put a tutor beside each one. Overcrowded classrooms mean a doubt raised on Monday is still a doubt in December — and Class 8 is built on Class 6.</a:t>
            </a:r>
          </a:p>
        </p:txBody>
      </p:sp>
      <p:sp>
        <p:nvSpPr>
          <p:cNvPr id="10" name="Rounded Rectangle 9"/>
          <p:cNvSpPr/>
          <p:nvPr/>
        </p:nvSpPr>
        <p:spPr>
          <a:xfrm>
            <a:off x="6236208" y="1389888"/>
            <a:ext cx="5468112" cy="1536192"/>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6208" y="1554480"/>
            <a:ext cx="41148" cy="1207007"/>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572768"/>
            <a:ext cx="5010912" cy="1207007"/>
          </a:xfrm>
          <a:prstGeom prst="rect">
            <a:avLst/>
          </a:prstGeom>
          <a:noFill/>
        </p:spPr>
        <p:txBody>
          <a:bodyPr wrap="square" lIns="0" rIns="0" tIns="0" bIns="0" anchor="t">
            <a:spAutoFit/>
          </a:bodyPr>
          <a:lstStyle/>
          <a:p>
            <a:pPr algn="l">
              <a:lnSpc>
                <a:spcPct val="105000"/>
              </a:lnSpc>
              <a:spcBef>
                <a:spcPts val="0"/>
              </a:spcBef>
              <a:spcAft>
                <a:spcPts val="500"/>
              </a:spcAft>
            </a:pPr>
            <a:r>
              <a:rPr sz="1350" b="1" i="0">
                <a:solidFill>
                  <a:srgbClr val="1A2733"/>
                </a:solidFill>
                <a:latin typeface="Arial"/>
              </a:rPr>
              <a:t>Help exists, but it is priced out of reach</a:t>
            </a:r>
          </a:p>
          <a:p>
            <a:pPr algn="l">
              <a:lnSpc>
                <a:spcPct val="122000"/>
              </a:lnSpc>
              <a:spcBef>
                <a:spcPts val="0"/>
              </a:spcBef>
              <a:spcAft>
                <a:spcPts val="0"/>
              </a:spcAft>
            </a:pPr>
            <a:r>
              <a:rPr sz="1050" b="0" i="0">
                <a:solidFill>
                  <a:srgbClr val="3F4A57"/>
                </a:solidFill>
                <a:latin typeface="Arial"/>
              </a:rPr>
              <a:t>Private tuition is the default answer to falling behind, and it costs more than the families who need it most can pay. The learner who most needs personalised support is the one who structurally cannot buy it.</a:t>
            </a:r>
          </a:p>
        </p:txBody>
      </p:sp>
      <p:sp>
        <p:nvSpPr>
          <p:cNvPr id="13" name="Rounded Rectangle 12"/>
          <p:cNvSpPr/>
          <p:nvPr/>
        </p:nvSpPr>
        <p:spPr>
          <a:xfrm>
            <a:off x="566928" y="3108960"/>
            <a:ext cx="5468112" cy="1536192"/>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273552"/>
            <a:ext cx="41148" cy="1207007"/>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291840"/>
            <a:ext cx="5010912" cy="1207007"/>
          </a:xfrm>
          <a:prstGeom prst="rect">
            <a:avLst/>
          </a:prstGeom>
          <a:noFill/>
        </p:spPr>
        <p:txBody>
          <a:bodyPr wrap="square" lIns="0" rIns="0" tIns="0" bIns="0" anchor="t">
            <a:spAutoFit/>
          </a:bodyPr>
          <a:lstStyle/>
          <a:p>
            <a:pPr algn="l">
              <a:lnSpc>
                <a:spcPct val="105000"/>
              </a:lnSpc>
              <a:spcBef>
                <a:spcPts val="0"/>
              </a:spcBef>
              <a:spcAft>
                <a:spcPts val="500"/>
              </a:spcAft>
            </a:pPr>
            <a:r>
              <a:rPr sz="1350" b="1" i="0">
                <a:solidFill>
                  <a:srgbClr val="1A2733"/>
                </a:solidFill>
                <a:latin typeface="Arial"/>
              </a:rPr>
              <a:t>Parents want to help and have nothing to work with</a:t>
            </a:r>
          </a:p>
          <a:p>
            <a:pPr algn="l">
              <a:lnSpc>
                <a:spcPct val="122000"/>
              </a:lnSpc>
              <a:spcBef>
                <a:spcPts val="0"/>
              </a:spcBef>
              <a:spcAft>
                <a:spcPts val="0"/>
              </a:spcAft>
            </a:pPr>
            <a:r>
              <a:rPr sz="1050" b="0" i="0">
                <a:solidFill>
                  <a:srgbClr val="3F4A57"/>
                </a:solidFill>
                <a:latin typeface="Arial"/>
              </a:rPr>
              <a:t>They lack the time, the subject knowledge, and any visibility beyond an exam mark that arrives months too late. Wanting to support a child is not the same as being able to.</a:t>
            </a:r>
          </a:p>
        </p:txBody>
      </p:sp>
      <p:sp>
        <p:nvSpPr>
          <p:cNvPr id="16" name="Rounded Rectangle 15"/>
          <p:cNvSpPr/>
          <p:nvPr/>
        </p:nvSpPr>
        <p:spPr>
          <a:xfrm>
            <a:off x="6236208" y="3108960"/>
            <a:ext cx="5468112" cy="1536192"/>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3273552"/>
            <a:ext cx="41148" cy="1207007"/>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291840"/>
            <a:ext cx="5010912" cy="1207007"/>
          </a:xfrm>
          <a:prstGeom prst="rect">
            <a:avLst/>
          </a:prstGeom>
          <a:noFill/>
        </p:spPr>
        <p:txBody>
          <a:bodyPr wrap="square" lIns="0" rIns="0" tIns="0" bIns="0" anchor="t">
            <a:spAutoFit/>
          </a:bodyPr>
          <a:lstStyle/>
          <a:p>
            <a:pPr algn="l">
              <a:lnSpc>
                <a:spcPct val="105000"/>
              </a:lnSpc>
              <a:spcBef>
                <a:spcPts val="0"/>
              </a:spcBef>
              <a:spcAft>
                <a:spcPts val="500"/>
              </a:spcAft>
            </a:pPr>
            <a:r>
              <a:rPr sz="1350" b="1" i="0">
                <a:solidFill>
                  <a:srgbClr val="1A2733"/>
                </a:solidFill>
                <a:latin typeface="Arial"/>
              </a:rPr>
              <a:t>The learners furthest from support are overlooked first</a:t>
            </a:r>
          </a:p>
          <a:p>
            <a:pPr algn="l">
              <a:lnSpc>
                <a:spcPct val="122000"/>
              </a:lnSpc>
              <a:spcBef>
                <a:spcPts val="0"/>
              </a:spcBef>
              <a:spcAft>
                <a:spcPts val="0"/>
              </a:spcAft>
            </a:pPr>
            <a:r>
              <a:rPr sz="1050" b="0" i="0">
                <a:solidFill>
                  <a:srgbClr val="3F4A57"/>
                </a:solidFill>
                <a:latin typeface="Arial"/>
              </a:rPr>
              <a:t>Economically disadvantaged, disabled and neurodiverse learners are the ones a stretched system drops first — and the ones no product is designed around.</a:t>
            </a:r>
          </a:p>
        </p:txBody>
      </p:sp>
      <p:sp>
        <p:nvSpPr>
          <p:cNvPr id="19" name="Rounded Rectangle 18"/>
          <p:cNvSpPr/>
          <p:nvPr/>
        </p:nvSpPr>
        <p:spPr>
          <a:xfrm>
            <a:off x="566928" y="4846320"/>
            <a:ext cx="11057839" cy="78638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4974336"/>
            <a:ext cx="10436047" cy="548640"/>
          </a:xfrm>
          <a:prstGeom prst="rect">
            <a:avLst/>
          </a:prstGeom>
          <a:noFill/>
        </p:spPr>
        <p:txBody>
          <a:bodyPr wrap="square" lIns="0" rIns="0" tIns="0" bIns="0" anchor="t">
            <a:spAutoFit/>
          </a:bodyPr>
          <a:lstStyle/>
          <a:p>
            <a:pPr algn="l">
              <a:spcBef>
                <a:spcPts val="0"/>
              </a:spcBef>
              <a:spcAft>
                <a:spcPts val="400"/>
              </a:spcAft>
            </a:pPr>
            <a:r>
              <a:rPr sz="1250" b="1" i="0">
                <a:solidFill>
                  <a:srgbClr val="115E59"/>
                </a:solidFill>
                <a:latin typeface="Arial"/>
              </a:rPr>
              <a:t>Existing products each solve one fragment.</a:t>
            </a:r>
          </a:p>
          <a:p>
            <a:pPr algn="l">
              <a:lnSpc>
                <a:spcPct val="125000"/>
              </a:lnSpc>
              <a:spcBef>
                <a:spcPts val="0"/>
              </a:spcBef>
              <a:spcAft>
                <a:spcPts val="0"/>
              </a:spcAft>
            </a:pPr>
            <a:r>
              <a:rPr sz="1050" b="0" i="0">
                <a:solidFill>
                  <a:srgbClr val="3F4A57"/>
                </a:solidFill>
                <a:latin typeface="Arial"/>
              </a:rPr>
              <a:t>Video platforms deliver content but cannot personalise teaching.  Generic AI assistants answer questions but do not know the learner's curriculum or history.  Practice apps assess without adapting instruction.  Tutoring personalises but does not scale. Nobody joins them up.</a:t>
            </a:r>
          </a:p>
        </p:txBody>
      </p:sp>
      <p:sp>
        <p:nvSpPr>
          <p:cNvPr id="21" name="TextBox 20"/>
          <p:cNvSpPr txBox="1"/>
          <p:nvPr/>
        </p:nvSpPr>
        <p:spPr>
          <a:xfrm>
            <a:off x="566928" y="6144768"/>
            <a:ext cx="11057839" cy="274320"/>
          </a:xfrm>
          <a:prstGeom prst="rect">
            <a:avLst/>
          </a:prstGeom>
          <a:noFill/>
        </p:spPr>
        <p:txBody>
          <a:bodyPr wrap="square" lIns="0" rIns="0" tIns="0" bIns="0" anchor="t">
            <a:spAutoFit/>
          </a:bodyPr>
          <a:lstStyle/>
          <a:p>
            <a:pPr algn="l">
              <a:lnSpc>
                <a:spcPct val="125000"/>
              </a:lnSpc>
              <a:spcBef>
                <a:spcPts val="0"/>
              </a:spcBef>
              <a:spcAft>
                <a:spcPts val="0"/>
              </a:spcAft>
            </a:pPr>
            <a:r>
              <a:rPr sz="850" b="0" i="0">
                <a:solidFill>
                  <a:srgbClr val="5B6673"/>
                </a:solidFill>
                <a:latin typeface="Arial"/>
              </a:rPr>
              <a:t>Source: PRD §2 — Problem Statement. Enrolment figure: UDISE+ 2023-24.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02 · SOLUTION</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A companion that knows what you are learning.</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Saathi is not a chatbot with a syllabus attached. It is a curriculum-aware learning journey — and the AI is grounded in the exact lesson on the learner's screen.</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2</a:t>
            </a:r>
          </a:p>
        </p:txBody>
      </p:sp>
      <p:sp>
        <p:nvSpPr>
          <p:cNvPr id="8" name="Rounded Rectangle 7"/>
          <p:cNvSpPr/>
          <p:nvPr/>
        </p:nvSpPr>
        <p:spPr>
          <a:xfrm>
            <a:off x="566928" y="1883664"/>
            <a:ext cx="1755648" cy="603504"/>
          </a:xfrm>
          <a:prstGeom prst="roundRect">
            <a:avLst>
              <a:gd name="adj" fmla="val 1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883664"/>
            <a:ext cx="1572768" cy="603504"/>
          </a:xfrm>
          <a:prstGeom prst="rect">
            <a:avLst/>
          </a:prstGeom>
          <a:noFill/>
        </p:spPr>
        <p:txBody>
          <a:bodyPr wrap="square" lIns="0" rIns="0" tIns="0" bIns="0" anchor="ctr">
            <a:spAutoFit/>
          </a:bodyPr>
          <a:lstStyle/>
          <a:p>
            <a:pPr algn="ctr">
              <a:spcBef>
                <a:spcPts val="0"/>
              </a:spcBef>
              <a:spcAft>
                <a:spcPts val="0"/>
              </a:spcAft>
            </a:pPr>
            <a:r>
              <a:rPr sz="1100" b="1" i="0">
                <a:solidFill>
                  <a:srgbClr val="FFFFFF"/>
                </a:solidFill>
                <a:latin typeface="Arial"/>
              </a:rPr>
              <a:t>Chapter</a:t>
            </a:r>
          </a:p>
        </p:txBody>
      </p:sp>
      <p:sp>
        <p:nvSpPr>
          <p:cNvPr id="10" name="TextBox 9"/>
          <p:cNvSpPr txBox="1"/>
          <p:nvPr/>
        </p:nvSpPr>
        <p:spPr>
          <a:xfrm>
            <a:off x="2322576" y="1883664"/>
            <a:ext cx="146304" cy="603504"/>
          </a:xfrm>
          <a:prstGeom prst="rect">
            <a:avLst/>
          </a:prstGeom>
          <a:noFill/>
        </p:spPr>
        <p:txBody>
          <a:bodyPr wrap="square" lIns="0" rIns="0" tIns="0" bIns="0" anchor="ctr">
            <a:spAutoFit/>
          </a:bodyPr>
          <a:lstStyle/>
          <a:p>
            <a:pPr algn="ctr">
              <a:spcBef>
                <a:spcPts val="0"/>
              </a:spcBef>
              <a:spcAft>
                <a:spcPts val="0"/>
              </a:spcAft>
            </a:pPr>
            <a:r>
              <a:rPr sz="1500" b="1" i="0">
                <a:solidFill>
                  <a:srgbClr val="5B6673"/>
                </a:solidFill>
                <a:latin typeface="Arial"/>
              </a:rPr>
              <a:t>›</a:t>
            </a:r>
          </a:p>
        </p:txBody>
      </p:sp>
      <p:sp>
        <p:nvSpPr>
          <p:cNvPr id="11" name="Rounded Rectangle 10"/>
          <p:cNvSpPr/>
          <p:nvPr/>
        </p:nvSpPr>
        <p:spPr>
          <a:xfrm>
            <a:off x="2468880" y="1883664"/>
            <a:ext cx="1755648" cy="603504"/>
          </a:xfrm>
          <a:prstGeom prst="roundRect">
            <a:avLst>
              <a:gd name="adj" fmla="val 1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1883664"/>
            <a:ext cx="1572768" cy="603504"/>
          </a:xfrm>
          <a:prstGeom prst="rect">
            <a:avLst/>
          </a:prstGeom>
          <a:noFill/>
        </p:spPr>
        <p:txBody>
          <a:bodyPr wrap="square" lIns="0" rIns="0" tIns="0" bIns="0" anchor="ctr">
            <a:spAutoFit/>
          </a:bodyPr>
          <a:lstStyle/>
          <a:p>
            <a:pPr algn="ctr">
              <a:spcBef>
                <a:spcPts val="0"/>
              </a:spcBef>
              <a:spcAft>
                <a:spcPts val="0"/>
              </a:spcAft>
            </a:pPr>
            <a:r>
              <a:rPr sz="1100" b="1" i="0">
                <a:solidFill>
                  <a:srgbClr val="FFFFFF"/>
                </a:solidFill>
                <a:latin typeface="Arial"/>
              </a:rPr>
              <a:t>Micro-lesson</a:t>
            </a:r>
          </a:p>
        </p:txBody>
      </p:sp>
      <p:sp>
        <p:nvSpPr>
          <p:cNvPr id="13" name="TextBox 12"/>
          <p:cNvSpPr txBox="1"/>
          <p:nvPr/>
        </p:nvSpPr>
        <p:spPr>
          <a:xfrm>
            <a:off x="4224528" y="1883664"/>
            <a:ext cx="146304" cy="603504"/>
          </a:xfrm>
          <a:prstGeom prst="rect">
            <a:avLst/>
          </a:prstGeom>
          <a:noFill/>
        </p:spPr>
        <p:txBody>
          <a:bodyPr wrap="square" lIns="0" rIns="0" tIns="0" bIns="0" anchor="ctr">
            <a:spAutoFit/>
          </a:bodyPr>
          <a:lstStyle/>
          <a:p>
            <a:pPr algn="ctr">
              <a:spcBef>
                <a:spcPts val="0"/>
              </a:spcBef>
              <a:spcAft>
                <a:spcPts val="0"/>
              </a:spcAft>
            </a:pPr>
            <a:r>
              <a:rPr sz="1500" b="1" i="0">
                <a:solidFill>
                  <a:srgbClr val="5B6673"/>
                </a:solidFill>
                <a:latin typeface="Arial"/>
              </a:rPr>
              <a:t>›</a:t>
            </a:r>
          </a:p>
        </p:txBody>
      </p:sp>
      <p:sp>
        <p:nvSpPr>
          <p:cNvPr id="14" name="Rounded Rectangle 13"/>
          <p:cNvSpPr/>
          <p:nvPr/>
        </p:nvSpPr>
        <p:spPr>
          <a:xfrm>
            <a:off x="4370832" y="1883664"/>
            <a:ext cx="1755648" cy="603504"/>
          </a:xfrm>
          <a:prstGeom prst="roundRect">
            <a:avLst>
              <a:gd name="adj" fmla="val 1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1883664"/>
            <a:ext cx="1572768" cy="603504"/>
          </a:xfrm>
          <a:prstGeom prst="rect">
            <a:avLst/>
          </a:prstGeom>
          <a:noFill/>
        </p:spPr>
        <p:txBody>
          <a:bodyPr wrap="square" lIns="0" rIns="0" tIns="0" bIns="0" anchor="ctr">
            <a:spAutoFit/>
          </a:bodyPr>
          <a:lstStyle/>
          <a:p>
            <a:pPr algn="ctr">
              <a:spcBef>
                <a:spcPts val="0"/>
              </a:spcBef>
              <a:spcAft>
                <a:spcPts val="0"/>
              </a:spcAft>
            </a:pPr>
            <a:r>
              <a:rPr sz="1100" b="1" i="0">
                <a:solidFill>
                  <a:srgbClr val="FFFFFF"/>
                </a:solidFill>
                <a:latin typeface="Arial"/>
              </a:rPr>
              <a:t>AI Tutor</a:t>
            </a:r>
          </a:p>
        </p:txBody>
      </p:sp>
      <p:sp>
        <p:nvSpPr>
          <p:cNvPr id="16" name="TextBox 15"/>
          <p:cNvSpPr txBox="1"/>
          <p:nvPr/>
        </p:nvSpPr>
        <p:spPr>
          <a:xfrm>
            <a:off x="6126480" y="1883664"/>
            <a:ext cx="146304" cy="603504"/>
          </a:xfrm>
          <a:prstGeom prst="rect">
            <a:avLst/>
          </a:prstGeom>
          <a:noFill/>
        </p:spPr>
        <p:txBody>
          <a:bodyPr wrap="square" lIns="0" rIns="0" tIns="0" bIns="0" anchor="ctr">
            <a:spAutoFit/>
          </a:bodyPr>
          <a:lstStyle/>
          <a:p>
            <a:pPr algn="ctr">
              <a:spcBef>
                <a:spcPts val="0"/>
              </a:spcBef>
              <a:spcAft>
                <a:spcPts val="0"/>
              </a:spcAft>
            </a:pPr>
            <a:r>
              <a:rPr sz="1500" b="1" i="0">
                <a:solidFill>
                  <a:srgbClr val="5B6673"/>
                </a:solidFill>
                <a:latin typeface="Arial"/>
              </a:rPr>
              <a:t>›</a:t>
            </a:r>
          </a:p>
        </p:txBody>
      </p:sp>
      <p:sp>
        <p:nvSpPr>
          <p:cNvPr id="17" name="Rounded Rectangle 16"/>
          <p:cNvSpPr/>
          <p:nvPr/>
        </p:nvSpPr>
        <p:spPr>
          <a:xfrm>
            <a:off x="6272784" y="1883664"/>
            <a:ext cx="1755648" cy="603504"/>
          </a:xfrm>
          <a:prstGeom prst="roundRect">
            <a:avLst>
              <a:gd name="adj" fmla="val 16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1883664"/>
            <a:ext cx="1572768" cy="603504"/>
          </a:xfrm>
          <a:prstGeom prst="rect">
            <a:avLst/>
          </a:prstGeom>
          <a:noFill/>
        </p:spPr>
        <p:txBody>
          <a:bodyPr wrap="square" lIns="0" rIns="0" tIns="0" bIns="0" anchor="ctr">
            <a:spAutoFit/>
          </a:bodyPr>
          <a:lstStyle/>
          <a:p>
            <a:pPr algn="ctr">
              <a:spcBef>
                <a:spcPts val="0"/>
              </a:spcBef>
              <a:spcAft>
                <a:spcPts val="0"/>
              </a:spcAft>
            </a:pPr>
            <a:r>
              <a:rPr sz="1100" b="1" i="0">
                <a:solidFill>
                  <a:srgbClr val="115E59"/>
                </a:solidFill>
                <a:latin typeface="Arial"/>
              </a:rPr>
              <a:t>Guided practice</a:t>
            </a:r>
          </a:p>
        </p:txBody>
      </p:sp>
      <p:sp>
        <p:nvSpPr>
          <p:cNvPr id="19" name="TextBox 18"/>
          <p:cNvSpPr txBox="1"/>
          <p:nvPr/>
        </p:nvSpPr>
        <p:spPr>
          <a:xfrm>
            <a:off x="8028432" y="1883664"/>
            <a:ext cx="146304" cy="603504"/>
          </a:xfrm>
          <a:prstGeom prst="rect">
            <a:avLst/>
          </a:prstGeom>
          <a:noFill/>
        </p:spPr>
        <p:txBody>
          <a:bodyPr wrap="square" lIns="0" rIns="0" tIns="0" bIns="0" anchor="ctr">
            <a:spAutoFit/>
          </a:bodyPr>
          <a:lstStyle/>
          <a:p>
            <a:pPr algn="ctr">
              <a:spcBef>
                <a:spcPts val="0"/>
              </a:spcBef>
              <a:spcAft>
                <a:spcPts val="0"/>
              </a:spcAft>
            </a:pPr>
            <a:r>
              <a:rPr sz="1500" b="1" i="0">
                <a:solidFill>
                  <a:srgbClr val="5B6673"/>
                </a:solidFill>
                <a:latin typeface="Arial"/>
              </a:rPr>
              <a:t>›</a:t>
            </a:r>
          </a:p>
        </p:txBody>
      </p:sp>
      <p:sp>
        <p:nvSpPr>
          <p:cNvPr id="20" name="Rounded Rectangle 19"/>
          <p:cNvSpPr/>
          <p:nvPr/>
        </p:nvSpPr>
        <p:spPr>
          <a:xfrm>
            <a:off x="8174736" y="1883664"/>
            <a:ext cx="1755648" cy="603504"/>
          </a:xfrm>
          <a:prstGeom prst="roundRect">
            <a:avLst>
              <a:gd name="adj" fmla="val 16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6175" y="1883664"/>
            <a:ext cx="1572768" cy="603504"/>
          </a:xfrm>
          <a:prstGeom prst="rect">
            <a:avLst/>
          </a:prstGeom>
          <a:noFill/>
        </p:spPr>
        <p:txBody>
          <a:bodyPr wrap="square" lIns="0" rIns="0" tIns="0" bIns="0" anchor="ctr">
            <a:spAutoFit/>
          </a:bodyPr>
          <a:lstStyle/>
          <a:p>
            <a:pPr algn="ctr">
              <a:spcBef>
                <a:spcPts val="0"/>
              </a:spcBef>
              <a:spcAft>
                <a:spcPts val="0"/>
              </a:spcAft>
            </a:pPr>
            <a:r>
              <a:rPr sz="1100" b="1" i="0">
                <a:solidFill>
                  <a:srgbClr val="115E59"/>
                </a:solidFill>
                <a:latin typeface="Arial"/>
              </a:rPr>
              <a:t>Chapter quiz</a:t>
            </a:r>
          </a:p>
        </p:txBody>
      </p:sp>
      <p:sp>
        <p:nvSpPr>
          <p:cNvPr id="22" name="TextBox 21"/>
          <p:cNvSpPr txBox="1"/>
          <p:nvPr/>
        </p:nvSpPr>
        <p:spPr>
          <a:xfrm>
            <a:off x="9930384" y="1883664"/>
            <a:ext cx="146304" cy="603504"/>
          </a:xfrm>
          <a:prstGeom prst="rect">
            <a:avLst/>
          </a:prstGeom>
          <a:noFill/>
        </p:spPr>
        <p:txBody>
          <a:bodyPr wrap="square" lIns="0" rIns="0" tIns="0" bIns="0" anchor="ctr">
            <a:spAutoFit/>
          </a:bodyPr>
          <a:lstStyle/>
          <a:p>
            <a:pPr algn="ctr">
              <a:spcBef>
                <a:spcPts val="0"/>
              </a:spcBef>
              <a:spcAft>
                <a:spcPts val="0"/>
              </a:spcAft>
            </a:pPr>
            <a:r>
              <a:rPr sz="1500" b="1" i="0">
                <a:solidFill>
                  <a:srgbClr val="5B6673"/>
                </a:solidFill>
                <a:latin typeface="Arial"/>
              </a:rPr>
              <a:t>›</a:t>
            </a:r>
          </a:p>
        </p:txBody>
      </p:sp>
      <p:sp>
        <p:nvSpPr>
          <p:cNvPr id="23" name="Rounded Rectangle 22"/>
          <p:cNvSpPr/>
          <p:nvPr/>
        </p:nvSpPr>
        <p:spPr>
          <a:xfrm>
            <a:off x="10076688" y="1883664"/>
            <a:ext cx="1755648" cy="603504"/>
          </a:xfrm>
          <a:prstGeom prst="roundRect">
            <a:avLst>
              <a:gd name="adj" fmla="val 16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68128" y="1883664"/>
            <a:ext cx="1572768" cy="603504"/>
          </a:xfrm>
          <a:prstGeom prst="rect">
            <a:avLst/>
          </a:prstGeom>
          <a:noFill/>
        </p:spPr>
        <p:txBody>
          <a:bodyPr wrap="square" lIns="0" rIns="0" tIns="0" bIns="0" anchor="ctr">
            <a:spAutoFit/>
          </a:bodyPr>
          <a:lstStyle/>
          <a:p>
            <a:pPr algn="ctr">
              <a:spcBef>
                <a:spcPts val="0"/>
              </a:spcBef>
              <a:spcAft>
                <a:spcPts val="0"/>
              </a:spcAft>
            </a:pPr>
            <a:r>
              <a:rPr sz="1100" b="1" i="0">
                <a:solidFill>
                  <a:srgbClr val="115E59"/>
                </a:solidFill>
                <a:latin typeface="Arial"/>
              </a:rPr>
              <a:t>Mastery + insights</a:t>
            </a:r>
          </a:p>
        </p:txBody>
      </p:sp>
      <p:sp>
        <p:nvSpPr>
          <p:cNvPr id="25" name="Rounded Rectangle 24"/>
          <p:cNvSpPr/>
          <p:nvPr/>
        </p:nvSpPr>
        <p:spPr>
          <a:xfrm>
            <a:off x="566928" y="2816352"/>
            <a:ext cx="356341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2980944"/>
            <a:ext cx="41148" cy="10972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2999232"/>
            <a:ext cx="3106216" cy="1097280"/>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Grounded, not generic</a:t>
            </a:r>
          </a:p>
          <a:p>
            <a:pPr algn="l">
              <a:lnSpc>
                <a:spcPct val="122000"/>
              </a:lnSpc>
              <a:spcBef>
                <a:spcPts val="0"/>
              </a:spcBef>
              <a:spcAft>
                <a:spcPts val="0"/>
              </a:spcAft>
            </a:pPr>
            <a:r>
              <a:rPr sz="980" b="0" i="0">
                <a:solidFill>
                  <a:srgbClr val="3F4A57"/>
                </a:solidFill>
                <a:latin typeface="Arial"/>
              </a:rPr>
              <a:t>Every tutor call carries the current lesson's text and that learner's concept mastery. It teaches inside the curriculum, and it hints before it answers — a learner handed the answer has learned nothing.</a:t>
            </a:r>
          </a:p>
        </p:txBody>
      </p:sp>
      <p:sp>
        <p:nvSpPr>
          <p:cNvPr id="28" name="Rounded Rectangle 27"/>
          <p:cNvSpPr/>
          <p:nvPr/>
        </p:nvSpPr>
        <p:spPr>
          <a:xfrm>
            <a:off x="4313224" y="2816352"/>
            <a:ext cx="356341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13224" y="2980944"/>
            <a:ext cx="41148" cy="10972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69256" y="2999232"/>
            <a:ext cx="3106216" cy="1097280"/>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Adapts to the concept, not the score</a:t>
            </a:r>
          </a:p>
          <a:p>
            <a:pPr algn="l">
              <a:lnSpc>
                <a:spcPct val="122000"/>
              </a:lnSpc>
              <a:spcBef>
                <a:spcPts val="0"/>
              </a:spcBef>
              <a:spcAft>
                <a:spcPts val="0"/>
              </a:spcAft>
            </a:pPr>
            <a:r>
              <a:rPr sz="980" b="0" i="0">
                <a:solidFill>
                  <a:srgbClr val="3F4A57"/>
                </a:solidFill>
                <a:latin typeface="Arial"/>
              </a:rPr>
              <a:t>Mastery is tracked per concept, not per chapter. Practice difficulty steps up and down on performance, and the next lesson is recommended from what is actually weak.</a:t>
            </a:r>
          </a:p>
        </p:txBody>
      </p:sp>
      <p:sp>
        <p:nvSpPr>
          <p:cNvPr id="31" name="Rounded Rectangle 30"/>
          <p:cNvSpPr/>
          <p:nvPr/>
        </p:nvSpPr>
        <p:spPr>
          <a:xfrm>
            <a:off x="8059521" y="2816352"/>
            <a:ext cx="356341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59521" y="2980944"/>
            <a:ext cx="41148" cy="109728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15553" y="2999232"/>
            <a:ext cx="3106216" cy="1097280"/>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Hindi from day one</a:t>
            </a:r>
          </a:p>
          <a:p>
            <a:pPr algn="l">
              <a:lnSpc>
                <a:spcPct val="122000"/>
              </a:lnSpc>
              <a:spcBef>
                <a:spcPts val="0"/>
              </a:spcBef>
              <a:spcAft>
                <a:spcPts val="0"/>
              </a:spcAft>
            </a:pPr>
            <a:r>
              <a:rPr sz="980" b="0" i="0">
                <a:solidFill>
                  <a:srgbClr val="3F4A57"/>
                </a:solidFill>
                <a:latin typeface="Arial"/>
              </a:rPr>
              <a:t>Full UI, curriculum content and AI tutor in Hindi and English. For a Hindi-medium learner, language is not a feature — it is the front door. Personalisation is worthless to someone who cannot read the lesson.</a:t>
            </a:r>
          </a:p>
        </p:txBody>
      </p:sp>
      <p:sp>
        <p:nvSpPr>
          <p:cNvPr id="34" name="Rounded Rectangle 33"/>
          <p:cNvSpPr/>
          <p:nvPr/>
        </p:nvSpPr>
        <p:spPr>
          <a:xfrm>
            <a:off x="566928" y="4425696"/>
            <a:ext cx="356341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590288"/>
            <a:ext cx="41148" cy="10972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4608576"/>
            <a:ext cx="3106216" cy="1097280"/>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A parent loop that needs no parent</a:t>
            </a:r>
          </a:p>
          <a:p>
            <a:pPr algn="l">
              <a:lnSpc>
                <a:spcPct val="122000"/>
              </a:lnSpc>
              <a:spcBef>
                <a:spcPts val="0"/>
              </a:spcBef>
              <a:spcAft>
                <a:spcPts val="0"/>
              </a:spcAft>
            </a:pPr>
            <a:r>
              <a:rPr sz="980" b="0" i="0">
                <a:solidFill>
                  <a:srgbClr val="3F4A57"/>
                </a:solidFill>
                <a:latin typeface="Arial"/>
              </a:rPr>
              <a:t>A weekly summary reaches a supporting adult through a link — no account, no app, no login. Because the adult who checks may be a grandmother, an older sister, or a teacher.</a:t>
            </a:r>
          </a:p>
        </p:txBody>
      </p:sp>
      <p:sp>
        <p:nvSpPr>
          <p:cNvPr id="37" name="Rounded Rectangle 36"/>
          <p:cNvSpPr/>
          <p:nvPr/>
        </p:nvSpPr>
        <p:spPr>
          <a:xfrm>
            <a:off x="4313224" y="4425696"/>
            <a:ext cx="356341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313224" y="4590288"/>
            <a:ext cx="41148" cy="10972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69256" y="4608576"/>
            <a:ext cx="3106216" cy="1097280"/>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Built to keep someone coming back</a:t>
            </a:r>
          </a:p>
          <a:p>
            <a:pPr algn="l">
              <a:lnSpc>
                <a:spcPct val="122000"/>
              </a:lnSpc>
              <a:spcBef>
                <a:spcPts val="0"/>
              </a:spcBef>
              <a:spcAft>
                <a:spcPts val="0"/>
              </a:spcAft>
            </a:pPr>
            <a:r>
              <a:rPr sz="980" b="0" i="0">
                <a:solidFill>
                  <a:srgbClr val="3F4A57"/>
                </a:solidFill>
                <a:latin typeface="Arial"/>
              </a:rPr>
              <a:t>A closable daily goal, a streak with a grace day, milestones. No hearts, no leaderboards, no guilt — mechanics that punish invert badly for a learner who is already behind.</a:t>
            </a:r>
          </a:p>
        </p:txBody>
      </p:sp>
      <p:sp>
        <p:nvSpPr>
          <p:cNvPr id="40" name="Rounded Rectangle 39"/>
          <p:cNvSpPr/>
          <p:nvPr/>
        </p:nvSpPr>
        <p:spPr>
          <a:xfrm>
            <a:off x="8059521" y="4425696"/>
            <a:ext cx="356341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59521" y="4590288"/>
            <a:ext cx="41148" cy="10972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15553" y="4608576"/>
            <a:ext cx="3106216" cy="1097280"/>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A human when AI is not enough</a:t>
            </a:r>
          </a:p>
          <a:p>
            <a:pPr algn="l">
              <a:lnSpc>
                <a:spcPct val="122000"/>
              </a:lnSpc>
              <a:spcBef>
                <a:spcPts val="0"/>
              </a:spcBef>
              <a:spcAft>
                <a:spcPts val="0"/>
              </a:spcAft>
            </a:pPr>
            <a:r>
              <a:rPr sz="980" b="0" i="0">
                <a:solidFill>
                  <a:srgbClr val="3F4A57"/>
                </a:solidFill>
                <a:latin typeface="Arial"/>
              </a:rPr>
              <a:t>Repeated struggle on one concept is detected, and the learner is offered a real person. Framed as an offer, never as a diagnosis.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03 · MARKET VALIDATION</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The phone is already in their hand.</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The access problem is close to solved. The reason-to-open-it problem is wide open — and that is the one Saathi is built for.</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3</a:t>
            </a:r>
          </a:p>
        </p:txBody>
      </p:sp>
      <p:sp>
        <p:nvSpPr>
          <p:cNvPr id="8" name="Rounded Rectangle 7"/>
          <p:cNvSpPr/>
          <p:nvPr/>
        </p:nvSpPr>
        <p:spPr>
          <a:xfrm>
            <a:off x="566928" y="1883664"/>
            <a:ext cx="3564026" cy="1572768"/>
          </a:xfrm>
          <a:prstGeom prst="roundRect">
            <a:avLst>
              <a:gd name="adj" fmla="val 6000"/>
            </a:avLst>
          </a:prstGeom>
          <a:solidFill>
            <a:srgbClr val="DCFCE7"/>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084832"/>
            <a:ext cx="3106826" cy="1207007"/>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15803D"/>
                </a:solidFill>
                <a:latin typeface="Arial"/>
              </a:rPr>
              <a:t>~90%</a:t>
            </a:r>
          </a:p>
          <a:p>
            <a:pPr algn="l">
              <a:lnSpc>
                <a:spcPct val="115000"/>
              </a:lnSpc>
              <a:spcBef>
                <a:spcPts val="0"/>
              </a:spcBef>
              <a:spcAft>
                <a:spcPts val="300"/>
              </a:spcAft>
            </a:pPr>
            <a:r>
              <a:rPr sz="1100" b="1" i="0">
                <a:solidFill>
                  <a:srgbClr val="1A2733"/>
                </a:solidFill>
                <a:latin typeface="Arial"/>
              </a:rPr>
              <a:t>of rural households with a child aged 14–16 own a smartphone</a:t>
            </a:r>
          </a:p>
          <a:p>
            <a:pPr algn="l">
              <a:lnSpc>
                <a:spcPct val="120000"/>
              </a:lnSpc>
              <a:spcBef>
                <a:spcPts val="0"/>
              </a:spcBef>
              <a:spcAft>
                <a:spcPts val="0"/>
              </a:spcAft>
            </a:pPr>
            <a:r>
              <a:rPr sz="950" b="0" i="0">
                <a:solidFill>
                  <a:srgbClr val="5B6673"/>
                </a:solidFill>
                <a:latin typeface="Arial"/>
              </a:rPr>
              <a:t>Device access is no longer the binding constraint.</a:t>
            </a:r>
          </a:p>
        </p:txBody>
      </p:sp>
      <p:sp>
        <p:nvSpPr>
          <p:cNvPr id="10" name="Rounded Rectangle 9"/>
          <p:cNvSpPr/>
          <p:nvPr/>
        </p:nvSpPr>
        <p:spPr>
          <a:xfrm>
            <a:off x="4313834" y="1883664"/>
            <a:ext cx="3564026" cy="1572768"/>
          </a:xfrm>
          <a:prstGeom prst="roundRect">
            <a:avLst>
              <a:gd name="adj" fmla="val 6000"/>
            </a:avLst>
          </a:prstGeom>
          <a:solidFill>
            <a:srgbClr val="FEF3C7"/>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2084832"/>
            <a:ext cx="3106826" cy="1207007"/>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B45309"/>
                </a:solidFill>
                <a:latin typeface="Arial"/>
              </a:rPr>
              <a:t>57%</a:t>
            </a:r>
          </a:p>
          <a:p>
            <a:pPr algn="l">
              <a:lnSpc>
                <a:spcPct val="115000"/>
              </a:lnSpc>
              <a:spcBef>
                <a:spcPts val="0"/>
              </a:spcBef>
              <a:spcAft>
                <a:spcPts val="300"/>
              </a:spcAft>
            </a:pPr>
            <a:r>
              <a:rPr sz="1100" b="1" i="0">
                <a:solidFill>
                  <a:srgbClr val="1A2733"/>
                </a:solidFill>
                <a:latin typeface="Arial"/>
              </a:rPr>
              <a:t>of those children used one for anything educational last week</a:t>
            </a:r>
          </a:p>
          <a:p>
            <a:pPr algn="l">
              <a:lnSpc>
                <a:spcPct val="120000"/>
              </a:lnSpc>
              <a:spcBef>
                <a:spcPts val="0"/>
              </a:spcBef>
              <a:spcAft>
                <a:spcPts val="0"/>
              </a:spcAft>
            </a:pPr>
            <a:r>
              <a:rPr sz="950" b="0" i="0">
                <a:solidFill>
                  <a:srgbClr val="5B6673"/>
                </a:solidFill>
                <a:latin typeface="Arial"/>
              </a:rPr>
              <a:t>76% used one for social media in the same week.</a:t>
            </a:r>
          </a:p>
        </p:txBody>
      </p:sp>
      <p:sp>
        <p:nvSpPr>
          <p:cNvPr id="12" name="Rounded Rectangle 11"/>
          <p:cNvSpPr/>
          <p:nvPr/>
        </p:nvSpPr>
        <p:spPr>
          <a:xfrm>
            <a:off x="8060740" y="1883664"/>
            <a:ext cx="3564026" cy="1572768"/>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8484" y="2084832"/>
            <a:ext cx="3106826" cy="1207007"/>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248M</a:t>
            </a:r>
          </a:p>
          <a:p>
            <a:pPr algn="l">
              <a:lnSpc>
                <a:spcPct val="115000"/>
              </a:lnSpc>
              <a:spcBef>
                <a:spcPts val="0"/>
              </a:spcBef>
              <a:spcAft>
                <a:spcPts val="300"/>
              </a:spcAft>
            </a:pPr>
            <a:r>
              <a:rPr sz="1100" b="1" i="0">
                <a:solidFill>
                  <a:srgbClr val="1A2733"/>
                </a:solidFill>
                <a:latin typeface="Arial"/>
              </a:rPr>
              <a:t>students enrolled in Classes 1–12 — and the number is falling</a:t>
            </a:r>
          </a:p>
          <a:p>
            <a:pPr algn="l">
              <a:lnSpc>
                <a:spcPct val="120000"/>
              </a:lnSpc>
              <a:spcBef>
                <a:spcPts val="0"/>
              </a:spcBef>
              <a:spcAft>
                <a:spcPts val="0"/>
              </a:spcAft>
            </a:pPr>
            <a:r>
              <a:rPr sz="950" b="0" i="0">
                <a:solidFill>
                  <a:srgbClr val="5B6673"/>
                </a:solidFill>
                <a:latin typeface="Arial"/>
              </a:rPr>
              <a:t>26.4 crore average (2018–22) → 24.8 crore (2023-24).</a:t>
            </a:r>
          </a:p>
        </p:txBody>
      </p:sp>
      <p:sp>
        <p:nvSpPr>
          <p:cNvPr id="14" name="Rounded Rectangle 13"/>
          <p:cNvSpPr/>
          <p:nvPr/>
        </p:nvSpPr>
        <p:spPr>
          <a:xfrm>
            <a:off x="566928" y="3639312"/>
            <a:ext cx="11057839" cy="932688"/>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3785615"/>
            <a:ext cx="10436047" cy="731520"/>
          </a:xfrm>
          <a:prstGeom prst="rect">
            <a:avLst/>
          </a:prstGeom>
          <a:noFill/>
        </p:spPr>
        <p:txBody>
          <a:bodyPr wrap="square" lIns="0" rIns="0" tIns="0" bIns="0" anchor="t">
            <a:spAutoFit/>
          </a:bodyPr>
          <a:lstStyle/>
          <a:p>
            <a:pPr algn="l">
              <a:spcBef>
                <a:spcPts val="0"/>
              </a:spcBef>
              <a:spcAft>
                <a:spcPts val="500"/>
              </a:spcAft>
            </a:pPr>
            <a:r>
              <a:rPr sz="1350" b="1" i="0">
                <a:solidFill>
                  <a:srgbClr val="115E59"/>
                </a:solidFill>
                <a:latin typeface="Arial"/>
              </a:rPr>
              <a:t>The 33-point gap is the product thesis.</a:t>
            </a:r>
          </a:p>
          <a:p>
            <a:pPr algn="l">
              <a:lnSpc>
                <a:spcPct val="128000"/>
              </a:lnSpc>
              <a:spcBef>
                <a:spcPts val="0"/>
              </a:spcBef>
              <a:spcAft>
                <a:spcPts val="0"/>
              </a:spcAft>
            </a:pPr>
            <a:r>
              <a:rPr sz="1100" b="0" i="0">
                <a:solidFill>
                  <a:srgbClr val="3F4A57"/>
                </a:solidFill>
                <a:latin typeface="Arial"/>
              </a:rPr>
              <a:t>Nine in ten of these children can reach a learning app; barely half open one. Distribution here is not a hardware problem, it is a habit problem — which is why the daily goal, the streak and the weekly parent summary are MVP scope and not Phase 3 polish.</a:t>
            </a:r>
          </a:p>
        </p:txBody>
      </p:sp>
      <p:sp>
        <p:nvSpPr>
          <p:cNvPr id="16" name="Rounded Rectangle 15"/>
          <p:cNvSpPr/>
          <p:nvPr/>
        </p:nvSpPr>
        <p:spPr>
          <a:xfrm>
            <a:off x="566928" y="4754880"/>
            <a:ext cx="5437479" cy="113385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919472"/>
            <a:ext cx="41148" cy="80467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4980279" cy="804672"/>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A buyer already exists, and it is mandated</a:t>
            </a:r>
          </a:p>
          <a:p>
            <a:pPr algn="l">
              <a:lnSpc>
                <a:spcPct val="122000"/>
              </a:lnSpc>
              <a:spcBef>
                <a:spcPts val="0"/>
              </a:spcBef>
              <a:spcAft>
                <a:spcPts val="0"/>
              </a:spcAft>
            </a:pPr>
            <a:r>
              <a:rPr sz="980" b="0" i="0">
                <a:solidFill>
                  <a:srgbClr val="3F4A57"/>
                </a:solidFill>
                <a:latin typeface="Arial"/>
              </a:rPr>
              <a:t>Section 135 of the Companies Act requires qualifying companies to spend 2% of net profit on CSR. Education is the most-funded category. A per-learner programme is exactly the shape CSR budgets buy.</a:t>
            </a:r>
          </a:p>
        </p:txBody>
      </p:sp>
      <p:sp>
        <p:nvSpPr>
          <p:cNvPr id="19" name="Rounded Rectangle 18"/>
          <p:cNvSpPr/>
          <p:nvPr/>
        </p:nvSpPr>
        <p:spPr>
          <a:xfrm>
            <a:off x="6187287" y="4754880"/>
            <a:ext cx="5437479" cy="113385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7287" y="4919472"/>
            <a:ext cx="41148" cy="80467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3319" y="4937760"/>
            <a:ext cx="4980279" cy="804672"/>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Learning outcomes lag enrolment, persistently</a:t>
            </a:r>
          </a:p>
          <a:p>
            <a:pPr algn="l">
              <a:lnSpc>
                <a:spcPct val="122000"/>
              </a:lnSpc>
              <a:spcBef>
                <a:spcPts val="0"/>
              </a:spcBef>
              <a:spcAft>
                <a:spcPts val="0"/>
              </a:spcAft>
            </a:pPr>
            <a:r>
              <a:rPr sz="980" b="0" i="0">
                <a:solidFill>
                  <a:srgbClr val="3F4A57"/>
                </a:solidFill>
                <a:latin typeface="Arial"/>
              </a:rPr>
              <a:t>Foundational gaps compound: a learner who misses equivalent fractions in Class 6 fails algebra in Class 8 for a reason nobody diagnoses. Hence concept mastery as the unit, not syllabus completion.</a:t>
            </a:r>
          </a:p>
        </p:txBody>
      </p:sp>
      <p:sp>
        <p:nvSpPr>
          <p:cNvPr id="22" name="TextBox 21"/>
          <p:cNvSpPr txBox="1"/>
          <p:nvPr/>
        </p:nvSpPr>
        <p:spPr>
          <a:xfrm>
            <a:off x="566928" y="6035040"/>
            <a:ext cx="11057839" cy="274320"/>
          </a:xfrm>
          <a:prstGeom prst="rect">
            <a:avLst/>
          </a:prstGeom>
          <a:noFill/>
        </p:spPr>
        <p:txBody>
          <a:bodyPr wrap="square" lIns="0" rIns="0" tIns="0" bIns="0" anchor="t">
            <a:spAutoFit/>
          </a:bodyPr>
          <a:lstStyle/>
          <a:p>
            <a:pPr algn="l">
              <a:lnSpc>
                <a:spcPct val="125000"/>
              </a:lnSpc>
              <a:spcBef>
                <a:spcPts val="0"/>
              </a:spcBef>
              <a:spcAft>
                <a:spcPts val="0"/>
              </a:spcAft>
            </a:pPr>
            <a:r>
              <a:rPr sz="850" b="0" i="0">
                <a:solidFill>
                  <a:srgbClr val="5B6673"/>
                </a:solidFill>
                <a:latin typeface="Arial"/>
              </a:rPr>
              <a:t>Sources: ASER 2024 (National findings, rural, ages 14–16) · UDISE+ 2023-24 · Companies Act 2013, §135. Full derivation in docs/MARKET_AND_PRICING.md.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04 · MARKET SIZE</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₹1,500 Cr serviceable. 250,000 learners is the honest goal.</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India only. ₹85 = $1. These are derived estimates from public data, not commissioned research — every input and its confidence level is published with the model.</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4</a:t>
            </a:r>
          </a:p>
        </p:txBody>
      </p:sp>
      <p:sp>
        <p:nvSpPr>
          <p:cNvPr id="8" name="Rounded Rectangle 7"/>
          <p:cNvSpPr/>
          <p:nvPr/>
        </p:nvSpPr>
        <p:spPr>
          <a:xfrm>
            <a:off x="566928" y="1883664"/>
            <a:ext cx="11057839" cy="969264"/>
          </a:xfrm>
          <a:prstGeom prst="roundRect">
            <a:avLst>
              <a:gd name="adj" fmla="val 6000"/>
            </a:avLst>
          </a:prstGeom>
          <a:solidFill>
            <a:srgbClr val="F1F5F4"/>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883664"/>
            <a:ext cx="6035040" cy="969264"/>
          </a:xfrm>
          <a:prstGeom prst="roundRect">
            <a:avLst>
              <a:gd name="adj" fmla="val 10000"/>
            </a:avLst>
          </a:prstGeom>
          <a:solidFill>
            <a:srgbClr val="115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11680"/>
            <a:ext cx="1097280" cy="713232"/>
          </a:xfrm>
          <a:prstGeom prst="rect">
            <a:avLst/>
          </a:prstGeom>
          <a:noFill/>
        </p:spPr>
        <p:txBody>
          <a:bodyPr wrap="square" lIns="0" rIns="0" tIns="0" bIns="0" anchor="t">
            <a:spAutoFit/>
          </a:bodyPr>
          <a:lstStyle/>
          <a:p>
            <a:pPr algn="l">
              <a:spcBef>
                <a:spcPts val="0"/>
              </a:spcBef>
              <a:spcAft>
                <a:spcPts val="0"/>
              </a:spcAft>
            </a:pPr>
            <a:r>
              <a:rPr sz="1600" b="1" i="0">
                <a:solidFill>
                  <a:srgbClr val="FFFFFF"/>
                </a:solidFill>
                <a:latin typeface="Arial"/>
              </a:rPr>
              <a:t>TAM</a:t>
            </a:r>
          </a:p>
        </p:txBody>
      </p:sp>
      <p:sp>
        <p:nvSpPr>
          <p:cNvPr id="11" name="TextBox 10"/>
          <p:cNvSpPr txBox="1"/>
          <p:nvPr/>
        </p:nvSpPr>
        <p:spPr>
          <a:xfrm>
            <a:off x="1865376" y="2011680"/>
            <a:ext cx="3291840" cy="713232"/>
          </a:xfrm>
          <a:prstGeom prst="rect">
            <a:avLst/>
          </a:prstGeom>
          <a:noFill/>
        </p:spPr>
        <p:txBody>
          <a:bodyPr wrap="square" lIns="0" rIns="0" tIns="0" bIns="0" anchor="t">
            <a:spAutoFit/>
          </a:bodyPr>
          <a:lstStyle/>
          <a:p>
            <a:pPr algn="l">
              <a:spcBef>
                <a:spcPts val="0"/>
              </a:spcBef>
              <a:spcAft>
                <a:spcPts val="200"/>
              </a:spcAft>
            </a:pPr>
            <a:r>
              <a:rPr sz="1600" b="1" i="0">
                <a:solidFill>
                  <a:srgbClr val="FFFFFF"/>
                </a:solidFill>
                <a:latin typeface="Arial"/>
              </a:rPr>
              <a:t>~248M learners</a:t>
            </a:r>
          </a:p>
          <a:p>
            <a:pPr algn="l">
              <a:spcBef>
                <a:spcPts val="0"/>
              </a:spcBef>
              <a:spcAft>
                <a:spcPts val="0"/>
              </a:spcAft>
            </a:pPr>
            <a:r>
              <a:rPr sz="1050" b="0" i="0">
                <a:solidFill>
                  <a:srgbClr val="CCFBF1"/>
                </a:solidFill>
                <a:latin typeface="Arial"/>
              </a:rPr>
              <a:t>₹12,400 Cr  (~$1.46B)</a:t>
            </a:r>
          </a:p>
        </p:txBody>
      </p:sp>
      <p:sp>
        <p:nvSpPr>
          <p:cNvPr id="12" name="TextBox 11"/>
          <p:cNvSpPr txBox="1"/>
          <p:nvPr/>
        </p:nvSpPr>
        <p:spPr>
          <a:xfrm>
            <a:off x="6839712" y="2029968"/>
            <a:ext cx="4529023" cy="676656"/>
          </a:xfrm>
          <a:prstGeom prst="rect">
            <a:avLst/>
          </a:prstGeom>
          <a:noFill/>
        </p:spPr>
        <p:txBody>
          <a:bodyPr wrap="square" lIns="0" rIns="0" tIns="0" bIns="0" anchor="ctr">
            <a:spAutoFit/>
          </a:bodyPr>
          <a:lstStyle/>
          <a:p>
            <a:pPr algn="l">
              <a:lnSpc>
                <a:spcPct val="130000"/>
              </a:lnSpc>
              <a:spcBef>
                <a:spcPts val="0"/>
              </a:spcBef>
              <a:spcAft>
                <a:spcPts val="0"/>
              </a:spcAft>
            </a:pPr>
            <a:r>
              <a:rPr sz="1000" b="0" i="0">
                <a:solidFill>
                  <a:srgbClr val="3F4A57"/>
                </a:solidFill>
                <a:latin typeface="Arial"/>
              </a:rPr>
              <a:t>Every school-going learner in India, Classes 1–12, at a ₹500/learner/year blended ARPU ceiling.</a:t>
            </a:r>
          </a:p>
        </p:txBody>
      </p:sp>
      <p:sp>
        <p:nvSpPr>
          <p:cNvPr id="13" name="Rounded Rectangle 12"/>
          <p:cNvSpPr/>
          <p:nvPr/>
        </p:nvSpPr>
        <p:spPr>
          <a:xfrm>
            <a:off x="566928" y="2980944"/>
            <a:ext cx="11057839" cy="969264"/>
          </a:xfrm>
          <a:prstGeom prst="roundRect">
            <a:avLst>
              <a:gd name="adj" fmla="val 6000"/>
            </a:avLst>
          </a:prstGeom>
          <a:solidFill>
            <a:srgbClr val="F1F5F4"/>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980944"/>
            <a:ext cx="4754880" cy="969264"/>
          </a:xfrm>
          <a:prstGeom prst="roundRect">
            <a:avLst>
              <a:gd name="adj" fmla="val 1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108960"/>
            <a:ext cx="1097280" cy="713232"/>
          </a:xfrm>
          <a:prstGeom prst="rect">
            <a:avLst/>
          </a:prstGeom>
          <a:noFill/>
        </p:spPr>
        <p:txBody>
          <a:bodyPr wrap="square" lIns="0" rIns="0" tIns="0" bIns="0" anchor="t">
            <a:spAutoFit/>
          </a:bodyPr>
          <a:lstStyle/>
          <a:p>
            <a:pPr algn="l">
              <a:spcBef>
                <a:spcPts val="0"/>
              </a:spcBef>
              <a:spcAft>
                <a:spcPts val="0"/>
              </a:spcAft>
            </a:pPr>
            <a:r>
              <a:rPr sz="1600" b="1" i="0">
                <a:solidFill>
                  <a:srgbClr val="FFFFFF"/>
                </a:solidFill>
                <a:latin typeface="Arial"/>
              </a:rPr>
              <a:t>SAM</a:t>
            </a:r>
          </a:p>
        </p:txBody>
      </p:sp>
      <p:sp>
        <p:nvSpPr>
          <p:cNvPr id="16" name="TextBox 15"/>
          <p:cNvSpPr txBox="1"/>
          <p:nvPr/>
        </p:nvSpPr>
        <p:spPr>
          <a:xfrm>
            <a:off x="1865376" y="3108960"/>
            <a:ext cx="3291840" cy="713232"/>
          </a:xfrm>
          <a:prstGeom prst="rect">
            <a:avLst/>
          </a:prstGeom>
          <a:noFill/>
        </p:spPr>
        <p:txBody>
          <a:bodyPr wrap="square" lIns="0" rIns="0" tIns="0" bIns="0" anchor="t">
            <a:spAutoFit/>
          </a:bodyPr>
          <a:lstStyle/>
          <a:p>
            <a:pPr algn="l">
              <a:spcBef>
                <a:spcPts val="0"/>
              </a:spcBef>
              <a:spcAft>
                <a:spcPts val="200"/>
              </a:spcAft>
            </a:pPr>
            <a:r>
              <a:rPr sz="1600" b="1" i="0">
                <a:solidFill>
                  <a:srgbClr val="FFFFFF"/>
                </a:solidFill>
                <a:latin typeface="Arial"/>
              </a:rPr>
              <a:t>~30M learners</a:t>
            </a:r>
          </a:p>
          <a:p>
            <a:pPr algn="l">
              <a:spcBef>
                <a:spcPts val="0"/>
              </a:spcBef>
              <a:spcAft>
                <a:spcPts val="0"/>
              </a:spcAft>
            </a:pPr>
            <a:r>
              <a:rPr sz="1050" b="0" i="0">
                <a:solidFill>
                  <a:srgbClr val="CCFBF1"/>
                </a:solidFill>
                <a:latin typeface="Arial"/>
              </a:rPr>
              <a:t>₹1,500 Cr  (~$176M)</a:t>
            </a:r>
          </a:p>
        </p:txBody>
      </p:sp>
      <p:sp>
        <p:nvSpPr>
          <p:cNvPr id="17" name="TextBox 16"/>
          <p:cNvSpPr txBox="1"/>
          <p:nvPr/>
        </p:nvSpPr>
        <p:spPr>
          <a:xfrm>
            <a:off x="6839712" y="3127248"/>
            <a:ext cx="4529023" cy="676656"/>
          </a:xfrm>
          <a:prstGeom prst="rect">
            <a:avLst/>
          </a:prstGeom>
          <a:noFill/>
        </p:spPr>
        <p:txBody>
          <a:bodyPr wrap="square" lIns="0" rIns="0" tIns="0" bIns="0" anchor="ctr">
            <a:spAutoFit/>
          </a:bodyPr>
          <a:lstStyle/>
          <a:p>
            <a:pPr algn="l">
              <a:lnSpc>
                <a:spcPct val="130000"/>
              </a:lnSpc>
              <a:spcBef>
                <a:spcPts val="0"/>
              </a:spcBef>
              <a:spcAft>
                <a:spcPts val="0"/>
              </a:spcAft>
            </a:pPr>
            <a:r>
              <a:rPr sz="1000" b="0" i="0">
                <a:solidFill>
                  <a:srgbClr val="3F4A57"/>
                </a:solidFill>
                <a:latin typeface="Arial"/>
              </a:rPr>
              <a:t>Classes 6–8 (~65M)  ×  ~62% on NCERT or NCERT-aligned state curricula  ×  ~75% with usable household smartphone access.</a:t>
            </a:r>
          </a:p>
        </p:txBody>
      </p:sp>
      <p:sp>
        <p:nvSpPr>
          <p:cNvPr id="18" name="Rounded Rectangle 17"/>
          <p:cNvSpPr/>
          <p:nvPr/>
        </p:nvSpPr>
        <p:spPr>
          <a:xfrm>
            <a:off x="566928" y="4078224"/>
            <a:ext cx="11057839" cy="969264"/>
          </a:xfrm>
          <a:prstGeom prst="roundRect">
            <a:avLst>
              <a:gd name="adj" fmla="val 6000"/>
            </a:avLst>
          </a:prstGeom>
          <a:solidFill>
            <a:srgbClr val="F1F5F4"/>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66928" y="4078224"/>
            <a:ext cx="3566160" cy="969264"/>
          </a:xfrm>
          <a:prstGeom prst="roundRect">
            <a:avLst>
              <a:gd name="adj" fmla="val 10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206240"/>
            <a:ext cx="1097280" cy="713232"/>
          </a:xfrm>
          <a:prstGeom prst="rect">
            <a:avLst/>
          </a:prstGeom>
          <a:noFill/>
        </p:spPr>
        <p:txBody>
          <a:bodyPr wrap="square" lIns="0" rIns="0" tIns="0" bIns="0" anchor="t">
            <a:spAutoFit/>
          </a:bodyPr>
          <a:lstStyle/>
          <a:p>
            <a:pPr algn="l">
              <a:spcBef>
                <a:spcPts val="0"/>
              </a:spcBef>
              <a:spcAft>
                <a:spcPts val="0"/>
              </a:spcAft>
            </a:pPr>
            <a:r>
              <a:rPr sz="1600" b="1" i="0">
                <a:solidFill>
                  <a:srgbClr val="FFFFFF"/>
                </a:solidFill>
                <a:latin typeface="Arial"/>
              </a:rPr>
              <a:t>SOM</a:t>
            </a:r>
          </a:p>
        </p:txBody>
      </p:sp>
      <p:sp>
        <p:nvSpPr>
          <p:cNvPr id="21" name="TextBox 20"/>
          <p:cNvSpPr txBox="1"/>
          <p:nvPr/>
        </p:nvSpPr>
        <p:spPr>
          <a:xfrm>
            <a:off x="1865376" y="4206240"/>
            <a:ext cx="3291840" cy="713232"/>
          </a:xfrm>
          <a:prstGeom prst="rect">
            <a:avLst/>
          </a:prstGeom>
          <a:noFill/>
        </p:spPr>
        <p:txBody>
          <a:bodyPr wrap="square" lIns="0" rIns="0" tIns="0" bIns="0" anchor="t">
            <a:spAutoFit/>
          </a:bodyPr>
          <a:lstStyle/>
          <a:p>
            <a:pPr algn="l">
              <a:spcBef>
                <a:spcPts val="0"/>
              </a:spcBef>
              <a:spcAft>
                <a:spcPts val="200"/>
              </a:spcAft>
            </a:pPr>
            <a:r>
              <a:rPr sz="1600" b="1" i="0">
                <a:solidFill>
                  <a:srgbClr val="FFFFFF"/>
                </a:solidFill>
                <a:latin typeface="Arial"/>
              </a:rPr>
              <a:t>~250,000 learners</a:t>
            </a:r>
          </a:p>
          <a:p>
            <a:pPr algn="l">
              <a:spcBef>
                <a:spcPts val="0"/>
              </a:spcBef>
              <a:spcAft>
                <a:spcPts val="0"/>
              </a:spcAft>
            </a:pPr>
            <a:r>
              <a:rPr sz="1050" b="0" i="0">
                <a:solidFill>
                  <a:srgbClr val="CCFBF1"/>
                </a:solidFill>
                <a:latin typeface="Arial"/>
              </a:rPr>
              <a:t>₹10–11 Cr  (~$1.25M ARR)</a:t>
            </a:r>
          </a:p>
        </p:txBody>
      </p:sp>
      <p:sp>
        <p:nvSpPr>
          <p:cNvPr id="22" name="TextBox 21"/>
          <p:cNvSpPr txBox="1"/>
          <p:nvPr/>
        </p:nvSpPr>
        <p:spPr>
          <a:xfrm>
            <a:off x="6839712" y="4224528"/>
            <a:ext cx="4529023" cy="676656"/>
          </a:xfrm>
          <a:prstGeom prst="rect">
            <a:avLst/>
          </a:prstGeom>
          <a:noFill/>
        </p:spPr>
        <p:txBody>
          <a:bodyPr wrap="square" lIns="0" rIns="0" tIns="0" bIns="0" anchor="ctr">
            <a:spAutoFit/>
          </a:bodyPr>
          <a:lstStyle/>
          <a:p>
            <a:pPr algn="l">
              <a:lnSpc>
                <a:spcPct val="130000"/>
              </a:lnSpc>
              <a:spcBef>
                <a:spcPts val="0"/>
              </a:spcBef>
              <a:spcAft>
                <a:spcPts val="0"/>
              </a:spcAft>
            </a:pPr>
            <a:r>
              <a:rPr sz="1000" b="0" i="0">
                <a:solidFill>
                  <a:srgbClr val="3F4A57"/>
                </a:solidFill>
                <a:latin typeface="Arial"/>
              </a:rPr>
              <a:t>Year 3, via 15–25 NGO/CSR partners (~150k), 2–3 district government pilots (~75k) and organic word of mouth (~25k). ≈0.8% of SAM.</a:t>
            </a:r>
          </a:p>
        </p:txBody>
      </p:sp>
      <p:sp>
        <p:nvSpPr>
          <p:cNvPr id="23" name="Rounded Rectangle 22"/>
          <p:cNvSpPr/>
          <p:nvPr/>
        </p:nvSpPr>
        <p:spPr>
          <a:xfrm>
            <a:off x="566928" y="5266944"/>
            <a:ext cx="5437479" cy="1024128"/>
          </a:xfrm>
          <a:prstGeom prst="roundRect">
            <a:avLst>
              <a:gd name="adj" fmla="val 6000"/>
            </a:avLst>
          </a:prstGeom>
          <a:solidFill>
            <a:srgbClr val="FEF3C7"/>
          </a:solidFill>
          <a:ln w="12700">
            <a:solidFill>
              <a:srgbClr val="F5D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7" y="5413248"/>
            <a:ext cx="4888839" cy="786384"/>
          </a:xfrm>
          <a:prstGeom prst="rect">
            <a:avLst/>
          </a:prstGeom>
          <a:noFill/>
        </p:spPr>
        <p:txBody>
          <a:bodyPr wrap="square" lIns="0" rIns="0" tIns="0" bIns="0" anchor="t">
            <a:spAutoFit/>
          </a:bodyPr>
          <a:lstStyle/>
          <a:p>
            <a:pPr algn="l">
              <a:spcBef>
                <a:spcPts val="0"/>
              </a:spcBef>
              <a:spcAft>
                <a:spcPts val="400"/>
              </a:spcAft>
            </a:pPr>
            <a:r>
              <a:rPr sz="1150" b="1" i="0">
                <a:solidFill>
                  <a:srgbClr val="B45309"/>
                </a:solidFill>
                <a:latin typeface="Arial"/>
              </a:rPr>
              <a:t>The weakest input, named rather than buried</a:t>
            </a:r>
          </a:p>
          <a:p>
            <a:pPr algn="l">
              <a:lnSpc>
                <a:spcPct val="126000"/>
              </a:lnSpc>
              <a:spcBef>
                <a:spcPts val="0"/>
              </a:spcBef>
              <a:spcAft>
                <a:spcPts val="0"/>
              </a:spcAft>
            </a:pPr>
            <a:r>
              <a:rPr sz="980" b="0" i="0">
                <a:solidFill>
                  <a:srgbClr val="3F4A57"/>
                </a:solidFill>
                <a:latin typeface="Arial"/>
              </a:rPr>
              <a:t>NCERT alignment at 62% is the least certain number in the model and swings SAM by roughly ±10 million learners. Verifying state-board textbook adoption is the first research task, not a footnote.</a:t>
            </a:r>
          </a:p>
        </p:txBody>
      </p:sp>
      <p:sp>
        <p:nvSpPr>
          <p:cNvPr id="25" name="Rounded Rectangle 24"/>
          <p:cNvSpPr/>
          <p:nvPr/>
        </p:nvSpPr>
        <p:spPr>
          <a:xfrm>
            <a:off x="6187287" y="5266944"/>
            <a:ext cx="5437479" cy="1024128"/>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1607" y="5413248"/>
            <a:ext cx="4888839" cy="786384"/>
          </a:xfrm>
          <a:prstGeom prst="rect">
            <a:avLst/>
          </a:prstGeom>
          <a:noFill/>
        </p:spPr>
        <p:txBody>
          <a:bodyPr wrap="square" lIns="0" rIns="0" tIns="0" bIns="0" anchor="t">
            <a:spAutoFit/>
          </a:bodyPr>
          <a:lstStyle/>
          <a:p>
            <a:pPr algn="l">
              <a:spcBef>
                <a:spcPts val="0"/>
              </a:spcBef>
              <a:spcAft>
                <a:spcPts val="400"/>
              </a:spcAft>
            </a:pPr>
            <a:r>
              <a:rPr sz="1150" b="1" i="0">
                <a:solidFill>
                  <a:srgbClr val="115E59"/>
                </a:solidFill>
                <a:latin typeface="Arial"/>
              </a:rPr>
              <a:t>For a social-impact product, learners reached is the headline</a:t>
            </a:r>
          </a:p>
          <a:p>
            <a:pPr algn="l">
              <a:lnSpc>
                <a:spcPct val="126000"/>
              </a:lnSpc>
              <a:spcBef>
                <a:spcPts val="0"/>
              </a:spcBef>
              <a:spcAft>
                <a:spcPts val="0"/>
              </a:spcAft>
            </a:pPr>
            <a:r>
              <a:rPr sz="980" b="0" i="0">
                <a:solidFill>
                  <a:srgbClr val="3F4A57"/>
                </a:solidFill>
                <a:latin typeface="Arial"/>
              </a:rPr>
              <a:t>Revenue is the sustainability constraint, not the goal. We lead with 250,000 learners and treat ₹10.6 Cr as what it costs to keep serving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05 · PRIMARY PERSONA (MVP)</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Aarav, 13. He is not bad at maths.</a:t>
            </a:r>
          </a:p>
        </p:txBody>
      </p:sp>
      <p:sp>
        <p:nvSpPr>
          <p:cNvPr id="5" name="TextBox 4"/>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6" name="TextBox 5"/>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5</a:t>
            </a:r>
          </a:p>
        </p:txBody>
      </p:sp>
      <p:pic>
        <p:nvPicPr>
          <p:cNvPr id="7" name="Picture 6" descr="persona-aarav.png"/>
          <p:cNvPicPr>
            <a:picLocks noChangeAspect="1"/>
          </p:cNvPicPr>
          <p:nvPr/>
        </p:nvPicPr>
        <p:blipFill>
          <a:blip r:embed="rId2"/>
          <a:stretch>
            <a:fillRect/>
          </a:stretch>
        </p:blipFill>
        <p:spPr>
          <a:xfrm>
            <a:off x="566928" y="1408176"/>
            <a:ext cx="3017520" cy="3017520"/>
          </a:xfrm>
          <a:prstGeom prst="rect">
            <a:avLst/>
          </a:prstGeom>
        </p:spPr>
      </p:pic>
      <p:sp>
        <p:nvSpPr>
          <p:cNvPr id="8" name="TextBox 7"/>
          <p:cNvSpPr txBox="1"/>
          <p:nvPr/>
        </p:nvSpPr>
        <p:spPr>
          <a:xfrm>
            <a:off x="585216" y="4590288"/>
            <a:ext cx="3200400" cy="201168"/>
          </a:xfrm>
          <a:prstGeom prst="rect">
            <a:avLst/>
          </a:prstGeom>
          <a:noFill/>
        </p:spPr>
        <p:txBody>
          <a:bodyPr wrap="square" lIns="0" rIns="0" tIns="0" bIns="0" anchor="t">
            <a:spAutoFit/>
          </a:bodyPr>
          <a:lstStyle/>
          <a:p>
            <a:pPr algn="l">
              <a:spcBef>
                <a:spcPts val="0"/>
              </a:spcBef>
              <a:spcAft>
                <a:spcPts val="0"/>
              </a:spcAft>
            </a:pPr>
            <a:r>
              <a:rPr sz="950" b="0" i="0">
                <a:solidFill>
                  <a:srgbClr val="5B6673"/>
                </a:solidFill>
                <a:latin typeface="Arial"/>
              </a:rPr>
              <a:t>Age   13</a:t>
            </a:r>
          </a:p>
        </p:txBody>
      </p:sp>
      <p:sp>
        <p:nvSpPr>
          <p:cNvPr id="9" name="TextBox 8"/>
          <p:cNvSpPr txBox="1"/>
          <p:nvPr/>
        </p:nvSpPr>
        <p:spPr>
          <a:xfrm>
            <a:off x="585216" y="4800600"/>
            <a:ext cx="3200400" cy="201168"/>
          </a:xfrm>
          <a:prstGeom prst="rect">
            <a:avLst/>
          </a:prstGeom>
          <a:noFill/>
        </p:spPr>
        <p:txBody>
          <a:bodyPr wrap="square" lIns="0" rIns="0" tIns="0" bIns="0" anchor="t">
            <a:spAutoFit/>
          </a:bodyPr>
          <a:lstStyle/>
          <a:p>
            <a:pPr algn="l">
              <a:spcBef>
                <a:spcPts val="0"/>
              </a:spcBef>
              <a:spcAft>
                <a:spcPts val="0"/>
              </a:spcAft>
            </a:pPr>
            <a:r>
              <a:rPr sz="950" b="0" i="0">
                <a:solidFill>
                  <a:srgbClr val="5B6673"/>
                </a:solidFill>
                <a:latin typeface="Arial"/>
              </a:rPr>
              <a:t>Class   7, government school</a:t>
            </a:r>
          </a:p>
        </p:txBody>
      </p:sp>
      <p:sp>
        <p:nvSpPr>
          <p:cNvPr id="10" name="TextBox 9"/>
          <p:cNvSpPr txBox="1"/>
          <p:nvPr/>
        </p:nvSpPr>
        <p:spPr>
          <a:xfrm>
            <a:off x="585216" y="5010912"/>
            <a:ext cx="3200400" cy="201168"/>
          </a:xfrm>
          <a:prstGeom prst="rect">
            <a:avLst/>
          </a:prstGeom>
          <a:noFill/>
        </p:spPr>
        <p:txBody>
          <a:bodyPr wrap="square" lIns="0" rIns="0" tIns="0" bIns="0" anchor="t">
            <a:spAutoFit/>
          </a:bodyPr>
          <a:lstStyle/>
          <a:p>
            <a:pPr algn="l">
              <a:spcBef>
                <a:spcPts val="0"/>
              </a:spcBef>
              <a:spcAft>
                <a:spcPts val="0"/>
              </a:spcAft>
            </a:pPr>
            <a:r>
              <a:rPr sz="950" b="0" i="0">
                <a:solidFill>
                  <a:srgbClr val="5B6673"/>
                </a:solidFill>
                <a:latin typeface="Arial"/>
              </a:rPr>
              <a:t>Curriculum   NCERT Mathematics</a:t>
            </a:r>
          </a:p>
        </p:txBody>
      </p:sp>
      <p:sp>
        <p:nvSpPr>
          <p:cNvPr id="11" name="TextBox 10"/>
          <p:cNvSpPr txBox="1"/>
          <p:nvPr/>
        </p:nvSpPr>
        <p:spPr>
          <a:xfrm>
            <a:off x="585216" y="5221224"/>
            <a:ext cx="3200400" cy="201168"/>
          </a:xfrm>
          <a:prstGeom prst="rect">
            <a:avLst/>
          </a:prstGeom>
          <a:noFill/>
        </p:spPr>
        <p:txBody>
          <a:bodyPr wrap="square" lIns="0" rIns="0" tIns="0" bIns="0" anchor="t">
            <a:spAutoFit/>
          </a:bodyPr>
          <a:lstStyle/>
          <a:p>
            <a:pPr algn="l">
              <a:spcBef>
                <a:spcPts val="0"/>
              </a:spcBef>
              <a:spcAft>
                <a:spcPts val="0"/>
              </a:spcAft>
            </a:pPr>
            <a:r>
              <a:rPr sz="950" b="0" i="0">
                <a:solidFill>
                  <a:srgbClr val="5B6673"/>
                </a:solidFill>
                <a:latin typeface="Arial"/>
              </a:rPr>
              <a:t>Device   his mother's Android</a:t>
            </a:r>
          </a:p>
        </p:txBody>
      </p:sp>
      <p:sp>
        <p:nvSpPr>
          <p:cNvPr id="12" name="TextBox 11"/>
          <p:cNvSpPr txBox="1"/>
          <p:nvPr/>
        </p:nvSpPr>
        <p:spPr>
          <a:xfrm>
            <a:off x="585216" y="5431536"/>
            <a:ext cx="3200400" cy="201168"/>
          </a:xfrm>
          <a:prstGeom prst="rect">
            <a:avLst/>
          </a:prstGeom>
          <a:noFill/>
        </p:spPr>
        <p:txBody>
          <a:bodyPr wrap="square" lIns="0" rIns="0" tIns="0" bIns="0" anchor="t">
            <a:spAutoFit/>
          </a:bodyPr>
          <a:lstStyle/>
          <a:p>
            <a:pPr algn="l">
              <a:spcBef>
                <a:spcPts val="0"/>
              </a:spcBef>
              <a:spcAft>
                <a:spcPts val="0"/>
              </a:spcAft>
            </a:pPr>
            <a:r>
              <a:rPr sz="950" b="0" i="0">
                <a:solidFill>
                  <a:srgbClr val="5B6673"/>
                </a:solidFill>
                <a:latin typeface="Arial"/>
              </a:rPr>
              <a:t>Language   Hindi at home, English textbook</a:t>
            </a:r>
          </a:p>
        </p:txBody>
      </p:sp>
      <p:sp>
        <p:nvSpPr>
          <p:cNvPr id="13" name="TextBox 12"/>
          <p:cNvSpPr txBox="1"/>
          <p:nvPr/>
        </p:nvSpPr>
        <p:spPr>
          <a:xfrm>
            <a:off x="4133087" y="1408176"/>
            <a:ext cx="7491679" cy="3108960"/>
          </a:xfrm>
          <a:prstGeom prst="rect">
            <a:avLst/>
          </a:prstGeom>
          <a:noFill/>
        </p:spPr>
        <p:txBody>
          <a:bodyPr wrap="square" lIns="0" rIns="0" tIns="0" bIns="0" anchor="t">
            <a:spAutoFit/>
          </a:bodyPr>
          <a:lstStyle/>
          <a:p>
            <a:pPr algn="l">
              <a:lnSpc>
                <a:spcPct val="120000"/>
              </a:lnSpc>
              <a:spcBef>
                <a:spcPts val="0"/>
              </a:spcBef>
              <a:spcAft>
                <a:spcPts val="1100"/>
              </a:spcAft>
            </a:pPr>
            <a:r>
              <a:rPr sz="1500" b="1" i="0">
                <a:solidFill>
                  <a:srgbClr val="1A2733"/>
                </a:solidFill>
                <a:latin typeface="Arial"/>
              </a:rPr>
              <a:t>He is three weeks behind, and nobody noticed which three weeks.</a:t>
            </a:r>
          </a:p>
          <a:p>
            <a:pPr algn="l">
              <a:lnSpc>
                <a:spcPct val="135000"/>
              </a:lnSpc>
              <a:spcBef>
                <a:spcPts val="0"/>
              </a:spcBef>
              <a:spcAft>
                <a:spcPts val="800"/>
              </a:spcAft>
            </a:pPr>
            <a:r>
              <a:rPr sz="1150" b="0" i="0">
                <a:solidFill>
                  <a:srgbClr val="3F4A57"/>
                </a:solidFill>
                <a:latin typeface="Arial"/>
              </a:rPr>
              <a:t>The phone is his mother's. He gets it after dinner, sometimes, and there is one charger for the house.</a:t>
            </a:r>
          </a:p>
          <a:p>
            <a:pPr algn="l">
              <a:lnSpc>
                <a:spcPct val="135000"/>
              </a:lnSpc>
              <a:spcBef>
                <a:spcPts val="0"/>
              </a:spcBef>
              <a:spcAft>
                <a:spcPts val="800"/>
              </a:spcAft>
            </a:pPr>
            <a:r>
              <a:rPr sz="1150" b="0" i="0">
                <a:solidFill>
                  <a:srgbClr val="3F4A57"/>
                </a:solidFill>
                <a:latin typeface="Arial"/>
              </a:rPr>
              <a:t>When he puts his hand up in class, thirty-eight other children are also waiting. So mostly he does not put his hand up.</a:t>
            </a:r>
          </a:p>
          <a:p>
            <a:pPr algn="l">
              <a:lnSpc>
                <a:spcPct val="135000"/>
              </a:lnSpc>
              <a:spcBef>
                <a:spcPts val="0"/>
              </a:spcBef>
              <a:spcAft>
                <a:spcPts val="800"/>
              </a:spcAft>
            </a:pPr>
            <a:r>
              <a:rPr sz="1150" b="0" i="0">
                <a:solidFill>
                  <a:srgbClr val="3F4A57"/>
                </a:solidFill>
                <a:latin typeface="Arial"/>
              </a:rPr>
              <a:t>He has tried YouTube. YouTube is excellent and does not know that he never really got equivalent fractions, so it keeps explaining the wrong thing beautifully.</a:t>
            </a:r>
          </a:p>
          <a:p>
            <a:pPr algn="l">
              <a:lnSpc>
                <a:spcPct val="135000"/>
              </a:lnSpc>
              <a:spcBef>
                <a:spcPts val="0"/>
              </a:spcBef>
              <a:spcAft>
                <a:spcPts val="800"/>
              </a:spcAft>
            </a:pPr>
            <a:r>
              <a:rPr sz="1150" b="0" i="0">
                <a:solidFill>
                  <a:srgbClr val="3F4A57"/>
                </a:solidFill>
                <a:latin typeface="Arial"/>
              </a:rPr>
              <a:t>He has asked a chatbot too. It gave him the answer immediately. He copied it down, felt briefly clever, and could not do the next question either.</a:t>
            </a:r>
          </a:p>
          <a:p>
            <a:pPr algn="l">
              <a:lnSpc>
                <a:spcPct val="135000"/>
              </a:lnSpc>
              <a:spcBef>
                <a:spcPts val="0"/>
              </a:spcBef>
              <a:spcAft>
                <a:spcPts val="0"/>
              </a:spcAft>
            </a:pPr>
            <a:r>
              <a:rPr sz="1150" b="0" i="0">
                <a:solidFill>
                  <a:srgbClr val="3F4A57"/>
                </a:solidFill>
                <a:latin typeface="Arial"/>
              </a:rPr>
              <a:t>His mother asks how school is going. He says fine. It is the only answer he has, because nobody has ever shown either of them what he actually does and does not understand.</a:t>
            </a:r>
          </a:p>
        </p:txBody>
      </p:sp>
      <p:sp>
        <p:nvSpPr>
          <p:cNvPr id="14" name="TextBox 13"/>
          <p:cNvSpPr txBox="1"/>
          <p:nvPr/>
        </p:nvSpPr>
        <p:spPr>
          <a:xfrm>
            <a:off x="4133087" y="4553712"/>
            <a:ext cx="7491679" cy="237744"/>
          </a:xfrm>
          <a:prstGeom prst="rect">
            <a:avLst/>
          </a:prstGeom>
          <a:noFill/>
        </p:spPr>
        <p:txBody>
          <a:bodyPr wrap="square" lIns="0" rIns="0" tIns="0" bIns="0" anchor="t">
            <a:spAutoFit/>
          </a:bodyPr>
          <a:lstStyle/>
          <a:p>
            <a:pPr algn="l">
              <a:spcBef>
                <a:spcPts val="0"/>
              </a:spcBef>
              <a:spcAft>
                <a:spcPts val="0"/>
              </a:spcAft>
            </a:pPr>
            <a:r>
              <a:rPr sz="900" b="1" i="0">
                <a:solidFill>
                  <a:srgbClr val="0F766E"/>
                </a:solidFill>
                <a:latin typeface="Arial"/>
              </a:rPr>
              <a:t>WHAT HE ACTUALLY NEEDS</a:t>
            </a:r>
          </a:p>
        </p:txBody>
      </p:sp>
      <p:sp>
        <p:nvSpPr>
          <p:cNvPr id="15" name="Rounded Rectangle 14"/>
          <p:cNvSpPr/>
          <p:nvPr/>
        </p:nvSpPr>
        <p:spPr>
          <a:xfrm>
            <a:off x="4133087" y="4846320"/>
            <a:ext cx="1790623" cy="457200"/>
          </a:xfrm>
          <a:prstGeom prst="roundRect">
            <a:avLst>
              <a:gd name="adj" fmla="val 35000"/>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42816" y="4846320"/>
            <a:ext cx="1571167" cy="457200"/>
          </a:xfrm>
          <a:prstGeom prst="rect">
            <a:avLst/>
          </a:prstGeom>
          <a:noFill/>
        </p:spPr>
        <p:txBody>
          <a:bodyPr wrap="square" lIns="0" rIns="0" tIns="0" bIns="0" anchor="ctr">
            <a:spAutoFit/>
          </a:bodyPr>
          <a:lstStyle/>
          <a:p>
            <a:pPr algn="ctr">
              <a:spcBef>
                <a:spcPts val="0"/>
              </a:spcBef>
              <a:spcAft>
                <a:spcPts val="0"/>
              </a:spcAft>
            </a:pPr>
            <a:r>
              <a:rPr sz="900" b="1" i="0">
                <a:solidFill>
                  <a:srgbClr val="0F766E"/>
                </a:solidFill>
                <a:latin typeface="Arial"/>
              </a:rPr>
              <a:t>Someone who knows where he is</a:t>
            </a:r>
          </a:p>
        </p:txBody>
      </p:sp>
      <p:sp>
        <p:nvSpPr>
          <p:cNvPr id="17" name="Rounded Rectangle 16"/>
          <p:cNvSpPr/>
          <p:nvPr/>
        </p:nvSpPr>
        <p:spPr>
          <a:xfrm>
            <a:off x="6033439" y="4846320"/>
            <a:ext cx="1790623" cy="457200"/>
          </a:xfrm>
          <a:prstGeom prst="roundRect">
            <a:avLst>
              <a:gd name="adj" fmla="val 35000"/>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43167" y="4846320"/>
            <a:ext cx="1571167" cy="457200"/>
          </a:xfrm>
          <a:prstGeom prst="rect">
            <a:avLst/>
          </a:prstGeom>
          <a:noFill/>
        </p:spPr>
        <p:txBody>
          <a:bodyPr wrap="square" lIns="0" rIns="0" tIns="0" bIns="0" anchor="ctr">
            <a:spAutoFit/>
          </a:bodyPr>
          <a:lstStyle/>
          <a:p>
            <a:pPr algn="ctr">
              <a:spcBef>
                <a:spcPts val="0"/>
              </a:spcBef>
              <a:spcAft>
                <a:spcPts val="0"/>
              </a:spcAft>
            </a:pPr>
            <a:r>
              <a:rPr sz="900" b="1" i="0">
                <a:solidFill>
                  <a:srgbClr val="0F766E"/>
                </a:solidFill>
                <a:latin typeface="Arial"/>
              </a:rPr>
              <a:t>Hints, not answers</a:t>
            </a:r>
          </a:p>
        </p:txBody>
      </p:sp>
      <p:sp>
        <p:nvSpPr>
          <p:cNvPr id="19" name="Rounded Rectangle 18"/>
          <p:cNvSpPr/>
          <p:nvPr/>
        </p:nvSpPr>
        <p:spPr>
          <a:xfrm>
            <a:off x="7933791" y="4846320"/>
            <a:ext cx="1790623" cy="457200"/>
          </a:xfrm>
          <a:prstGeom prst="roundRect">
            <a:avLst>
              <a:gd name="adj" fmla="val 35000"/>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3519" y="4846320"/>
            <a:ext cx="1571167" cy="457200"/>
          </a:xfrm>
          <a:prstGeom prst="rect">
            <a:avLst/>
          </a:prstGeom>
          <a:noFill/>
        </p:spPr>
        <p:txBody>
          <a:bodyPr wrap="square" lIns="0" rIns="0" tIns="0" bIns="0" anchor="ctr">
            <a:spAutoFit/>
          </a:bodyPr>
          <a:lstStyle/>
          <a:p>
            <a:pPr algn="ctr">
              <a:spcBef>
                <a:spcPts val="0"/>
              </a:spcBef>
              <a:spcAft>
                <a:spcPts val="0"/>
              </a:spcAft>
            </a:pPr>
            <a:r>
              <a:rPr sz="900" b="1" i="0">
                <a:solidFill>
                  <a:srgbClr val="15803D"/>
                </a:solidFill>
                <a:latin typeface="Arial"/>
              </a:rPr>
              <a:t>To feel like he is winning at something</a:t>
            </a:r>
          </a:p>
        </p:txBody>
      </p:sp>
      <p:sp>
        <p:nvSpPr>
          <p:cNvPr id="21" name="Rounded Rectangle 20"/>
          <p:cNvSpPr/>
          <p:nvPr/>
        </p:nvSpPr>
        <p:spPr>
          <a:xfrm>
            <a:off x="9834143" y="4846320"/>
            <a:ext cx="1790623" cy="457200"/>
          </a:xfrm>
          <a:prstGeom prst="roundRect">
            <a:avLst>
              <a:gd name="adj" fmla="val 35000"/>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43871" y="4846320"/>
            <a:ext cx="1571167" cy="457200"/>
          </a:xfrm>
          <a:prstGeom prst="rect">
            <a:avLst/>
          </a:prstGeom>
          <a:noFill/>
        </p:spPr>
        <p:txBody>
          <a:bodyPr wrap="square" lIns="0" rIns="0" tIns="0" bIns="0" anchor="ctr">
            <a:spAutoFit/>
          </a:bodyPr>
          <a:lstStyle/>
          <a:p>
            <a:pPr algn="ctr">
              <a:spcBef>
                <a:spcPts val="0"/>
              </a:spcBef>
              <a:spcAft>
                <a:spcPts val="0"/>
              </a:spcAft>
            </a:pPr>
            <a:r>
              <a:rPr sz="900" b="1" i="0">
                <a:solidFill>
                  <a:srgbClr val="0369A1"/>
                </a:solidFill>
                <a:latin typeface="Arial"/>
              </a:rPr>
              <a:t>Someone to notice</a:t>
            </a:r>
          </a:p>
        </p:txBody>
      </p:sp>
      <p:sp>
        <p:nvSpPr>
          <p:cNvPr id="23" name="TextBox 22"/>
          <p:cNvSpPr txBox="1"/>
          <p:nvPr/>
        </p:nvSpPr>
        <p:spPr>
          <a:xfrm>
            <a:off x="566928" y="6035040"/>
            <a:ext cx="11057839" cy="274320"/>
          </a:xfrm>
          <a:prstGeom prst="rect">
            <a:avLst/>
          </a:prstGeom>
          <a:noFill/>
        </p:spPr>
        <p:txBody>
          <a:bodyPr wrap="square" lIns="0" rIns="0" tIns="0" bIns="0" anchor="t">
            <a:spAutoFit/>
          </a:bodyPr>
          <a:lstStyle/>
          <a:p>
            <a:pPr algn="l">
              <a:lnSpc>
                <a:spcPct val="125000"/>
              </a:lnSpc>
              <a:spcBef>
                <a:spcPts val="0"/>
              </a:spcBef>
              <a:spcAft>
                <a:spcPts val="0"/>
              </a:spcAft>
            </a:pPr>
            <a:r>
              <a:rPr sz="850" b="0" i="0">
                <a:solidFill>
                  <a:srgbClr val="5B6673"/>
                </a:solidFill>
                <a:latin typeface="Arial"/>
              </a:rPr>
              <a:t>Composite persona from PRD §5. Illustrated rather than photographed — Aarav is a representative learner, not a real child.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06 · PRODUCT</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Eight features. One loop.</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Everything below is live in the MVP at saathi-ap19.vercel.app — NCERT Mathematics, Classes 6–8, one chapter per grade, in Hindi and English.</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6</a:t>
            </a:r>
          </a:p>
        </p:txBody>
      </p:sp>
      <p:sp>
        <p:nvSpPr>
          <p:cNvPr id="8" name="Rounded Rectangle 7"/>
          <p:cNvSpPr/>
          <p:nvPr/>
        </p:nvSpPr>
        <p:spPr>
          <a:xfrm>
            <a:off x="566928" y="1883664"/>
            <a:ext cx="2706624"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48256"/>
            <a:ext cx="41148" cy="12435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66544"/>
            <a:ext cx="2249424" cy="1243584"/>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Curriculum dashboard</a:t>
            </a:r>
          </a:p>
          <a:p>
            <a:pPr algn="l">
              <a:lnSpc>
                <a:spcPct val="122000"/>
              </a:lnSpc>
              <a:spcBef>
                <a:spcPts val="0"/>
              </a:spcBef>
              <a:spcAft>
                <a:spcPts val="0"/>
              </a:spcAft>
            </a:pPr>
            <a:r>
              <a:rPr sz="960" b="0" i="0">
                <a:solidFill>
                  <a:srgbClr val="3F4A57"/>
                </a:solidFill>
                <a:latin typeface="Arial"/>
              </a:rPr>
              <a:t>Grade, chapters, lessons as a visible journey path, with a recommended next lesson and a closable daily goal.</a:t>
            </a:r>
          </a:p>
        </p:txBody>
      </p:sp>
      <p:sp>
        <p:nvSpPr>
          <p:cNvPr id="11" name="Rounded Rectangle 10"/>
          <p:cNvSpPr/>
          <p:nvPr/>
        </p:nvSpPr>
        <p:spPr>
          <a:xfrm>
            <a:off x="3456432" y="1883664"/>
            <a:ext cx="2706624"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56432" y="2048256"/>
            <a:ext cx="41148" cy="12435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4" y="2066544"/>
            <a:ext cx="2249424" cy="1243584"/>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Micro-lessons</a:t>
            </a:r>
          </a:p>
          <a:p>
            <a:pPr algn="l">
              <a:lnSpc>
                <a:spcPct val="122000"/>
              </a:lnSpc>
              <a:spcBef>
                <a:spcPts val="0"/>
              </a:spcBef>
              <a:spcAft>
                <a:spcPts val="0"/>
              </a:spcAft>
            </a:pPr>
            <a:r>
              <a:rPr sz="960" b="0" i="0">
                <a:solidFill>
                  <a:srgbClr val="3F4A57"/>
                </a:solidFill>
                <a:latin typeface="Arial"/>
              </a:rPr>
              <a:t>One concept at a time, in the learner's language, with KaTeX-rendered maths and worked examples.</a:t>
            </a:r>
          </a:p>
        </p:txBody>
      </p:sp>
      <p:sp>
        <p:nvSpPr>
          <p:cNvPr id="14" name="Rounded Rectangle 13"/>
          <p:cNvSpPr/>
          <p:nvPr/>
        </p:nvSpPr>
        <p:spPr>
          <a:xfrm>
            <a:off x="6345936" y="1883664"/>
            <a:ext cx="2706624"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45936" y="2048256"/>
            <a:ext cx="41148" cy="12435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1968" y="2066544"/>
            <a:ext cx="2249424" cy="1243584"/>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AI Tutor</a:t>
            </a:r>
          </a:p>
          <a:p>
            <a:pPr algn="l">
              <a:lnSpc>
                <a:spcPct val="122000"/>
              </a:lnSpc>
              <a:spcBef>
                <a:spcPts val="0"/>
              </a:spcBef>
              <a:spcAft>
                <a:spcPts val="0"/>
              </a:spcAft>
            </a:pPr>
            <a:r>
              <a:rPr sz="960" b="0" i="0">
                <a:solidFill>
                  <a:srgbClr val="3F4A57"/>
                </a:solidFill>
                <a:latin typeface="Arial"/>
              </a:rPr>
              <a:t>Claude Sonnet 5, grounded in the current lesson text and the learner's concept mastery. Streams, hints first, refuses off-curriculum.</a:t>
            </a:r>
          </a:p>
        </p:txBody>
      </p:sp>
      <p:sp>
        <p:nvSpPr>
          <p:cNvPr id="17" name="Rounded Rectangle 16"/>
          <p:cNvSpPr/>
          <p:nvPr/>
        </p:nvSpPr>
        <p:spPr>
          <a:xfrm>
            <a:off x="9235440" y="1883664"/>
            <a:ext cx="2706624"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35440" y="2048256"/>
            <a:ext cx="41148" cy="12435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91472" y="2066544"/>
            <a:ext cx="2249424" cy="1243584"/>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Guided practice</a:t>
            </a:r>
          </a:p>
          <a:p>
            <a:pPr algn="l">
              <a:lnSpc>
                <a:spcPct val="122000"/>
              </a:lnSpc>
              <a:spcBef>
                <a:spcPts val="0"/>
              </a:spcBef>
              <a:spcAft>
                <a:spcPts val="0"/>
              </a:spcAft>
            </a:pPr>
            <a:r>
              <a:rPr sz="960" b="0" i="0">
                <a:solidFill>
                  <a:srgbClr val="3F4A57"/>
                </a:solidFill>
                <a:latin typeface="Arial"/>
              </a:rPr>
              <a:t>Adaptive difficulty, instant deterministic grading, a hint ladder from nudge to worked solution.</a:t>
            </a:r>
          </a:p>
        </p:txBody>
      </p:sp>
      <p:sp>
        <p:nvSpPr>
          <p:cNvPr id="20" name="Rounded Rectangle 19"/>
          <p:cNvSpPr/>
          <p:nvPr/>
        </p:nvSpPr>
        <p:spPr>
          <a:xfrm>
            <a:off x="566928" y="3639312"/>
            <a:ext cx="2706624"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803904"/>
            <a:ext cx="41148" cy="1243584"/>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822191"/>
            <a:ext cx="2249424" cy="1243584"/>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Chapter quiz</a:t>
            </a:r>
          </a:p>
          <a:p>
            <a:pPr algn="l">
              <a:lnSpc>
                <a:spcPct val="122000"/>
              </a:lnSpc>
              <a:spcBef>
                <a:spcPts val="0"/>
              </a:spcBef>
              <a:spcAft>
                <a:spcPts val="0"/>
              </a:spcAft>
            </a:pPr>
            <a:r>
              <a:rPr sz="960" b="0" i="0">
                <a:solidFill>
                  <a:srgbClr val="3F4A57"/>
                </a:solidFill>
                <a:latin typeface="Arial"/>
              </a:rPr>
              <a:t>Mastery per concept, order varied per attempt, revision recommended from what was actually missed.</a:t>
            </a:r>
          </a:p>
        </p:txBody>
      </p:sp>
      <p:sp>
        <p:nvSpPr>
          <p:cNvPr id="23" name="Rounded Rectangle 22"/>
          <p:cNvSpPr/>
          <p:nvPr/>
        </p:nvSpPr>
        <p:spPr>
          <a:xfrm>
            <a:off x="3456432" y="3639312"/>
            <a:ext cx="2706624"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56432" y="3803904"/>
            <a:ext cx="41148" cy="1243584"/>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12464" y="3822191"/>
            <a:ext cx="2249424" cy="1243584"/>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Progress, streaks, milestones</a:t>
            </a:r>
          </a:p>
          <a:p>
            <a:pPr algn="l">
              <a:lnSpc>
                <a:spcPct val="122000"/>
              </a:lnSpc>
              <a:spcBef>
                <a:spcPts val="0"/>
              </a:spcBef>
              <a:spcAft>
                <a:spcPts val="0"/>
              </a:spcAft>
            </a:pPr>
            <a:r>
              <a:rPr sz="960" b="0" i="0">
                <a:solidFill>
                  <a:srgbClr val="3F4A57"/>
                </a:solidFill>
                <a:latin typeface="Arial"/>
              </a:rPr>
              <a:t>Personal progress only. No ranks, no leaderboards, no lives — a grace day so one bad evening costs nothing.</a:t>
            </a:r>
          </a:p>
        </p:txBody>
      </p:sp>
      <p:sp>
        <p:nvSpPr>
          <p:cNvPr id="26" name="Rounded Rectangle 25"/>
          <p:cNvSpPr/>
          <p:nvPr/>
        </p:nvSpPr>
        <p:spPr>
          <a:xfrm>
            <a:off x="6345936" y="3639312"/>
            <a:ext cx="2706624"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45936" y="3803904"/>
            <a:ext cx="41148" cy="124358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1968" y="3822191"/>
            <a:ext cx="2249424" cy="1243584"/>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Parent companion</a:t>
            </a:r>
          </a:p>
          <a:p>
            <a:pPr algn="l">
              <a:lnSpc>
                <a:spcPct val="122000"/>
              </a:lnSpc>
              <a:spcBef>
                <a:spcPts val="0"/>
              </a:spcBef>
              <a:spcAft>
                <a:spcPts val="0"/>
              </a:spcAft>
            </a:pPr>
            <a:r>
              <a:rPr sz="960" b="0" i="0">
                <a:solidFill>
                  <a:srgbClr val="3F4A57"/>
                </a:solidFill>
                <a:latin typeface="Arial"/>
              </a:rPr>
              <a:t>A weekly summary a supporting adult reads without an account. Tutor conversations are never in it.</a:t>
            </a:r>
          </a:p>
        </p:txBody>
      </p:sp>
      <p:sp>
        <p:nvSpPr>
          <p:cNvPr id="29" name="Rounded Rectangle 28"/>
          <p:cNvSpPr/>
          <p:nvPr/>
        </p:nvSpPr>
        <p:spPr>
          <a:xfrm>
            <a:off x="9235440" y="3639312"/>
            <a:ext cx="2706624"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35440" y="3803904"/>
            <a:ext cx="41148" cy="124358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3822191"/>
            <a:ext cx="2249424" cy="1243584"/>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Request a human mentor</a:t>
            </a:r>
          </a:p>
          <a:p>
            <a:pPr algn="l">
              <a:lnSpc>
                <a:spcPct val="122000"/>
              </a:lnSpc>
              <a:spcBef>
                <a:spcPts val="0"/>
              </a:spcBef>
              <a:spcAft>
                <a:spcPts val="0"/>
              </a:spcAft>
            </a:pPr>
            <a:r>
              <a:rPr sz="960" b="0" i="0">
                <a:solidFill>
                  <a:srgbClr val="3F4A57"/>
                </a:solidFill>
                <a:latin typeface="Arial"/>
              </a:rPr>
              <a:t>Offered when repeated struggle is detected on one concept. An offer, never a diagnosis.</a:t>
            </a:r>
          </a:p>
        </p:txBody>
      </p:sp>
      <p:sp>
        <p:nvSpPr>
          <p:cNvPr id="32" name="Rounded Rectangle 31"/>
          <p:cNvSpPr/>
          <p:nvPr/>
        </p:nvSpPr>
        <p:spPr>
          <a:xfrm>
            <a:off x="566928" y="5394960"/>
            <a:ext cx="11057839" cy="566928"/>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7" y="5394960"/>
            <a:ext cx="10509199" cy="566928"/>
          </a:xfrm>
          <a:prstGeom prst="rect">
            <a:avLst/>
          </a:prstGeom>
          <a:noFill/>
        </p:spPr>
        <p:txBody>
          <a:bodyPr wrap="square" lIns="0" rIns="0" tIns="0" bIns="0" anchor="ctr">
            <a:spAutoFit/>
          </a:bodyPr>
          <a:lstStyle/>
          <a:p>
            <a:pPr algn="l">
              <a:spcBef>
                <a:spcPts val="0"/>
              </a:spcBef>
              <a:spcAft>
                <a:spcPts val="0"/>
              </a:spcAft>
            </a:pPr>
            <a:r>
              <a:rPr sz="1000" b="0" i="0">
                <a:solidFill>
                  <a:srgbClr val="115E59"/>
                </a:solidFill>
                <a:latin typeface="Arial"/>
              </a:rPr>
              <a:t>Also shipped, because they are not optional for this audience:   WCAG 2.1 AA throughout  ·  full keyboard navigation  ·  44px touch targets  ·  prefers-reduced-motion honoured  ·  installable PWA, no app store required  ·  designed at 360px first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07 · HOW WE BUILT IT</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Four days. Every constraint met as a decision.</a:t>
            </a:r>
          </a:p>
        </p:txBody>
      </p:sp>
      <p:sp>
        <p:nvSpPr>
          <p:cNvPr id="5" name="TextBox 4"/>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6" name="TextBox 5"/>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7</a:t>
            </a:r>
          </a:p>
        </p:txBody>
      </p:sp>
      <p:sp>
        <p:nvSpPr>
          <p:cNvPr id="7" name="Rounded Rectangle 6"/>
          <p:cNvSpPr/>
          <p:nvPr/>
        </p:nvSpPr>
        <p:spPr>
          <a:xfrm>
            <a:off x="566928" y="1389888"/>
            <a:ext cx="11057839" cy="603504"/>
          </a:xfrm>
          <a:prstGeom prst="roundRect">
            <a:avLst>
              <a:gd name="adj" fmla="val 6000"/>
            </a:avLst>
          </a:prstGeom>
          <a:solidFill>
            <a:srgbClr val="F1F5F4"/>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89888"/>
            <a:ext cx="914400" cy="603504"/>
          </a:xfrm>
          <a:prstGeom prst="rect">
            <a:avLst/>
          </a:prstGeom>
          <a:noFill/>
        </p:spPr>
        <p:txBody>
          <a:bodyPr wrap="square" lIns="0" rIns="0" tIns="0" bIns="0" anchor="ctr">
            <a:spAutoFit/>
          </a:bodyPr>
          <a:lstStyle/>
          <a:p>
            <a:pPr algn="l">
              <a:spcBef>
                <a:spcPts val="0"/>
              </a:spcBef>
              <a:spcAft>
                <a:spcPts val="0"/>
              </a:spcAft>
            </a:pPr>
            <a:r>
              <a:rPr sz="900" b="1" i="0">
                <a:solidFill>
                  <a:srgbClr val="0F766E"/>
                </a:solidFill>
                <a:latin typeface="Arial"/>
              </a:rPr>
              <a:t>STACK</a:t>
            </a:r>
          </a:p>
        </p:txBody>
      </p:sp>
      <p:sp>
        <p:nvSpPr>
          <p:cNvPr id="9" name="TextBox 8"/>
          <p:cNvSpPr txBox="1"/>
          <p:nvPr/>
        </p:nvSpPr>
        <p:spPr>
          <a:xfrm>
            <a:off x="1664207" y="1389888"/>
            <a:ext cx="9686239" cy="603504"/>
          </a:xfrm>
          <a:prstGeom prst="rect">
            <a:avLst/>
          </a:prstGeom>
          <a:noFill/>
        </p:spPr>
        <p:txBody>
          <a:bodyPr wrap="square" lIns="0" rIns="0" tIns="0" bIns="0" anchor="ctr">
            <a:spAutoFit/>
          </a:bodyPr>
          <a:lstStyle/>
          <a:p>
            <a:pPr algn="l">
              <a:lnSpc>
                <a:spcPct val="125000"/>
              </a:lnSpc>
              <a:spcBef>
                <a:spcPts val="0"/>
              </a:spcBef>
              <a:spcAft>
                <a:spcPts val="0"/>
              </a:spcAft>
            </a:pPr>
            <a:r>
              <a:rPr sz="980" b="0" i="0">
                <a:solidFill>
                  <a:srgbClr val="3F4A57"/>
                </a:solidFill>
                <a:latin typeface="Arial"/>
              </a:rPr>
              <a:t>Next.js 16 App Router (TypeScript), installable PWA on Vercel  ·  Supabase Postgres, row-level security on every table  ·  Claude Sonnet 5 for tutoring and hints, Haiku 4.5 for batch  ·  KaTeX  ·  Twilio WhatsApp behind a channel-agnostic adapter</a:t>
            </a:r>
          </a:p>
        </p:txBody>
      </p:sp>
      <p:pic>
        <p:nvPicPr>
          <p:cNvPr id="10" name="Picture 9" descr="architecture.png"/>
          <p:cNvPicPr>
            <a:picLocks noChangeAspect="1"/>
          </p:cNvPicPr>
          <p:nvPr/>
        </p:nvPicPr>
        <p:blipFill>
          <a:blip r:embed="rId2"/>
          <a:stretch>
            <a:fillRect/>
          </a:stretch>
        </p:blipFill>
        <p:spPr>
          <a:xfrm>
            <a:off x="566928" y="2157984"/>
            <a:ext cx="5605272" cy="3674567"/>
          </a:xfrm>
          <a:prstGeom prst="rect">
            <a:avLst/>
          </a:prstGeom>
        </p:spPr>
      </p:pic>
      <p:sp>
        <p:nvSpPr>
          <p:cNvPr id="11" name="Rounded Rectangle 10"/>
          <p:cNvSpPr/>
          <p:nvPr/>
        </p:nvSpPr>
        <p:spPr>
          <a:xfrm>
            <a:off x="6373368" y="2157984"/>
            <a:ext cx="5251399" cy="115214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73368" y="2322576"/>
            <a:ext cx="41148" cy="8229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340864"/>
            <a:ext cx="4794199" cy="822960"/>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Grading is code, never AI</a:t>
            </a:r>
          </a:p>
          <a:p>
            <a:pPr algn="l">
              <a:lnSpc>
                <a:spcPct val="122000"/>
              </a:lnSpc>
              <a:spcBef>
                <a:spcPts val="0"/>
              </a:spcBef>
              <a:spcAft>
                <a:spcPts val="0"/>
              </a:spcAft>
            </a:pPr>
            <a:r>
              <a:rPr sz="940" b="0" i="0">
                <a:solidFill>
                  <a:srgbClr val="3F4A57"/>
                </a:solidFill>
                <a:latin typeface="Arial"/>
              </a:rPr>
              <a:t>A model asked "is this correct?" is wrong occasionally and silently, and the cost lands on a child who was right. Deterministic grading treats 1/2, 2/4 and 0.5 as one answer. AI writes hints and explanations only.</a:t>
            </a:r>
          </a:p>
        </p:txBody>
      </p:sp>
      <p:sp>
        <p:nvSpPr>
          <p:cNvPr id="14" name="Rounded Rectangle 13"/>
          <p:cNvSpPr/>
          <p:nvPr/>
        </p:nvSpPr>
        <p:spPr>
          <a:xfrm>
            <a:off x="6373368" y="3419856"/>
            <a:ext cx="5251399" cy="115214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73368" y="3584448"/>
            <a:ext cx="41148" cy="8229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602736"/>
            <a:ext cx="4794199" cy="822960"/>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Answer keys never reach the browser</a:t>
            </a:r>
          </a:p>
          <a:p>
            <a:pPr algn="l">
              <a:lnSpc>
                <a:spcPct val="122000"/>
              </a:lnSpc>
              <a:spcBef>
                <a:spcPts val="0"/>
              </a:spcBef>
              <a:spcAft>
                <a:spcPts val="0"/>
              </a:spcAft>
            </a:pPr>
            <a:r>
              <a:rPr sz="940" b="0" i="0">
                <a:solidFill>
                  <a:srgbClr val="3F4A57"/>
                </a:solidFill>
                <a:latin typeface="Arial"/>
              </a:rPr>
              <a:t>Learners read a view with no answer column; grading happens server-side. Three files in the whole repo may read the base table, and a test fails if that list grows.</a:t>
            </a:r>
          </a:p>
        </p:txBody>
      </p:sp>
      <p:sp>
        <p:nvSpPr>
          <p:cNvPr id="17" name="Rounded Rectangle 16"/>
          <p:cNvSpPr/>
          <p:nvPr/>
        </p:nvSpPr>
        <p:spPr>
          <a:xfrm>
            <a:off x="6373368" y="4681727"/>
            <a:ext cx="5251399" cy="115214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73368" y="4846319"/>
            <a:ext cx="41148" cy="8229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4864607"/>
            <a:ext cx="4794199" cy="822960"/>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The parent link needs no parent account</a:t>
            </a:r>
          </a:p>
          <a:p>
            <a:pPr algn="l">
              <a:lnSpc>
                <a:spcPct val="122000"/>
              </a:lnSpc>
              <a:spcBef>
                <a:spcPts val="0"/>
              </a:spcBef>
              <a:spcAft>
                <a:spcPts val="0"/>
              </a:spcAft>
            </a:pPr>
            <a:r>
              <a:rPr sz="940" b="0" i="0">
                <a:solidFill>
                  <a:srgbClr val="3F4A57"/>
                </a:solidFill>
                <a:latin typeface="Arial"/>
              </a:rPr>
              <a:t>Requiring a login from the adult would have excluded the grandmother, the older sister and the teacher — often the adult who actually checks.</a:t>
            </a:r>
          </a:p>
        </p:txBody>
      </p:sp>
      <p:sp>
        <p:nvSpPr>
          <p:cNvPr id="20" name="Rounded Rectangle 19"/>
          <p:cNvSpPr/>
          <p:nvPr/>
        </p:nvSpPr>
        <p:spPr>
          <a:xfrm>
            <a:off x="566928" y="5925312"/>
            <a:ext cx="11057839" cy="457200"/>
          </a:xfrm>
          <a:prstGeom prst="roundRect">
            <a:avLst>
              <a:gd name="adj" fmla="val 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5925312"/>
            <a:ext cx="6851599" cy="457200"/>
          </a:xfrm>
          <a:prstGeom prst="rect">
            <a:avLst/>
          </a:prstGeom>
          <a:noFill/>
        </p:spPr>
        <p:txBody>
          <a:bodyPr wrap="square" lIns="0" rIns="0" tIns="0" bIns="0" anchor="ctr">
            <a:spAutoFit/>
          </a:bodyPr>
          <a:lstStyle/>
          <a:p>
            <a:pPr algn="l">
              <a:spcBef>
                <a:spcPts val="0"/>
              </a:spcBef>
              <a:spcAft>
                <a:spcPts val="0"/>
              </a:spcAft>
            </a:pPr>
            <a:r>
              <a:rPr sz="1050" b="1" i="0">
                <a:solidFill>
                  <a:srgbClr val="FFFFFF"/>
                </a:solidFill>
                <a:latin typeface="Arial"/>
              </a:rPr>
              <a:t>The full build story — architecture, the trade-offs made under a four-day clock, and everything left in the backlog with its reason — is the accompanying PDF.</a:t>
            </a:r>
          </a:p>
        </p:txBody>
      </p:sp>
      <p:sp>
        <p:nvSpPr>
          <p:cNvPr id="22" name="TextBox 21"/>
          <p:cNvSpPr txBox="1"/>
          <p:nvPr/>
        </p:nvSpPr>
        <p:spPr>
          <a:xfrm>
            <a:off x="7784287" y="5925312"/>
            <a:ext cx="3566160" cy="457200"/>
          </a:xfrm>
          <a:prstGeom prst="rect">
            <a:avLst/>
          </a:prstGeom>
          <a:noFill/>
        </p:spPr>
        <p:txBody>
          <a:bodyPr wrap="square" lIns="0" rIns="0" tIns="0" bIns="0" anchor="ctr">
            <a:spAutoFit/>
          </a:bodyPr>
          <a:lstStyle/>
          <a:p>
            <a:pPr algn="r">
              <a:spcBef>
                <a:spcPts val="0"/>
              </a:spcBef>
              <a:spcAft>
                <a:spcPts val="0"/>
              </a:spcAft>
            </a:pPr>
            <a:r>
              <a:rPr sz="1050" b="1" i="0">
                <a:solidFill>
                  <a:srgbClr val="CCFBF1"/>
                </a:solidFill>
                <a:latin typeface="Arial"/>
              </a:rPr>
              <a:t>github.com/ap9650/saathi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08 · NEXT</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The next 1–2 months, if the feedback says go.</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Ordered by what real users have already told us, not by what is fun to build. The first three came out of testing this week.</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8</a:t>
            </a:r>
          </a:p>
        </p:txBody>
      </p:sp>
      <p:sp>
        <p:nvSpPr>
          <p:cNvPr id="8" name="Rounded Rectangle 7"/>
          <p:cNvSpPr/>
          <p:nvPr/>
        </p:nvSpPr>
        <p:spPr>
          <a:xfrm>
            <a:off x="566928" y="1883664"/>
            <a:ext cx="2627299" cy="186537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48256"/>
            <a:ext cx="41148" cy="15361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66544"/>
            <a:ext cx="2170099" cy="1536192"/>
          </a:xfrm>
          <a:prstGeom prst="rect">
            <a:avLst/>
          </a:prstGeom>
          <a:noFill/>
        </p:spPr>
        <p:txBody>
          <a:bodyPr wrap="square" lIns="0" rIns="0" tIns="0" bIns="0" anchor="t">
            <a:spAutoFit/>
          </a:bodyPr>
          <a:lstStyle/>
          <a:p>
            <a:pPr algn="l">
              <a:spcBef>
                <a:spcPts val="0"/>
              </a:spcBef>
              <a:spcAft>
                <a:spcPts val="400"/>
              </a:spcAft>
            </a:pPr>
            <a:r>
              <a:rPr sz="850" b="1" i="0">
                <a:solidFill>
                  <a:srgbClr val="B45309"/>
                </a:solidFill>
                <a:latin typeface="Arial"/>
              </a:rPr>
              <a:t>01</a:t>
            </a:r>
          </a:p>
          <a:p>
            <a:pPr algn="l">
              <a:lnSpc>
                <a:spcPct val="105000"/>
              </a:lnSpc>
              <a:spcBef>
                <a:spcPts val="0"/>
              </a:spcBef>
              <a:spcAft>
                <a:spcPts val="500"/>
              </a:spcAft>
            </a:pPr>
            <a:r>
              <a:rPr sz="1150" b="1" i="0">
                <a:solidFill>
                  <a:srgbClr val="1A2733"/>
                </a:solidFill>
                <a:latin typeface="Arial"/>
              </a:rPr>
              <a:t>Widen the question bank</a:t>
            </a:r>
          </a:p>
          <a:p>
            <a:pPr algn="l">
              <a:lnSpc>
                <a:spcPct val="122000"/>
              </a:lnSpc>
              <a:spcBef>
                <a:spcPts val="0"/>
              </a:spcBef>
              <a:spcAft>
                <a:spcPts val="0"/>
              </a:spcAft>
            </a:pPr>
            <a:r>
              <a:rPr sz="919" b="0" i="0">
                <a:solidFill>
                  <a:srgbClr val="3F4A57"/>
                </a:solidFill>
                <a:latin typeface="Arial"/>
              </a:rPr>
              <a:t>A tester retook a quiz and got the same eight questions — because there are only eight per chapter. Order now varies per attempt; the real fix is 16 per chapter. ~6 hours, most of it verifying answer keys.</a:t>
            </a:r>
          </a:p>
        </p:txBody>
      </p:sp>
      <p:sp>
        <p:nvSpPr>
          <p:cNvPr id="11" name="Rounded Rectangle 10"/>
          <p:cNvSpPr/>
          <p:nvPr/>
        </p:nvSpPr>
        <p:spPr>
          <a:xfrm>
            <a:off x="3377107" y="1883664"/>
            <a:ext cx="2627299" cy="186537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77107" y="2048256"/>
            <a:ext cx="41148" cy="15361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3139" y="2066544"/>
            <a:ext cx="2170099" cy="1536192"/>
          </a:xfrm>
          <a:prstGeom prst="rect">
            <a:avLst/>
          </a:prstGeom>
          <a:noFill/>
        </p:spPr>
        <p:txBody>
          <a:bodyPr wrap="square" lIns="0" rIns="0" tIns="0" bIns="0" anchor="t">
            <a:spAutoFit/>
          </a:bodyPr>
          <a:lstStyle/>
          <a:p>
            <a:pPr algn="l">
              <a:spcBef>
                <a:spcPts val="0"/>
              </a:spcBef>
              <a:spcAft>
                <a:spcPts val="400"/>
              </a:spcAft>
            </a:pPr>
            <a:r>
              <a:rPr sz="850" b="1" i="0">
                <a:solidFill>
                  <a:srgbClr val="B45309"/>
                </a:solidFill>
                <a:latin typeface="Arial"/>
              </a:rPr>
              <a:t>02</a:t>
            </a:r>
          </a:p>
          <a:p>
            <a:pPr algn="l">
              <a:lnSpc>
                <a:spcPct val="105000"/>
              </a:lnSpc>
              <a:spcBef>
                <a:spcPts val="0"/>
              </a:spcBef>
              <a:spcAft>
                <a:spcPts val="500"/>
              </a:spcAft>
            </a:pPr>
            <a:r>
              <a:rPr sz="1150" b="1" i="0">
                <a:solidFill>
                  <a:srgbClr val="1A2733"/>
                </a:solidFill>
                <a:latin typeface="Arial"/>
              </a:rPr>
              <a:t>Teach on a rounded decimal instead of failing it</a:t>
            </a:r>
          </a:p>
          <a:p>
            <a:pPr algn="l">
              <a:lnSpc>
                <a:spcPct val="122000"/>
              </a:lnSpc>
              <a:spcBef>
                <a:spcPts val="0"/>
              </a:spcBef>
              <a:spcAft>
                <a:spcPts val="0"/>
              </a:spcAft>
            </a:pPr>
            <a:r>
              <a:rPr sz="919" b="0" i="0">
                <a:solidFill>
                  <a:srgbClr val="3F4A57"/>
                </a:solidFill>
                <a:latin typeface="Arial"/>
              </a:rPr>
              <a:t>Grading demands six decimal places on a recurring answer, so 5/12 as 0.42 is marked wrong. It should say "very close — write it as a fraction". Correct arithmetic, useless pedagogy.</a:t>
            </a:r>
          </a:p>
        </p:txBody>
      </p:sp>
      <p:sp>
        <p:nvSpPr>
          <p:cNvPr id="14" name="Rounded Rectangle 13"/>
          <p:cNvSpPr/>
          <p:nvPr/>
        </p:nvSpPr>
        <p:spPr>
          <a:xfrm>
            <a:off x="6187287" y="1883664"/>
            <a:ext cx="2627299" cy="186537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7287" y="2048256"/>
            <a:ext cx="41148" cy="15361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2066544"/>
            <a:ext cx="2170099" cy="1536192"/>
          </a:xfrm>
          <a:prstGeom prst="rect">
            <a:avLst/>
          </a:prstGeom>
          <a:noFill/>
        </p:spPr>
        <p:txBody>
          <a:bodyPr wrap="square" lIns="0" rIns="0" tIns="0" bIns="0" anchor="t">
            <a:spAutoFit/>
          </a:bodyPr>
          <a:lstStyle/>
          <a:p>
            <a:pPr algn="l">
              <a:spcBef>
                <a:spcPts val="0"/>
              </a:spcBef>
              <a:spcAft>
                <a:spcPts val="400"/>
              </a:spcAft>
            </a:pPr>
            <a:r>
              <a:rPr sz="850" b="1" i="0">
                <a:solidFill>
                  <a:srgbClr val="0F766E"/>
                </a:solidFill>
                <a:latin typeface="Arial"/>
              </a:rPr>
              <a:t>03</a:t>
            </a:r>
          </a:p>
          <a:p>
            <a:pPr algn="l">
              <a:lnSpc>
                <a:spcPct val="105000"/>
              </a:lnSpc>
              <a:spcBef>
                <a:spcPts val="0"/>
              </a:spcBef>
              <a:spcAft>
                <a:spcPts val="500"/>
              </a:spcAft>
            </a:pPr>
            <a:r>
              <a:rPr sz="1150" b="1" i="0">
                <a:solidFill>
                  <a:srgbClr val="1A2733"/>
                </a:solidFill>
                <a:latin typeface="Arial"/>
              </a:rPr>
              <a:t>Make the adaptive ladder visible</a:t>
            </a:r>
          </a:p>
          <a:p>
            <a:pPr algn="l">
              <a:lnSpc>
                <a:spcPct val="122000"/>
              </a:lnSpc>
              <a:spcBef>
                <a:spcPts val="0"/>
              </a:spcBef>
              <a:spcAft>
                <a:spcPts val="0"/>
              </a:spcAft>
            </a:pPr>
            <a:r>
              <a:rPr sz="919" b="0" i="0">
                <a:solidFill>
                  <a:srgbClr val="3F4A57"/>
                </a:solidFill>
                <a:latin typeface="Arial"/>
              </a:rPr>
              <a:t>Practice already steps difficulty up and down. The learner cannot see it. "Nice — let's try a harder one" on the way up, and silence on the way down, so nobody is told they are failing.</a:t>
            </a:r>
          </a:p>
        </p:txBody>
      </p:sp>
      <p:sp>
        <p:nvSpPr>
          <p:cNvPr id="17" name="Rounded Rectangle 16"/>
          <p:cNvSpPr/>
          <p:nvPr/>
        </p:nvSpPr>
        <p:spPr>
          <a:xfrm>
            <a:off x="8997467" y="1883664"/>
            <a:ext cx="2627299" cy="186537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97467" y="2048256"/>
            <a:ext cx="41148" cy="15361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53499" y="2066544"/>
            <a:ext cx="2170099" cy="1536192"/>
          </a:xfrm>
          <a:prstGeom prst="rect">
            <a:avLst/>
          </a:prstGeom>
          <a:noFill/>
        </p:spPr>
        <p:txBody>
          <a:bodyPr wrap="square" lIns="0" rIns="0" tIns="0" bIns="0" anchor="t">
            <a:spAutoFit/>
          </a:bodyPr>
          <a:lstStyle/>
          <a:p>
            <a:pPr algn="l">
              <a:spcBef>
                <a:spcPts val="0"/>
              </a:spcBef>
              <a:spcAft>
                <a:spcPts val="400"/>
              </a:spcAft>
            </a:pPr>
            <a:r>
              <a:rPr sz="850" b="1" i="0">
                <a:solidFill>
                  <a:srgbClr val="0F766E"/>
                </a:solidFill>
                <a:latin typeface="Arial"/>
              </a:rPr>
              <a:t>04</a:t>
            </a:r>
          </a:p>
          <a:p>
            <a:pPr algn="l">
              <a:lnSpc>
                <a:spcPct val="105000"/>
              </a:lnSpc>
              <a:spcBef>
                <a:spcPts val="0"/>
              </a:spcBef>
              <a:spcAft>
                <a:spcPts val="500"/>
              </a:spcAft>
            </a:pPr>
            <a:r>
              <a:rPr sz="1150" b="1" i="0">
                <a:solidFill>
                  <a:srgbClr val="1A2733"/>
                </a:solidFill>
                <a:latin typeface="Arial"/>
              </a:rPr>
              <a:t>Let an adult see the practice</a:t>
            </a:r>
          </a:p>
          <a:p>
            <a:pPr algn="l">
              <a:lnSpc>
                <a:spcPct val="122000"/>
              </a:lnSpc>
              <a:spcBef>
                <a:spcPts val="0"/>
              </a:spcBef>
              <a:spcAft>
                <a:spcPts val="0"/>
              </a:spcAft>
            </a:pPr>
            <a:r>
              <a:rPr sz="919" b="0" i="0">
                <a:solidFill>
                  <a:srgbClr val="3F4A57"/>
                </a:solidFill>
                <a:latin typeface="Arial"/>
              </a:rPr>
              <a:t>Questions attempted and what the learner answered. Deferred on purpose: showing the correct answer beside it needs a server-assembled payload, not a new permission on the answer key.</a:t>
            </a:r>
          </a:p>
        </p:txBody>
      </p:sp>
      <p:sp>
        <p:nvSpPr>
          <p:cNvPr id="20" name="Rounded Rectangle 19"/>
          <p:cNvSpPr/>
          <p:nvPr/>
        </p:nvSpPr>
        <p:spPr>
          <a:xfrm>
            <a:off x="566928" y="3931920"/>
            <a:ext cx="2627299" cy="186537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096512"/>
            <a:ext cx="41148" cy="15361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114800"/>
            <a:ext cx="2170099" cy="1536192"/>
          </a:xfrm>
          <a:prstGeom prst="rect">
            <a:avLst/>
          </a:prstGeom>
          <a:noFill/>
        </p:spPr>
        <p:txBody>
          <a:bodyPr wrap="square" lIns="0" rIns="0" tIns="0" bIns="0" anchor="t">
            <a:spAutoFit/>
          </a:bodyPr>
          <a:lstStyle/>
          <a:p>
            <a:pPr algn="l">
              <a:spcBef>
                <a:spcPts val="0"/>
              </a:spcBef>
              <a:spcAft>
                <a:spcPts val="400"/>
              </a:spcAft>
            </a:pPr>
            <a:r>
              <a:rPr sz="850" b="1" i="0">
                <a:solidFill>
                  <a:srgbClr val="0369A1"/>
                </a:solidFill>
                <a:latin typeface="Arial"/>
              </a:rPr>
              <a:t>05</a:t>
            </a:r>
          </a:p>
          <a:p>
            <a:pPr algn="l">
              <a:lnSpc>
                <a:spcPct val="105000"/>
              </a:lnSpc>
              <a:spcBef>
                <a:spcPts val="0"/>
              </a:spcBef>
              <a:spcAft>
                <a:spcPts val="500"/>
              </a:spcAft>
            </a:pPr>
            <a:r>
              <a:rPr sz="1150" b="1" i="0">
                <a:solidFill>
                  <a:srgbClr val="1A2733"/>
                </a:solidFill>
                <a:latin typeface="Arial"/>
              </a:rPr>
              <a:t>WhatsApp off the sandbox</a:t>
            </a:r>
          </a:p>
          <a:p>
            <a:pPr algn="l">
              <a:lnSpc>
                <a:spcPct val="122000"/>
              </a:lnSpc>
              <a:spcBef>
                <a:spcPts val="0"/>
              </a:spcBef>
              <a:spcAft>
                <a:spcPts val="0"/>
              </a:spcAft>
            </a:pPr>
            <a:r>
              <a:rPr sz="919" b="0" i="0">
                <a:solidFill>
                  <a:srgbClr val="3F4A57"/>
                </a:solidFill>
                <a:latin typeface="Arial"/>
              </a:rPr>
              <a:t>The Twilio sandbox expires a parent's session after three days and cannot carry a weekly template. Moving to WhatsApp Business is Meta verification — paperwork, not engineering. The adapter is already written.</a:t>
            </a:r>
          </a:p>
        </p:txBody>
      </p:sp>
      <p:sp>
        <p:nvSpPr>
          <p:cNvPr id="23" name="Rounded Rectangle 22"/>
          <p:cNvSpPr/>
          <p:nvPr/>
        </p:nvSpPr>
        <p:spPr>
          <a:xfrm>
            <a:off x="3377107" y="3931920"/>
            <a:ext cx="2627299" cy="186537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77107" y="4096512"/>
            <a:ext cx="41148" cy="15361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33139" y="4114800"/>
            <a:ext cx="2170099" cy="1536192"/>
          </a:xfrm>
          <a:prstGeom prst="rect">
            <a:avLst/>
          </a:prstGeom>
          <a:noFill/>
        </p:spPr>
        <p:txBody>
          <a:bodyPr wrap="square" lIns="0" rIns="0" tIns="0" bIns="0" anchor="t">
            <a:spAutoFit/>
          </a:bodyPr>
          <a:lstStyle/>
          <a:p>
            <a:pPr algn="l">
              <a:spcBef>
                <a:spcPts val="0"/>
              </a:spcBef>
              <a:spcAft>
                <a:spcPts val="400"/>
              </a:spcAft>
            </a:pPr>
            <a:r>
              <a:rPr sz="850" b="1" i="0">
                <a:solidFill>
                  <a:srgbClr val="0369A1"/>
                </a:solidFill>
                <a:latin typeface="Arial"/>
              </a:rPr>
              <a:t>06</a:t>
            </a:r>
          </a:p>
          <a:p>
            <a:pPr algn="l">
              <a:lnSpc>
                <a:spcPct val="105000"/>
              </a:lnSpc>
              <a:spcBef>
                <a:spcPts val="0"/>
              </a:spcBef>
              <a:spcAft>
                <a:spcPts val="500"/>
              </a:spcAft>
            </a:pPr>
            <a:r>
              <a:rPr sz="1150" b="1" i="0">
                <a:solidFill>
                  <a:srgbClr val="1A2733"/>
                </a:solidFill>
                <a:latin typeface="Arial"/>
              </a:rPr>
              <a:t>A tutor eval set with an LLM judge</a:t>
            </a:r>
          </a:p>
          <a:p>
            <a:pPr algn="l">
              <a:lnSpc>
                <a:spcPct val="122000"/>
              </a:lnSpc>
              <a:spcBef>
                <a:spcPts val="0"/>
              </a:spcBef>
              <a:spcAft>
                <a:spcPts val="0"/>
              </a:spcAft>
            </a:pPr>
            <a:r>
              <a:rPr sz="919" b="0" i="0">
                <a:solidFill>
                  <a:srgbClr val="3F4A57"/>
                </a:solidFill>
                <a:latin typeface="Arial"/>
              </a:rPr>
              <a:t>20–30 real learner questions with a rubric. Until it exists, every prompt edit is an untested deploy — and the tutor is the differentiator.</a:t>
            </a:r>
          </a:p>
        </p:txBody>
      </p:sp>
      <p:sp>
        <p:nvSpPr>
          <p:cNvPr id="26" name="Rounded Rectangle 25"/>
          <p:cNvSpPr/>
          <p:nvPr/>
        </p:nvSpPr>
        <p:spPr>
          <a:xfrm>
            <a:off x="6187287" y="3931920"/>
            <a:ext cx="2627299" cy="186537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87287" y="4096512"/>
            <a:ext cx="41148" cy="153619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3319" y="4114800"/>
            <a:ext cx="2170099" cy="1536192"/>
          </a:xfrm>
          <a:prstGeom prst="rect">
            <a:avLst/>
          </a:prstGeom>
          <a:noFill/>
        </p:spPr>
        <p:txBody>
          <a:bodyPr wrap="square" lIns="0" rIns="0" tIns="0" bIns="0" anchor="t">
            <a:spAutoFit/>
          </a:bodyPr>
          <a:lstStyle/>
          <a:p>
            <a:pPr algn="l">
              <a:spcBef>
                <a:spcPts val="0"/>
              </a:spcBef>
              <a:spcAft>
                <a:spcPts val="400"/>
              </a:spcAft>
            </a:pPr>
            <a:r>
              <a:rPr sz="850" b="1" i="0">
                <a:solidFill>
                  <a:srgbClr val="15803D"/>
                </a:solidFill>
                <a:latin typeface="Arial"/>
              </a:rPr>
              <a:t>07</a:t>
            </a:r>
          </a:p>
          <a:p>
            <a:pPr algn="l">
              <a:lnSpc>
                <a:spcPct val="105000"/>
              </a:lnSpc>
              <a:spcBef>
                <a:spcPts val="0"/>
              </a:spcBef>
              <a:spcAft>
                <a:spcPts val="500"/>
              </a:spcAft>
            </a:pPr>
            <a:r>
              <a:rPr sz="1150" b="1" i="0">
                <a:solidFill>
                  <a:srgbClr val="1A2733"/>
                </a:solidFill>
                <a:latin typeface="Arial"/>
              </a:rPr>
              <a:t>Hindi authored natively, not translated</a:t>
            </a:r>
          </a:p>
          <a:p>
            <a:pPr algn="l">
              <a:lnSpc>
                <a:spcPct val="122000"/>
              </a:lnSpc>
              <a:spcBef>
                <a:spcPts val="0"/>
              </a:spcBef>
              <a:spcAft>
                <a:spcPts val="0"/>
              </a:spcAft>
            </a:pPr>
            <a:r>
              <a:rPr sz="919" b="0" i="0">
                <a:solidFill>
                  <a:srgbClr val="3F4A57"/>
                </a:solidFill>
                <a:latin typeface="Arial"/>
              </a:rPr>
              <a:t>Today the Hindi is translated from English. A Hindi-medium learner deserves lessons written in Hindi, in the register a 12-year-old actually speaks.</a:t>
            </a:r>
          </a:p>
        </p:txBody>
      </p:sp>
      <p:sp>
        <p:nvSpPr>
          <p:cNvPr id="29" name="Rounded Rectangle 28"/>
          <p:cNvSpPr/>
          <p:nvPr/>
        </p:nvSpPr>
        <p:spPr>
          <a:xfrm>
            <a:off x="8997467" y="3931920"/>
            <a:ext cx="2627299" cy="186537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97467" y="4096512"/>
            <a:ext cx="41148" cy="153619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53499" y="4114800"/>
            <a:ext cx="2170099" cy="1536192"/>
          </a:xfrm>
          <a:prstGeom prst="rect">
            <a:avLst/>
          </a:prstGeom>
          <a:noFill/>
        </p:spPr>
        <p:txBody>
          <a:bodyPr wrap="square" lIns="0" rIns="0" tIns="0" bIns="0" anchor="t">
            <a:spAutoFit/>
          </a:bodyPr>
          <a:lstStyle/>
          <a:p>
            <a:pPr algn="l">
              <a:spcBef>
                <a:spcPts val="0"/>
              </a:spcBef>
              <a:spcAft>
                <a:spcPts val="400"/>
              </a:spcAft>
            </a:pPr>
            <a:r>
              <a:rPr sz="850" b="1" i="0">
                <a:solidFill>
                  <a:srgbClr val="15803D"/>
                </a:solidFill>
                <a:latin typeface="Arial"/>
              </a:rPr>
              <a:t>08</a:t>
            </a:r>
          </a:p>
          <a:p>
            <a:pPr algn="l">
              <a:lnSpc>
                <a:spcPct val="105000"/>
              </a:lnSpc>
              <a:spcBef>
                <a:spcPts val="0"/>
              </a:spcBef>
              <a:spcAft>
                <a:spcPts val="500"/>
              </a:spcAft>
            </a:pPr>
            <a:r>
              <a:rPr sz="1150" b="1" i="0">
                <a:solidFill>
                  <a:srgbClr val="1A2733"/>
                </a:solidFill>
                <a:latin typeface="Arial"/>
              </a:rPr>
              <a:t>A cohort dashboard</a:t>
            </a:r>
          </a:p>
          <a:p>
            <a:pPr algn="l">
              <a:lnSpc>
                <a:spcPct val="122000"/>
              </a:lnSpc>
              <a:spcBef>
                <a:spcPts val="0"/>
              </a:spcBef>
              <a:spcAft>
                <a:spcPts val="0"/>
              </a:spcAft>
            </a:pPr>
            <a:r>
              <a:rPr sz="919" b="0" i="0">
                <a:solidFill>
                  <a:srgbClr val="3F4A57"/>
                </a:solidFill>
                <a:latin typeface="Arial"/>
              </a:rPr>
              <a:t>The unlock for the first NGO conversation. They will not buy a product they cannot report 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09 · ROADMAP</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One subject proves it. The rest is authoring.</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Curriculum is data — chapters, concepts, lessons and questions are rows, not code. Adding a subject is authoring, not rebuilding. That is a fact about the schema, not a promise.</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9</a:t>
            </a:r>
          </a:p>
        </p:txBody>
      </p:sp>
      <p:sp>
        <p:nvSpPr>
          <p:cNvPr id="8" name="Rounded Rectangle 7"/>
          <p:cNvSpPr/>
          <p:nvPr/>
        </p:nvSpPr>
        <p:spPr>
          <a:xfrm>
            <a:off x="566928" y="1883664"/>
            <a:ext cx="3564026" cy="204825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83664"/>
            <a:ext cx="3564026" cy="822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139696"/>
            <a:ext cx="3088538" cy="1700784"/>
          </a:xfrm>
          <a:prstGeom prst="rect">
            <a:avLst/>
          </a:prstGeom>
          <a:noFill/>
        </p:spPr>
        <p:txBody>
          <a:bodyPr wrap="square" lIns="0" rIns="0" tIns="0" bIns="0" anchor="t">
            <a:spAutoFit/>
          </a:bodyPr>
          <a:lstStyle/>
          <a:p>
            <a:pPr algn="l">
              <a:spcBef>
                <a:spcPts val="0"/>
              </a:spcBef>
              <a:spcAft>
                <a:spcPts val="300"/>
              </a:spcAft>
            </a:pPr>
            <a:r>
              <a:rPr sz="1400" b="1" i="0">
                <a:solidFill>
                  <a:srgbClr val="1A2733"/>
                </a:solidFill>
                <a:latin typeface="Arial"/>
              </a:rPr>
              <a:t>Phase 1 — now</a:t>
            </a:r>
          </a:p>
          <a:p>
            <a:pPr algn="l">
              <a:spcBef>
                <a:spcPts val="0"/>
              </a:spcBef>
              <a:spcAft>
                <a:spcPts val="900"/>
              </a:spcAft>
            </a:pPr>
            <a:r>
              <a:rPr sz="1000" b="1" i="0">
                <a:solidFill>
                  <a:srgbClr val="0F766E"/>
                </a:solidFill>
                <a:latin typeface="Arial"/>
              </a:rPr>
              <a:t>Validate the core loop</a:t>
            </a:r>
          </a:p>
          <a:p>
            <a:pPr algn="l">
              <a:lnSpc>
                <a:spcPct val="132000"/>
              </a:lnSpc>
              <a:spcBef>
                <a:spcPts val="0"/>
              </a:spcBef>
              <a:spcAft>
                <a:spcPts val="0"/>
              </a:spcAft>
            </a:pPr>
            <a:r>
              <a:rPr sz="980" b="0" i="0">
                <a:solidFill>
                  <a:srgbClr val="3F4A57"/>
                </a:solidFill>
                <a:latin typeface="Arial"/>
              </a:rPr>
              <a:t>NCERT Mathematics, Classes 6–8  ·  AI Tutor  ·  guided practice  ·  chapter quiz  ·  progress and streaks  ·  parent summary  ·  mentor request  ·  Hindi and English.   Free, deliberately — no pricing experiment runs until H1–H7 have data.</a:t>
            </a:r>
          </a:p>
        </p:txBody>
      </p:sp>
      <p:sp>
        <p:nvSpPr>
          <p:cNvPr id="11" name="Rounded Rectangle 10"/>
          <p:cNvSpPr/>
          <p:nvPr/>
        </p:nvSpPr>
        <p:spPr>
          <a:xfrm>
            <a:off x="4313834" y="1883664"/>
            <a:ext cx="3564026" cy="204825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3834" y="1883664"/>
            <a:ext cx="3564026" cy="8229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1578" y="2139696"/>
            <a:ext cx="3088538" cy="1700784"/>
          </a:xfrm>
          <a:prstGeom prst="rect">
            <a:avLst/>
          </a:prstGeom>
          <a:noFill/>
        </p:spPr>
        <p:txBody>
          <a:bodyPr wrap="square" lIns="0" rIns="0" tIns="0" bIns="0" anchor="t">
            <a:spAutoFit/>
          </a:bodyPr>
          <a:lstStyle/>
          <a:p>
            <a:pPr algn="l">
              <a:spcBef>
                <a:spcPts val="0"/>
              </a:spcBef>
              <a:spcAft>
                <a:spcPts val="300"/>
              </a:spcAft>
            </a:pPr>
            <a:r>
              <a:rPr sz="1400" b="1" i="0">
                <a:solidFill>
                  <a:srgbClr val="1A2733"/>
                </a:solidFill>
                <a:latin typeface="Arial"/>
              </a:rPr>
              <a:t>Phase 2 — expansion</a:t>
            </a:r>
          </a:p>
          <a:p>
            <a:pPr algn="l">
              <a:spcBef>
                <a:spcPts val="0"/>
              </a:spcBef>
              <a:spcAft>
                <a:spcPts val="900"/>
              </a:spcAft>
            </a:pPr>
            <a:r>
              <a:rPr sz="1000" b="1" i="0">
                <a:solidFill>
                  <a:srgbClr val="0369A1"/>
                </a:solidFill>
                <a:latin typeface="Arial"/>
              </a:rPr>
              <a:t>Widen subjects, languages and stakeholders</a:t>
            </a:r>
          </a:p>
          <a:p>
            <a:pPr algn="l">
              <a:lnSpc>
                <a:spcPct val="132000"/>
              </a:lnSpc>
              <a:spcBef>
                <a:spcPts val="0"/>
              </a:spcBef>
              <a:spcAft>
                <a:spcPts val="0"/>
              </a:spcAft>
            </a:pPr>
            <a:r>
              <a:rPr sz="980" b="0" i="0">
                <a:solidFill>
                  <a:srgbClr val="3F4A57"/>
                </a:solidFill>
                <a:latin typeface="Arial"/>
              </a:rPr>
              <a:t>Science and other subjects  ·  more grades  ·  Marathi, Tamil and Bengali (the storage model already supports them)  ·  adaptive learning paths  ·  teacher dashboard  ·  NGO cohort dashboard  ·  first paid CSR pilots.</a:t>
            </a:r>
          </a:p>
        </p:txBody>
      </p:sp>
      <p:sp>
        <p:nvSpPr>
          <p:cNvPr id="14" name="Rounded Rectangle 13"/>
          <p:cNvSpPr/>
          <p:nvPr/>
        </p:nvSpPr>
        <p:spPr>
          <a:xfrm>
            <a:off x="8060740" y="1883664"/>
            <a:ext cx="3564026" cy="204825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740" y="1883664"/>
            <a:ext cx="3564026" cy="82296"/>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8484" y="2139696"/>
            <a:ext cx="3088538" cy="1700784"/>
          </a:xfrm>
          <a:prstGeom prst="rect">
            <a:avLst/>
          </a:prstGeom>
          <a:noFill/>
        </p:spPr>
        <p:txBody>
          <a:bodyPr wrap="square" lIns="0" rIns="0" tIns="0" bIns="0" anchor="t">
            <a:spAutoFit/>
          </a:bodyPr>
          <a:lstStyle/>
          <a:p>
            <a:pPr algn="l">
              <a:spcBef>
                <a:spcPts val="0"/>
              </a:spcBef>
              <a:spcAft>
                <a:spcPts val="300"/>
              </a:spcAft>
            </a:pPr>
            <a:r>
              <a:rPr sz="1400" b="1" i="0">
                <a:solidFill>
                  <a:srgbClr val="1A2733"/>
                </a:solidFill>
                <a:latin typeface="Arial"/>
              </a:rPr>
              <a:t>Phase 3 — inclusive platform</a:t>
            </a:r>
          </a:p>
          <a:p>
            <a:pPr algn="l">
              <a:spcBef>
                <a:spcPts val="0"/>
              </a:spcBef>
              <a:spcAft>
                <a:spcPts val="900"/>
              </a:spcAft>
            </a:pPr>
            <a:r>
              <a:rPr sz="1000" b="1" i="0">
                <a:solidFill>
                  <a:srgbClr val="15803D"/>
                </a:solidFill>
                <a:latin typeface="Arial"/>
              </a:rPr>
              <a:t>The part of the vision the MVP could not reach</a:t>
            </a:r>
          </a:p>
          <a:p>
            <a:pPr algn="l">
              <a:lnSpc>
                <a:spcPct val="132000"/>
              </a:lnSpc>
              <a:spcBef>
                <a:spcPts val="0"/>
              </a:spcBef>
              <a:spcAft>
                <a:spcPts val="0"/>
              </a:spcAft>
            </a:pPr>
            <a:r>
              <a:rPr sz="980" b="0" i="0">
                <a:solidFill>
                  <a:srgbClr val="3F4A57"/>
                </a:solidFill>
                <a:latin typeface="Arial"/>
              </a:rPr>
              <a:t>Learners with visual, hearing and speech impairments  ·  neurodiverse learners (ADHD, dyslexia)  ·  voice-first learning  ·  offline learning  ·  AI-powered accessibility  ·  a verified mentor network.</a:t>
            </a:r>
          </a:p>
        </p:txBody>
      </p:sp>
      <p:sp>
        <p:nvSpPr>
          <p:cNvPr id="17" name="Rounded Rectangle 16"/>
          <p:cNvSpPr/>
          <p:nvPr/>
        </p:nvSpPr>
        <p:spPr>
          <a:xfrm>
            <a:off x="566928" y="4133087"/>
            <a:ext cx="11057839" cy="1298448"/>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4315968"/>
            <a:ext cx="10472623" cy="365760"/>
          </a:xfrm>
          <a:prstGeom prst="rect">
            <a:avLst/>
          </a:prstGeom>
          <a:noFill/>
        </p:spPr>
        <p:txBody>
          <a:bodyPr wrap="square" lIns="0" rIns="0" tIns="0" bIns="0" anchor="t">
            <a:spAutoFit/>
          </a:bodyPr>
          <a:lstStyle/>
          <a:p>
            <a:pPr algn="l">
              <a:spcBef>
                <a:spcPts val="0"/>
              </a:spcBef>
              <a:spcAft>
                <a:spcPts val="0"/>
              </a:spcAft>
            </a:pPr>
            <a:r>
              <a:rPr sz="950" b="1" i="0">
                <a:solidFill>
                  <a:srgbClr val="0F766E"/>
                </a:solidFill>
                <a:latin typeface="Arial"/>
              </a:rPr>
              <a:t>WHO SAATHI IS FOR NEXT</a:t>
            </a:r>
          </a:p>
        </p:txBody>
      </p:sp>
      <p:sp>
        <p:nvSpPr>
          <p:cNvPr id="19" name="TextBox 18"/>
          <p:cNvSpPr txBox="1"/>
          <p:nvPr/>
        </p:nvSpPr>
        <p:spPr>
          <a:xfrm>
            <a:off x="859536" y="4681727"/>
            <a:ext cx="5212080" cy="640080"/>
          </a:xfrm>
          <a:prstGeom prst="rect">
            <a:avLst/>
          </a:prstGeom>
          <a:noFill/>
        </p:spPr>
        <p:txBody>
          <a:bodyPr wrap="square" lIns="0" rIns="0" tIns="0" bIns="0" anchor="t">
            <a:spAutoFit/>
          </a:bodyPr>
          <a:lstStyle/>
          <a:p>
            <a:pPr algn="l">
              <a:spcBef>
                <a:spcPts val="0"/>
              </a:spcBef>
              <a:spcAft>
                <a:spcPts val="400"/>
              </a:spcAft>
            </a:pPr>
            <a:r>
              <a:rPr sz="1150" b="1" i="0">
                <a:solidFill>
                  <a:srgbClr val="115E59"/>
                </a:solidFill>
                <a:latin typeface="Arial"/>
              </a:rPr>
              <a:t>Learners</a:t>
            </a:r>
          </a:p>
          <a:p>
            <a:pPr algn="l">
              <a:lnSpc>
                <a:spcPct val="130000"/>
              </a:lnSpc>
              <a:spcBef>
                <a:spcPts val="0"/>
              </a:spcBef>
              <a:spcAft>
                <a:spcPts val="0"/>
              </a:spcAft>
            </a:pPr>
            <a:r>
              <a:rPr sz="1000" b="0" i="0">
                <a:solidFill>
                  <a:srgbClr val="3F4A57"/>
                </a:solidFill>
                <a:latin typeface="Arial"/>
              </a:rPr>
              <a:t>Students with visual, hearing or speech impairments  ·  neurodiverse learners  ·  adult literacy learners</a:t>
            </a:r>
          </a:p>
        </p:txBody>
      </p:sp>
      <p:sp>
        <p:nvSpPr>
          <p:cNvPr id="20" name="TextBox 19"/>
          <p:cNvSpPr txBox="1"/>
          <p:nvPr/>
        </p:nvSpPr>
        <p:spPr>
          <a:xfrm>
            <a:off x="6345936" y="4681727"/>
            <a:ext cx="5212080" cy="640080"/>
          </a:xfrm>
          <a:prstGeom prst="rect">
            <a:avLst/>
          </a:prstGeom>
          <a:noFill/>
        </p:spPr>
        <p:txBody>
          <a:bodyPr wrap="square" lIns="0" rIns="0" tIns="0" bIns="0" anchor="t">
            <a:spAutoFit/>
          </a:bodyPr>
          <a:lstStyle/>
          <a:p>
            <a:pPr algn="l">
              <a:spcBef>
                <a:spcPts val="0"/>
              </a:spcBef>
              <a:spcAft>
                <a:spcPts val="400"/>
              </a:spcAft>
            </a:pPr>
            <a:r>
              <a:rPr sz="1150" b="1" i="0">
                <a:solidFill>
                  <a:srgbClr val="115E59"/>
                </a:solidFill>
                <a:latin typeface="Arial"/>
              </a:rPr>
              <a:t>Institutions</a:t>
            </a:r>
          </a:p>
          <a:p>
            <a:pPr algn="l">
              <a:lnSpc>
                <a:spcPct val="130000"/>
              </a:lnSpc>
              <a:spcBef>
                <a:spcPts val="0"/>
              </a:spcBef>
              <a:spcAft>
                <a:spcPts val="0"/>
              </a:spcAft>
            </a:pPr>
            <a:r>
              <a:rPr sz="1000" b="0" i="0">
                <a:solidFill>
                  <a:srgbClr val="3F4A57"/>
                </a:solidFill>
                <a:latin typeface="Arial"/>
              </a:rPr>
              <a:t>Teachers  ·  government schools  ·  NGOs  ·  CSR education programmes  ·  volunteer mentors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10 · ADOPTION</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Reach learners through the adults who already have them.</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Paid consumer acquisition contradicts the targeting: you cannot buy your way to users selected for being unable to pay. So distribution runs through people who already hold a cohort.</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10</a:t>
            </a:r>
          </a:p>
        </p:txBody>
      </p:sp>
      <p:sp>
        <p:nvSpPr>
          <p:cNvPr id="8" name="TextBox 7"/>
          <p:cNvSpPr txBox="1"/>
          <p:nvPr/>
        </p:nvSpPr>
        <p:spPr>
          <a:xfrm>
            <a:off x="566928" y="1883664"/>
            <a:ext cx="5437479" cy="237744"/>
          </a:xfrm>
          <a:prstGeom prst="rect">
            <a:avLst/>
          </a:prstGeom>
          <a:noFill/>
        </p:spPr>
        <p:txBody>
          <a:bodyPr wrap="square" lIns="0" rIns="0" tIns="0" bIns="0" anchor="t">
            <a:spAutoFit/>
          </a:bodyPr>
          <a:lstStyle/>
          <a:p>
            <a:pPr algn="l">
              <a:spcBef>
                <a:spcPts val="0"/>
              </a:spcBef>
              <a:spcAft>
                <a:spcPts val="0"/>
              </a:spcAft>
            </a:pPr>
            <a:r>
              <a:rPr sz="950" b="1" i="0">
                <a:solidFill>
                  <a:srgbClr val="0F766E"/>
                </a:solidFill>
                <a:latin typeface="Arial"/>
              </a:rPr>
              <a:t>B2C  ·  DIRECT, UNPAID</a:t>
            </a:r>
          </a:p>
        </p:txBody>
      </p:sp>
      <p:sp>
        <p:nvSpPr>
          <p:cNvPr id="9" name="TextBox 8"/>
          <p:cNvSpPr txBox="1"/>
          <p:nvPr/>
        </p:nvSpPr>
        <p:spPr>
          <a:xfrm>
            <a:off x="6187287" y="1883664"/>
            <a:ext cx="5437479" cy="237744"/>
          </a:xfrm>
          <a:prstGeom prst="rect">
            <a:avLst/>
          </a:prstGeom>
          <a:noFill/>
        </p:spPr>
        <p:txBody>
          <a:bodyPr wrap="square" lIns="0" rIns="0" tIns="0" bIns="0" anchor="t">
            <a:spAutoFit/>
          </a:bodyPr>
          <a:lstStyle/>
          <a:p>
            <a:pPr algn="l">
              <a:spcBef>
                <a:spcPts val="0"/>
              </a:spcBef>
              <a:spcAft>
                <a:spcPts val="0"/>
              </a:spcAft>
            </a:pPr>
            <a:r>
              <a:rPr sz="950" b="1" i="0">
                <a:solidFill>
                  <a:srgbClr val="0369A1"/>
                </a:solidFill>
                <a:latin typeface="Arial"/>
              </a:rPr>
              <a:t>INSTITUTIONAL  ·  WHERE THE VOLUME IS</a:t>
            </a:r>
          </a:p>
        </p:txBody>
      </p:sp>
      <p:sp>
        <p:nvSpPr>
          <p:cNvPr id="10" name="Rounded Rectangle 9"/>
          <p:cNvSpPr/>
          <p:nvPr/>
        </p:nvSpPr>
        <p:spPr>
          <a:xfrm>
            <a:off x="566928" y="2212848"/>
            <a:ext cx="5437479" cy="131673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77440"/>
            <a:ext cx="41148" cy="98755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395728"/>
            <a:ext cx="4980279" cy="987552"/>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Teachers are the highest-leverage channel</a:t>
            </a:r>
          </a:p>
          <a:p>
            <a:pPr algn="l">
              <a:lnSpc>
                <a:spcPct val="122000"/>
              </a:lnSpc>
              <a:spcBef>
                <a:spcPts val="0"/>
              </a:spcBef>
              <a:spcAft>
                <a:spcPts val="0"/>
              </a:spcAft>
            </a:pPr>
            <a:r>
              <a:rPr sz="960" b="0" i="0">
                <a:solidFill>
                  <a:srgbClr val="3F4A57"/>
                </a:solidFill>
                <a:latin typeface="Arial"/>
              </a:rPr>
              <a:t>One teacher forwards a link to forty students in a single message. No app store, no install, no cost — Saathi is an installable web link. This is how the first testers were reached, and it is the lowest-CAC route in the model by an order of magnitude.</a:t>
            </a:r>
          </a:p>
        </p:txBody>
      </p:sp>
      <p:sp>
        <p:nvSpPr>
          <p:cNvPr id="13" name="Rounded Rectangle 12"/>
          <p:cNvSpPr/>
          <p:nvPr/>
        </p:nvSpPr>
        <p:spPr>
          <a:xfrm>
            <a:off x="566928" y="3694176"/>
            <a:ext cx="5437479" cy="131673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858768"/>
            <a:ext cx="41148" cy="98755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877056"/>
            <a:ext cx="4980279" cy="987552"/>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Families and word of mouth</a:t>
            </a:r>
          </a:p>
          <a:p>
            <a:pPr algn="l">
              <a:lnSpc>
                <a:spcPct val="122000"/>
              </a:lnSpc>
              <a:spcBef>
                <a:spcPts val="0"/>
              </a:spcBef>
              <a:spcAft>
                <a:spcPts val="0"/>
              </a:spcAft>
            </a:pPr>
            <a:r>
              <a:rPr sz="960" b="0" i="0">
                <a:solidFill>
                  <a:srgbClr val="3F4A57"/>
                </a:solidFill>
                <a:latin typeface="Arial"/>
              </a:rPr>
              <a:t>An older sibling shows a younger one. A parent sends it to the WhatsApp group. Small, slow, real, and free — modelled at ~25,000 learners by Year 3 with zero acquisition spend.</a:t>
            </a:r>
          </a:p>
        </p:txBody>
      </p:sp>
      <p:sp>
        <p:nvSpPr>
          <p:cNvPr id="16" name="Rounded Rectangle 15"/>
          <p:cNvSpPr/>
          <p:nvPr/>
        </p:nvSpPr>
        <p:spPr>
          <a:xfrm>
            <a:off x="6187287" y="2212848"/>
            <a:ext cx="5437479" cy="131673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7287" y="2377440"/>
            <a:ext cx="41148" cy="98755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2395728"/>
            <a:ext cx="4980279" cy="987552"/>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NGOs and CSR programmes — the volume</a:t>
            </a:r>
          </a:p>
          <a:p>
            <a:pPr algn="l">
              <a:lnSpc>
                <a:spcPct val="122000"/>
              </a:lnSpc>
              <a:spcBef>
                <a:spcPts val="0"/>
              </a:spcBef>
              <a:spcAft>
                <a:spcPts val="0"/>
              </a:spcAft>
            </a:pPr>
            <a:r>
              <a:rPr sz="960" b="0" i="0">
                <a:solidFill>
                  <a:srgbClr val="3F4A57"/>
                </a:solidFill>
                <a:latin typeface="Arial"/>
              </a:rPr>
              <a:t>15–25 partner organisations at 6–10k learners each, ~150,000 by Year 3. They already run after-school education programmes and already report on them. Section 135 makes the budget mandatory; the cohort dashboard makes it buyable.</a:t>
            </a:r>
          </a:p>
        </p:txBody>
      </p:sp>
      <p:sp>
        <p:nvSpPr>
          <p:cNvPr id="19" name="Rounded Rectangle 18"/>
          <p:cNvSpPr/>
          <p:nvPr/>
        </p:nvSpPr>
        <p:spPr>
          <a:xfrm>
            <a:off x="6187287" y="3694176"/>
            <a:ext cx="5437479" cy="1316736"/>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7287" y="3858768"/>
            <a:ext cx="41148" cy="98755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3319" y="3877056"/>
            <a:ext cx="4980279" cy="987552"/>
          </a:xfrm>
          <a:prstGeom prst="rect">
            <a:avLst/>
          </a:prstGeom>
          <a:noFill/>
        </p:spPr>
        <p:txBody>
          <a:bodyPr wrap="square" lIns="0" rIns="0" tIns="0" bIns="0" anchor="t">
            <a:spAutoFit/>
          </a:bodyPr>
          <a:lstStyle/>
          <a:p>
            <a:pPr algn="l">
              <a:lnSpc>
                <a:spcPct val="105000"/>
              </a:lnSpc>
              <a:spcBef>
                <a:spcPts val="0"/>
              </a:spcBef>
              <a:spcAft>
                <a:spcPts val="500"/>
              </a:spcAft>
            </a:pPr>
            <a:r>
              <a:rPr sz="1200" b="1" i="0">
                <a:solidFill>
                  <a:srgbClr val="1A2733"/>
                </a:solidFill>
                <a:latin typeface="Arial"/>
              </a:rPr>
              <a:t>Government school pilots</a:t>
            </a:r>
          </a:p>
          <a:p>
            <a:pPr algn="l">
              <a:lnSpc>
                <a:spcPct val="122000"/>
              </a:lnSpc>
              <a:spcBef>
                <a:spcPts val="0"/>
              </a:spcBef>
              <a:spcAft>
                <a:spcPts val="0"/>
              </a:spcAft>
            </a:pPr>
            <a:r>
              <a:rPr sz="960" b="0" i="0">
                <a:solidFill>
                  <a:srgbClr val="3F4A57"/>
                </a:solidFill>
                <a:latin typeface="Arial"/>
              </a:rPr>
              <a:t>2–3 district-level pilots, ~75,000 learners. NCERT alignment is what makes this conversation possible at all — the content is the curriculum they already teach, not a parallel one.</a:t>
            </a:r>
          </a:p>
        </p:txBody>
      </p:sp>
      <p:sp>
        <p:nvSpPr>
          <p:cNvPr id="22" name="Rounded Rectangle 21"/>
          <p:cNvSpPr/>
          <p:nvPr/>
        </p:nvSpPr>
        <p:spPr>
          <a:xfrm>
            <a:off x="566928" y="5212079"/>
            <a:ext cx="11057839" cy="841248"/>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5358383"/>
            <a:ext cx="10472623" cy="603504"/>
          </a:xfrm>
          <a:prstGeom prst="rect">
            <a:avLst/>
          </a:prstGeom>
          <a:noFill/>
        </p:spPr>
        <p:txBody>
          <a:bodyPr wrap="square" lIns="0" rIns="0" tIns="0" bIns="0" anchor="t">
            <a:spAutoFit/>
          </a:bodyPr>
          <a:lstStyle/>
          <a:p>
            <a:pPr algn="l">
              <a:spcBef>
                <a:spcPts val="0"/>
              </a:spcBef>
              <a:spcAft>
                <a:spcPts val="400"/>
              </a:spcAft>
            </a:pPr>
            <a:r>
              <a:rPr sz="1150" b="1" i="0">
                <a:solidFill>
                  <a:srgbClr val="115E59"/>
                </a:solidFill>
                <a:latin typeface="Arial"/>
              </a:rPr>
              <a:t>What removes the friction, on every channel</a:t>
            </a:r>
          </a:p>
          <a:p>
            <a:pPr algn="l">
              <a:lnSpc>
                <a:spcPct val="128000"/>
              </a:lnSpc>
              <a:spcBef>
                <a:spcPts val="0"/>
              </a:spcBef>
              <a:spcAft>
                <a:spcPts val="0"/>
              </a:spcAft>
            </a:pPr>
            <a:r>
              <a:rPr sz="1000" b="0" i="0">
                <a:solidFill>
                  <a:srgbClr val="3F4A57"/>
                </a:solidFill>
                <a:latin typeface="Arial"/>
              </a:rPr>
              <a:t>It is a link, not an app store listing — installable, but nothing to download first.  ·  Google Sign-In, because a shared Android phone is already signed in.  ·  Hindi, so the front door is not English.  ·  The parent summary needs no parent account, so an adult can be reached without onboarding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11 · COMPETITION</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Everyone solves a fragment. The gap is joining them up.</a:t>
            </a:r>
          </a:p>
        </p:txBody>
      </p:sp>
      <p:sp>
        <p:nvSpPr>
          <p:cNvPr id="5" name="TextBox 4"/>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6" name="TextBox 5"/>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11</a:t>
            </a:r>
          </a:p>
        </p:txBody>
      </p:sp>
      <p:sp>
        <p:nvSpPr>
          <p:cNvPr id="7" name="Rounded Rectangle 6"/>
          <p:cNvSpPr/>
          <p:nvPr/>
        </p:nvSpPr>
        <p:spPr>
          <a:xfrm>
            <a:off x="566928" y="1389888"/>
            <a:ext cx="11057839" cy="384048"/>
          </a:xfrm>
          <a:prstGeom prst="roundRect">
            <a:avLst>
              <a:gd name="adj" fmla="val 6000"/>
            </a:avLst>
          </a:prstGeom>
          <a:solidFill>
            <a:srgbClr val="F1F5F4"/>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389888"/>
            <a:ext cx="2011680" cy="384048"/>
          </a:xfrm>
          <a:prstGeom prst="rect">
            <a:avLst/>
          </a:prstGeom>
          <a:noFill/>
        </p:spPr>
        <p:txBody>
          <a:bodyPr wrap="square" lIns="0" rIns="0" tIns="0" bIns="0" anchor="ctr">
            <a:spAutoFit/>
          </a:bodyPr>
          <a:lstStyle/>
          <a:p>
            <a:pPr algn="l">
              <a:spcBef>
                <a:spcPts val="0"/>
              </a:spcBef>
              <a:spcAft>
                <a:spcPts val="0"/>
              </a:spcAft>
            </a:pPr>
            <a:r>
              <a:rPr sz="880" b="1" i="0">
                <a:solidFill>
                  <a:srgbClr val="5B6673"/>
                </a:solidFill>
                <a:latin typeface="Arial"/>
              </a:rPr>
              <a:t>CATEGORY</a:t>
            </a:r>
          </a:p>
        </p:txBody>
      </p:sp>
      <p:sp>
        <p:nvSpPr>
          <p:cNvPr id="9" name="TextBox 8"/>
          <p:cNvSpPr txBox="1"/>
          <p:nvPr/>
        </p:nvSpPr>
        <p:spPr>
          <a:xfrm>
            <a:off x="2852928" y="1389888"/>
            <a:ext cx="1920240" cy="384048"/>
          </a:xfrm>
          <a:prstGeom prst="rect">
            <a:avLst/>
          </a:prstGeom>
          <a:noFill/>
        </p:spPr>
        <p:txBody>
          <a:bodyPr wrap="square" lIns="0" rIns="0" tIns="0" bIns="0" anchor="ctr">
            <a:spAutoFit/>
          </a:bodyPr>
          <a:lstStyle/>
          <a:p>
            <a:pPr algn="l">
              <a:spcBef>
                <a:spcPts val="0"/>
              </a:spcBef>
              <a:spcAft>
                <a:spcPts val="0"/>
              </a:spcAft>
            </a:pPr>
            <a:r>
              <a:rPr sz="880" b="1" i="0">
                <a:solidFill>
                  <a:srgbClr val="5B6673"/>
                </a:solidFill>
                <a:latin typeface="Arial"/>
              </a:rPr>
              <a:t>WHO</a:t>
            </a:r>
          </a:p>
        </p:txBody>
      </p:sp>
      <p:sp>
        <p:nvSpPr>
          <p:cNvPr id="10" name="TextBox 9"/>
          <p:cNvSpPr txBox="1"/>
          <p:nvPr/>
        </p:nvSpPr>
        <p:spPr>
          <a:xfrm>
            <a:off x="4864608" y="1389888"/>
            <a:ext cx="4572000" cy="384048"/>
          </a:xfrm>
          <a:prstGeom prst="rect">
            <a:avLst/>
          </a:prstGeom>
          <a:noFill/>
        </p:spPr>
        <p:txBody>
          <a:bodyPr wrap="square" lIns="0" rIns="0" tIns="0" bIns="0" anchor="ctr">
            <a:spAutoFit/>
          </a:bodyPr>
          <a:lstStyle/>
          <a:p>
            <a:pPr algn="l">
              <a:spcBef>
                <a:spcPts val="0"/>
              </a:spcBef>
              <a:spcAft>
                <a:spcPts val="0"/>
              </a:spcAft>
            </a:pPr>
            <a:r>
              <a:rPr sz="880" b="1" i="0">
                <a:solidFill>
                  <a:srgbClr val="5B6673"/>
                </a:solidFill>
                <a:latin typeface="Arial"/>
              </a:rPr>
              <a:t>WHAT THEY DO WELL, AND WHERE IT STOPS</a:t>
            </a:r>
          </a:p>
        </p:txBody>
      </p:sp>
      <p:sp>
        <p:nvSpPr>
          <p:cNvPr id="11" name="TextBox 10"/>
          <p:cNvSpPr txBox="1"/>
          <p:nvPr/>
        </p:nvSpPr>
        <p:spPr>
          <a:xfrm>
            <a:off x="9528048" y="1389888"/>
            <a:ext cx="2103120" cy="384048"/>
          </a:xfrm>
          <a:prstGeom prst="rect">
            <a:avLst/>
          </a:prstGeom>
          <a:noFill/>
        </p:spPr>
        <p:txBody>
          <a:bodyPr wrap="square" lIns="0" rIns="0" tIns="0" bIns="0" anchor="ctr">
            <a:spAutoFit/>
          </a:bodyPr>
          <a:lstStyle/>
          <a:p>
            <a:pPr algn="l">
              <a:spcBef>
                <a:spcPts val="0"/>
              </a:spcBef>
              <a:spcAft>
                <a:spcPts val="0"/>
              </a:spcAft>
            </a:pPr>
            <a:r>
              <a:rPr sz="880" b="1" i="0">
                <a:solidFill>
                  <a:srgbClr val="5B6673"/>
                </a:solidFill>
                <a:latin typeface="Arial"/>
              </a:rPr>
              <a:t>THE GAP</a:t>
            </a:r>
          </a:p>
        </p:txBody>
      </p:sp>
      <p:sp>
        <p:nvSpPr>
          <p:cNvPr id="12" name="Rounded Rectangle 11"/>
          <p:cNvSpPr/>
          <p:nvPr/>
        </p:nvSpPr>
        <p:spPr>
          <a:xfrm>
            <a:off x="566928" y="1773936"/>
            <a:ext cx="11057839" cy="658368"/>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1773936"/>
            <a:ext cx="2011680" cy="658368"/>
          </a:xfrm>
          <a:prstGeom prst="rect">
            <a:avLst/>
          </a:prstGeom>
          <a:noFill/>
        </p:spPr>
        <p:txBody>
          <a:bodyPr wrap="square" lIns="0" rIns="0" tIns="0" bIns="0" anchor="ctr">
            <a:spAutoFit/>
          </a:bodyPr>
          <a:lstStyle/>
          <a:p>
            <a:pPr algn="l">
              <a:spcBef>
                <a:spcPts val="0"/>
              </a:spcBef>
              <a:spcAft>
                <a:spcPts val="0"/>
              </a:spcAft>
            </a:pPr>
            <a:r>
              <a:rPr sz="1050" b="1" i="0">
                <a:solidFill>
                  <a:srgbClr val="1A2733"/>
                </a:solidFill>
                <a:latin typeface="Arial"/>
              </a:rPr>
              <a:t>Video platforms</a:t>
            </a:r>
          </a:p>
        </p:txBody>
      </p:sp>
      <p:sp>
        <p:nvSpPr>
          <p:cNvPr id="14" name="TextBox 13"/>
          <p:cNvSpPr txBox="1"/>
          <p:nvPr/>
        </p:nvSpPr>
        <p:spPr>
          <a:xfrm>
            <a:off x="2852928" y="1773936"/>
            <a:ext cx="1920240" cy="658368"/>
          </a:xfrm>
          <a:prstGeom prst="rect">
            <a:avLst/>
          </a:prstGeom>
          <a:noFill/>
        </p:spPr>
        <p:txBody>
          <a:bodyPr wrap="square" lIns="0" rIns="0" tIns="0" bIns="0" anchor="ctr">
            <a:spAutoFit/>
          </a:bodyPr>
          <a:lstStyle/>
          <a:p>
            <a:pPr algn="l">
              <a:spcBef>
                <a:spcPts val="0"/>
              </a:spcBef>
              <a:spcAft>
                <a:spcPts val="0"/>
              </a:spcAft>
            </a:pPr>
            <a:r>
              <a:rPr sz="950" b="0" i="0">
                <a:solidFill>
                  <a:srgbClr val="5B6673"/>
                </a:solidFill>
                <a:latin typeface="Arial"/>
              </a:rPr>
              <a:t>YouTube, Khan Academy</a:t>
            </a:r>
          </a:p>
        </p:txBody>
      </p:sp>
      <p:sp>
        <p:nvSpPr>
          <p:cNvPr id="15" name="TextBox 14"/>
          <p:cNvSpPr txBox="1"/>
          <p:nvPr/>
        </p:nvSpPr>
        <p:spPr>
          <a:xfrm>
            <a:off x="4864608" y="1847088"/>
            <a:ext cx="4572000" cy="512063"/>
          </a:xfrm>
          <a:prstGeom prst="rect">
            <a:avLst/>
          </a:prstGeom>
          <a:noFill/>
        </p:spPr>
        <p:txBody>
          <a:bodyPr wrap="square" lIns="0" rIns="0" tIns="0" bIns="0" anchor="ctr">
            <a:spAutoFit/>
          </a:bodyPr>
          <a:lstStyle/>
          <a:p>
            <a:pPr algn="l">
              <a:lnSpc>
                <a:spcPct val="122000"/>
              </a:lnSpc>
              <a:spcBef>
                <a:spcPts val="0"/>
              </a:spcBef>
              <a:spcAft>
                <a:spcPts val="0"/>
              </a:spcAft>
            </a:pPr>
            <a:r>
              <a:rPr sz="930" b="0" i="0">
                <a:solidFill>
                  <a:srgbClr val="3F4A57"/>
                </a:solidFill>
                <a:latin typeface="Arial"/>
              </a:rPr>
              <a:t>Excellent content, genuinely free. But it cannot know that this learner never got equivalent fractions, so it explains the wrong thing well.</a:t>
            </a:r>
          </a:p>
        </p:txBody>
      </p:sp>
      <p:sp>
        <p:nvSpPr>
          <p:cNvPr id="16" name="TextBox 15"/>
          <p:cNvSpPr txBox="1"/>
          <p:nvPr/>
        </p:nvSpPr>
        <p:spPr>
          <a:xfrm>
            <a:off x="9528048" y="1773936"/>
            <a:ext cx="2103120" cy="658368"/>
          </a:xfrm>
          <a:prstGeom prst="rect">
            <a:avLst/>
          </a:prstGeom>
          <a:noFill/>
        </p:spPr>
        <p:txBody>
          <a:bodyPr wrap="square" lIns="0" rIns="0" tIns="0" bIns="0" anchor="ctr">
            <a:spAutoFit/>
          </a:bodyPr>
          <a:lstStyle/>
          <a:p>
            <a:pPr algn="l">
              <a:lnSpc>
                <a:spcPct val="120000"/>
              </a:lnSpc>
              <a:spcBef>
                <a:spcPts val="0"/>
              </a:spcBef>
              <a:spcAft>
                <a:spcPts val="0"/>
              </a:spcAft>
            </a:pPr>
            <a:r>
              <a:rPr sz="930" b="1" i="0">
                <a:solidFill>
                  <a:srgbClr val="B45309"/>
                </a:solidFill>
                <a:latin typeface="Arial"/>
              </a:rPr>
              <a:t>No model of the individual learner</a:t>
            </a:r>
          </a:p>
        </p:txBody>
      </p:sp>
      <p:sp>
        <p:nvSpPr>
          <p:cNvPr id="17" name="Rounded Rectangle 16"/>
          <p:cNvSpPr/>
          <p:nvPr/>
        </p:nvSpPr>
        <p:spPr>
          <a:xfrm>
            <a:off x="566928" y="2432304"/>
            <a:ext cx="11057839" cy="6583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2432304"/>
            <a:ext cx="2011680" cy="658368"/>
          </a:xfrm>
          <a:prstGeom prst="rect">
            <a:avLst/>
          </a:prstGeom>
          <a:noFill/>
        </p:spPr>
        <p:txBody>
          <a:bodyPr wrap="square" lIns="0" rIns="0" tIns="0" bIns="0" anchor="ctr">
            <a:spAutoFit/>
          </a:bodyPr>
          <a:lstStyle/>
          <a:p>
            <a:pPr algn="l">
              <a:spcBef>
                <a:spcPts val="0"/>
              </a:spcBef>
              <a:spcAft>
                <a:spcPts val="0"/>
              </a:spcAft>
            </a:pPr>
            <a:r>
              <a:rPr sz="1050" b="1" i="0">
                <a:solidFill>
                  <a:srgbClr val="1A2733"/>
                </a:solidFill>
                <a:latin typeface="Arial"/>
              </a:rPr>
              <a:t>Generic AI assistants</a:t>
            </a:r>
          </a:p>
        </p:txBody>
      </p:sp>
      <p:sp>
        <p:nvSpPr>
          <p:cNvPr id="19" name="TextBox 18"/>
          <p:cNvSpPr txBox="1"/>
          <p:nvPr/>
        </p:nvSpPr>
        <p:spPr>
          <a:xfrm>
            <a:off x="2852928" y="2432304"/>
            <a:ext cx="1920240" cy="658368"/>
          </a:xfrm>
          <a:prstGeom prst="rect">
            <a:avLst/>
          </a:prstGeom>
          <a:noFill/>
        </p:spPr>
        <p:txBody>
          <a:bodyPr wrap="square" lIns="0" rIns="0" tIns="0" bIns="0" anchor="ctr">
            <a:spAutoFit/>
          </a:bodyPr>
          <a:lstStyle/>
          <a:p>
            <a:pPr algn="l">
              <a:spcBef>
                <a:spcPts val="0"/>
              </a:spcBef>
              <a:spcAft>
                <a:spcPts val="0"/>
              </a:spcAft>
            </a:pPr>
            <a:r>
              <a:rPr sz="950" b="0" i="0">
                <a:solidFill>
                  <a:srgbClr val="5B6673"/>
                </a:solidFill>
                <a:latin typeface="Arial"/>
              </a:rPr>
              <a:t>ChatGPT, Gemini</a:t>
            </a:r>
          </a:p>
        </p:txBody>
      </p:sp>
      <p:sp>
        <p:nvSpPr>
          <p:cNvPr id="20" name="TextBox 19"/>
          <p:cNvSpPr txBox="1"/>
          <p:nvPr/>
        </p:nvSpPr>
        <p:spPr>
          <a:xfrm>
            <a:off x="4864608" y="2505456"/>
            <a:ext cx="4572000" cy="512063"/>
          </a:xfrm>
          <a:prstGeom prst="rect">
            <a:avLst/>
          </a:prstGeom>
          <a:noFill/>
        </p:spPr>
        <p:txBody>
          <a:bodyPr wrap="square" lIns="0" rIns="0" tIns="0" bIns="0" anchor="ctr">
            <a:spAutoFit/>
          </a:bodyPr>
          <a:lstStyle/>
          <a:p>
            <a:pPr algn="l">
              <a:lnSpc>
                <a:spcPct val="122000"/>
              </a:lnSpc>
              <a:spcBef>
                <a:spcPts val="0"/>
              </a:spcBef>
              <a:spcAft>
                <a:spcPts val="0"/>
              </a:spcAft>
            </a:pPr>
            <a:r>
              <a:rPr sz="930" b="0" i="0">
                <a:solidFill>
                  <a:srgbClr val="3F4A57"/>
                </a:solidFill>
                <a:latin typeface="Arial"/>
              </a:rPr>
              <a:t>Strong at maths, and increasingly free. They do not know the learner's chapter, history or gaps — and they hand over the answer on request.</a:t>
            </a:r>
          </a:p>
        </p:txBody>
      </p:sp>
      <p:sp>
        <p:nvSpPr>
          <p:cNvPr id="21" name="TextBox 20"/>
          <p:cNvSpPr txBox="1"/>
          <p:nvPr/>
        </p:nvSpPr>
        <p:spPr>
          <a:xfrm>
            <a:off x="9528048" y="2432304"/>
            <a:ext cx="2103120" cy="658368"/>
          </a:xfrm>
          <a:prstGeom prst="rect">
            <a:avLst/>
          </a:prstGeom>
          <a:noFill/>
        </p:spPr>
        <p:txBody>
          <a:bodyPr wrap="square" lIns="0" rIns="0" tIns="0" bIns="0" anchor="ctr">
            <a:spAutoFit/>
          </a:bodyPr>
          <a:lstStyle/>
          <a:p>
            <a:pPr algn="l">
              <a:lnSpc>
                <a:spcPct val="120000"/>
              </a:lnSpc>
              <a:spcBef>
                <a:spcPts val="0"/>
              </a:spcBef>
              <a:spcAft>
                <a:spcPts val="0"/>
              </a:spcAft>
            </a:pPr>
            <a:r>
              <a:rPr sz="930" b="1" i="0">
                <a:solidFill>
                  <a:srgbClr val="B45309"/>
                </a:solidFill>
                <a:latin typeface="Arial"/>
              </a:rPr>
              <a:t>No curriculum, no memory, answers first</a:t>
            </a:r>
          </a:p>
        </p:txBody>
      </p:sp>
      <p:sp>
        <p:nvSpPr>
          <p:cNvPr id="22" name="Rounded Rectangle 21"/>
          <p:cNvSpPr/>
          <p:nvPr/>
        </p:nvSpPr>
        <p:spPr>
          <a:xfrm>
            <a:off x="566928" y="3090672"/>
            <a:ext cx="11057839" cy="658368"/>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090672"/>
            <a:ext cx="2011680" cy="658368"/>
          </a:xfrm>
          <a:prstGeom prst="rect">
            <a:avLst/>
          </a:prstGeom>
          <a:noFill/>
        </p:spPr>
        <p:txBody>
          <a:bodyPr wrap="square" lIns="0" rIns="0" tIns="0" bIns="0" anchor="ctr">
            <a:spAutoFit/>
          </a:bodyPr>
          <a:lstStyle/>
          <a:p>
            <a:pPr algn="l">
              <a:spcBef>
                <a:spcPts val="0"/>
              </a:spcBef>
              <a:spcAft>
                <a:spcPts val="0"/>
              </a:spcAft>
            </a:pPr>
            <a:r>
              <a:rPr sz="1050" b="1" i="0">
                <a:solidFill>
                  <a:srgbClr val="1A2733"/>
                </a:solidFill>
                <a:latin typeface="Arial"/>
              </a:rPr>
              <a:t>Answer-scanning apps</a:t>
            </a:r>
          </a:p>
        </p:txBody>
      </p:sp>
      <p:sp>
        <p:nvSpPr>
          <p:cNvPr id="24" name="TextBox 23"/>
          <p:cNvSpPr txBox="1"/>
          <p:nvPr/>
        </p:nvSpPr>
        <p:spPr>
          <a:xfrm>
            <a:off x="2852928" y="3090672"/>
            <a:ext cx="1920240" cy="658368"/>
          </a:xfrm>
          <a:prstGeom prst="rect">
            <a:avLst/>
          </a:prstGeom>
          <a:noFill/>
        </p:spPr>
        <p:txBody>
          <a:bodyPr wrap="square" lIns="0" rIns="0" tIns="0" bIns="0" anchor="ctr">
            <a:spAutoFit/>
          </a:bodyPr>
          <a:lstStyle/>
          <a:p>
            <a:pPr algn="l">
              <a:spcBef>
                <a:spcPts val="0"/>
              </a:spcBef>
              <a:spcAft>
                <a:spcPts val="0"/>
              </a:spcAft>
            </a:pPr>
            <a:r>
              <a:rPr sz="950" b="0" i="0">
                <a:solidFill>
                  <a:srgbClr val="5B6673"/>
                </a:solidFill>
                <a:latin typeface="Arial"/>
              </a:rPr>
              <a:t>Photomath, Doubtnut</a:t>
            </a:r>
          </a:p>
        </p:txBody>
      </p:sp>
      <p:sp>
        <p:nvSpPr>
          <p:cNvPr id="25" name="TextBox 24"/>
          <p:cNvSpPr txBox="1"/>
          <p:nvPr/>
        </p:nvSpPr>
        <p:spPr>
          <a:xfrm>
            <a:off x="4864608" y="3163824"/>
            <a:ext cx="4572000" cy="512063"/>
          </a:xfrm>
          <a:prstGeom prst="rect">
            <a:avLst/>
          </a:prstGeom>
          <a:noFill/>
        </p:spPr>
        <p:txBody>
          <a:bodyPr wrap="square" lIns="0" rIns="0" tIns="0" bIns="0" anchor="ctr">
            <a:spAutoFit/>
          </a:bodyPr>
          <a:lstStyle/>
          <a:p>
            <a:pPr algn="l">
              <a:lnSpc>
                <a:spcPct val="122000"/>
              </a:lnSpc>
              <a:spcBef>
                <a:spcPts val="0"/>
              </a:spcBef>
              <a:spcAft>
                <a:spcPts val="0"/>
              </a:spcAft>
            </a:pPr>
            <a:r>
              <a:rPr sz="930" b="0" i="0">
                <a:solidFill>
                  <a:srgbClr val="3F4A57"/>
                </a:solidFill>
                <a:latin typeface="Arial"/>
              </a:rPr>
              <a:t>Photograph the question, receive the solution. Fast, and it removes the productive struggle that learning actually consists of.</a:t>
            </a:r>
          </a:p>
        </p:txBody>
      </p:sp>
      <p:sp>
        <p:nvSpPr>
          <p:cNvPr id="26" name="TextBox 25"/>
          <p:cNvSpPr txBox="1"/>
          <p:nvPr/>
        </p:nvSpPr>
        <p:spPr>
          <a:xfrm>
            <a:off x="9528048" y="3090672"/>
            <a:ext cx="2103120" cy="658368"/>
          </a:xfrm>
          <a:prstGeom prst="rect">
            <a:avLst/>
          </a:prstGeom>
          <a:noFill/>
        </p:spPr>
        <p:txBody>
          <a:bodyPr wrap="square" lIns="0" rIns="0" tIns="0" bIns="0" anchor="ctr">
            <a:spAutoFit/>
          </a:bodyPr>
          <a:lstStyle/>
          <a:p>
            <a:pPr algn="l">
              <a:lnSpc>
                <a:spcPct val="120000"/>
              </a:lnSpc>
              <a:spcBef>
                <a:spcPts val="0"/>
              </a:spcBef>
              <a:spcAft>
                <a:spcPts val="0"/>
              </a:spcAft>
            </a:pPr>
            <a:r>
              <a:rPr sz="930" b="1" i="0">
                <a:solidFill>
                  <a:srgbClr val="B45309"/>
                </a:solidFill>
                <a:latin typeface="Arial"/>
              </a:rPr>
              <a:t>Solves the homework, not the learner</a:t>
            </a:r>
          </a:p>
        </p:txBody>
      </p:sp>
      <p:sp>
        <p:nvSpPr>
          <p:cNvPr id="27" name="Rounded Rectangle 26"/>
          <p:cNvSpPr/>
          <p:nvPr/>
        </p:nvSpPr>
        <p:spPr>
          <a:xfrm>
            <a:off x="566928" y="3749039"/>
            <a:ext cx="11057839" cy="6583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3749039"/>
            <a:ext cx="2011680" cy="658368"/>
          </a:xfrm>
          <a:prstGeom prst="rect">
            <a:avLst/>
          </a:prstGeom>
          <a:noFill/>
        </p:spPr>
        <p:txBody>
          <a:bodyPr wrap="square" lIns="0" rIns="0" tIns="0" bIns="0" anchor="ctr">
            <a:spAutoFit/>
          </a:bodyPr>
          <a:lstStyle/>
          <a:p>
            <a:pPr algn="l">
              <a:spcBef>
                <a:spcPts val="0"/>
              </a:spcBef>
              <a:spcAft>
                <a:spcPts val="0"/>
              </a:spcAft>
            </a:pPr>
            <a:r>
              <a:rPr sz="1050" b="1" i="0">
                <a:solidFill>
                  <a:srgbClr val="1A2733"/>
                </a:solidFill>
                <a:latin typeface="Arial"/>
              </a:rPr>
              <a:t>Premium edtech</a:t>
            </a:r>
          </a:p>
        </p:txBody>
      </p:sp>
      <p:sp>
        <p:nvSpPr>
          <p:cNvPr id="29" name="TextBox 28"/>
          <p:cNvSpPr txBox="1"/>
          <p:nvPr/>
        </p:nvSpPr>
        <p:spPr>
          <a:xfrm>
            <a:off x="2852928" y="3749039"/>
            <a:ext cx="1920240" cy="658368"/>
          </a:xfrm>
          <a:prstGeom prst="rect">
            <a:avLst/>
          </a:prstGeom>
          <a:noFill/>
        </p:spPr>
        <p:txBody>
          <a:bodyPr wrap="square" lIns="0" rIns="0" tIns="0" bIns="0" anchor="ctr">
            <a:spAutoFit/>
          </a:bodyPr>
          <a:lstStyle/>
          <a:p>
            <a:pPr algn="l">
              <a:spcBef>
                <a:spcPts val="0"/>
              </a:spcBef>
              <a:spcAft>
                <a:spcPts val="0"/>
              </a:spcAft>
            </a:pPr>
            <a:r>
              <a:rPr sz="950" b="0" i="0">
                <a:solidFill>
                  <a:srgbClr val="5B6673"/>
                </a:solidFill>
                <a:latin typeface="Arial"/>
              </a:rPr>
              <a:t>BYJU'S, Unacademy, Physics Wallah</a:t>
            </a:r>
          </a:p>
        </p:txBody>
      </p:sp>
      <p:sp>
        <p:nvSpPr>
          <p:cNvPr id="30" name="TextBox 29"/>
          <p:cNvSpPr txBox="1"/>
          <p:nvPr/>
        </p:nvSpPr>
        <p:spPr>
          <a:xfrm>
            <a:off x="4864608" y="3822191"/>
            <a:ext cx="4572000" cy="512063"/>
          </a:xfrm>
          <a:prstGeom prst="rect">
            <a:avLst/>
          </a:prstGeom>
          <a:noFill/>
        </p:spPr>
        <p:txBody>
          <a:bodyPr wrap="square" lIns="0" rIns="0" tIns="0" bIns="0" anchor="ctr">
            <a:spAutoFit/>
          </a:bodyPr>
          <a:lstStyle/>
          <a:p>
            <a:pPr algn="l">
              <a:lnSpc>
                <a:spcPct val="122000"/>
              </a:lnSpc>
              <a:spcBef>
                <a:spcPts val="0"/>
              </a:spcBef>
              <a:spcAft>
                <a:spcPts val="0"/>
              </a:spcAft>
            </a:pPr>
            <a:r>
              <a:rPr sz="930" b="0" i="0">
                <a:solidFill>
                  <a:srgbClr val="3F4A57"/>
                </a:solidFill>
                <a:latin typeface="Arial"/>
              </a:rPr>
              <a:t>Real personalisation and real teaching, sold at a price point and through a sales motion built for families who can already afford tuition.</a:t>
            </a:r>
          </a:p>
        </p:txBody>
      </p:sp>
      <p:sp>
        <p:nvSpPr>
          <p:cNvPr id="31" name="TextBox 30"/>
          <p:cNvSpPr txBox="1"/>
          <p:nvPr/>
        </p:nvSpPr>
        <p:spPr>
          <a:xfrm>
            <a:off x="9528048" y="3749039"/>
            <a:ext cx="2103120" cy="658368"/>
          </a:xfrm>
          <a:prstGeom prst="rect">
            <a:avLst/>
          </a:prstGeom>
          <a:noFill/>
        </p:spPr>
        <p:txBody>
          <a:bodyPr wrap="square" lIns="0" rIns="0" tIns="0" bIns="0" anchor="ctr">
            <a:spAutoFit/>
          </a:bodyPr>
          <a:lstStyle/>
          <a:p>
            <a:pPr algn="l">
              <a:lnSpc>
                <a:spcPct val="120000"/>
              </a:lnSpc>
              <a:spcBef>
                <a:spcPts val="0"/>
              </a:spcBef>
              <a:spcAft>
                <a:spcPts val="0"/>
              </a:spcAft>
            </a:pPr>
            <a:r>
              <a:rPr sz="930" b="1" i="0">
                <a:solidFill>
                  <a:srgbClr val="B45309"/>
                </a:solidFill>
                <a:latin typeface="Arial"/>
              </a:rPr>
              <a:t>Priced for families who can pay</a:t>
            </a:r>
          </a:p>
        </p:txBody>
      </p:sp>
      <p:sp>
        <p:nvSpPr>
          <p:cNvPr id="32" name="Rounded Rectangle 31"/>
          <p:cNvSpPr/>
          <p:nvPr/>
        </p:nvSpPr>
        <p:spPr>
          <a:xfrm>
            <a:off x="566928" y="4407407"/>
            <a:ext cx="11057839" cy="658368"/>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4407407"/>
            <a:ext cx="2011680" cy="658368"/>
          </a:xfrm>
          <a:prstGeom prst="rect">
            <a:avLst/>
          </a:prstGeom>
          <a:noFill/>
        </p:spPr>
        <p:txBody>
          <a:bodyPr wrap="square" lIns="0" rIns="0" tIns="0" bIns="0" anchor="ctr">
            <a:spAutoFit/>
          </a:bodyPr>
          <a:lstStyle/>
          <a:p>
            <a:pPr algn="l">
              <a:spcBef>
                <a:spcPts val="0"/>
              </a:spcBef>
              <a:spcAft>
                <a:spcPts val="0"/>
              </a:spcAft>
            </a:pPr>
            <a:r>
              <a:rPr sz="1050" b="1" i="0">
                <a:solidFill>
                  <a:srgbClr val="1A2733"/>
                </a:solidFill>
                <a:latin typeface="Arial"/>
              </a:rPr>
              <a:t>Government platforms</a:t>
            </a:r>
          </a:p>
        </p:txBody>
      </p:sp>
      <p:sp>
        <p:nvSpPr>
          <p:cNvPr id="34" name="TextBox 33"/>
          <p:cNvSpPr txBox="1"/>
          <p:nvPr/>
        </p:nvSpPr>
        <p:spPr>
          <a:xfrm>
            <a:off x="2852928" y="4407407"/>
            <a:ext cx="1920240" cy="658368"/>
          </a:xfrm>
          <a:prstGeom prst="rect">
            <a:avLst/>
          </a:prstGeom>
          <a:noFill/>
        </p:spPr>
        <p:txBody>
          <a:bodyPr wrap="square" lIns="0" rIns="0" tIns="0" bIns="0" anchor="ctr">
            <a:spAutoFit/>
          </a:bodyPr>
          <a:lstStyle/>
          <a:p>
            <a:pPr algn="l">
              <a:spcBef>
                <a:spcPts val="0"/>
              </a:spcBef>
              <a:spcAft>
                <a:spcPts val="0"/>
              </a:spcAft>
            </a:pPr>
            <a:r>
              <a:rPr sz="950" b="0" i="0">
                <a:solidFill>
                  <a:srgbClr val="5B6673"/>
                </a:solidFill>
                <a:latin typeface="Arial"/>
              </a:rPr>
              <a:t>DIKSHA, e-Pathshala</a:t>
            </a:r>
          </a:p>
        </p:txBody>
      </p:sp>
      <p:sp>
        <p:nvSpPr>
          <p:cNvPr id="35" name="TextBox 34"/>
          <p:cNvSpPr txBox="1"/>
          <p:nvPr/>
        </p:nvSpPr>
        <p:spPr>
          <a:xfrm>
            <a:off x="4864608" y="4480559"/>
            <a:ext cx="4572000" cy="512063"/>
          </a:xfrm>
          <a:prstGeom prst="rect">
            <a:avLst/>
          </a:prstGeom>
          <a:noFill/>
        </p:spPr>
        <p:txBody>
          <a:bodyPr wrap="square" lIns="0" rIns="0" tIns="0" bIns="0" anchor="ctr">
            <a:spAutoFit/>
          </a:bodyPr>
          <a:lstStyle/>
          <a:p>
            <a:pPr algn="l">
              <a:lnSpc>
                <a:spcPct val="122000"/>
              </a:lnSpc>
              <a:spcBef>
                <a:spcPts val="0"/>
              </a:spcBef>
              <a:spcAft>
                <a:spcPts val="0"/>
              </a:spcAft>
            </a:pPr>
            <a:r>
              <a:rPr sz="930" b="0" i="0">
                <a:solidFill>
                  <a:srgbClr val="3F4A57"/>
                </a:solidFill>
                <a:latin typeface="Arial"/>
              </a:rPr>
              <a:t>NCERT-aligned, free, at national scale. Built as content repositories — no adaptive tutor, no mastery model, no habit loop.</a:t>
            </a:r>
          </a:p>
        </p:txBody>
      </p:sp>
      <p:sp>
        <p:nvSpPr>
          <p:cNvPr id="36" name="TextBox 35"/>
          <p:cNvSpPr txBox="1"/>
          <p:nvPr/>
        </p:nvSpPr>
        <p:spPr>
          <a:xfrm>
            <a:off x="9528048" y="4407407"/>
            <a:ext cx="2103120" cy="658368"/>
          </a:xfrm>
          <a:prstGeom prst="rect">
            <a:avLst/>
          </a:prstGeom>
          <a:noFill/>
        </p:spPr>
        <p:txBody>
          <a:bodyPr wrap="square" lIns="0" rIns="0" tIns="0" bIns="0" anchor="ctr">
            <a:spAutoFit/>
          </a:bodyPr>
          <a:lstStyle/>
          <a:p>
            <a:pPr algn="l">
              <a:lnSpc>
                <a:spcPct val="120000"/>
              </a:lnSpc>
              <a:spcBef>
                <a:spcPts val="0"/>
              </a:spcBef>
              <a:spcAft>
                <a:spcPts val="0"/>
              </a:spcAft>
            </a:pPr>
            <a:r>
              <a:rPr sz="930" b="1" i="0">
                <a:solidFill>
                  <a:srgbClr val="B45309"/>
                </a:solidFill>
                <a:latin typeface="Arial"/>
              </a:rPr>
              <a:t>Content, not a companion</a:t>
            </a:r>
          </a:p>
        </p:txBody>
      </p:sp>
      <p:sp>
        <p:nvSpPr>
          <p:cNvPr id="37" name="Rounded Rectangle 36"/>
          <p:cNvSpPr/>
          <p:nvPr/>
        </p:nvSpPr>
        <p:spPr>
          <a:xfrm>
            <a:off x="566928" y="5248655"/>
            <a:ext cx="11057839" cy="914400"/>
          </a:xfrm>
          <a:prstGeom prst="roundRect">
            <a:avLst>
              <a:gd name="adj" fmla="val 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376671"/>
            <a:ext cx="10472623" cy="694944"/>
          </a:xfrm>
          <a:prstGeom prst="rect">
            <a:avLst/>
          </a:prstGeom>
          <a:noFill/>
        </p:spPr>
        <p:txBody>
          <a:bodyPr wrap="square" lIns="0" rIns="0" tIns="0" bIns="0" anchor="t">
            <a:spAutoFit/>
          </a:bodyPr>
          <a:lstStyle/>
          <a:p>
            <a:pPr algn="l">
              <a:spcBef>
                <a:spcPts val="0"/>
              </a:spcBef>
              <a:spcAft>
                <a:spcPts val="500"/>
              </a:spcAft>
            </a:pPr>
            <a:r>
              <a:rPr sz="1250" b="1" i="0">
                <a:solidFill>
                  <a:srgbClr val="FFFFFF"/>
                </a:solidFill>
                <a:latin typeface="Arial"/>
              </a:rPr>
              <a:t>Saathi's position:  curriculum-aware, mastery-driven, hints before answers, Hindi from day one, free at the core.</a:t>
            </a:r>
          </a:p>
          <a:p>
            <a:pPr algn="l">
              <a:lnSpc>
                <a:spcPct val="128000"/>
              </a:lnSpc>
              <a:spcBef>
                <a:spcPts val="0"/>
              </a:spcBef>
              <a:spcAft>
                <a:spcPts val="0"/>
              </a:spcAft>
            </a:pPr>
            <a:r>
              <a:rPr sz="1000" b="0" i="0">
                <a:solidFill>
                  <a:srgbClr val="CCFBF1"/>
                </a:solidFill>
                <a:latin typeface="Arial"/>
              </a:rPr>
              <a:t>The defensible piece is not the model — anyone can call the same API. It is the learner state that grounds every call: which concept is weak, what was answered wrong last week, which lesson is open right now. That compounds with use and does not transfer.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12 · PRICING</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Learners never pay for the core. Institutions pay for reach.</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The MVP is free, deliberately — a pricing experiment now would contaminate the activation and retention numbers that decide whether the product works at all. Free is a stage, not a missing model.</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12</a:t>
            </a:r>
          </a:p>
        </p:txBody>
      </p:sp>
      <p:sp>
        <p:nvSpPr>
          <p:cNvPr id="8" name="Rounded Rectangle 7"/>
          <p:cNvSpPr/>
          <p:nvPr/>
        </p:nvSpPr>
        <p:spPr>
          <a:xfrm>
            <a:off x="566928" y="1883664"/>
            <a:ext cx="2627299" cy="197510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83664"/>
            <a:ext cx="2627299" cy="822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21408"/>
            <a:ext cx="2188387" cy="1737360"/>
          </a:xfrm>
          <a:prstGeom prst="rect">
            <a:avLst/>
          </a:prstGeom>
          <a:noFill/>
        </p:spPr>
        <p:txBody>
          <a:bodyPr wrap="square" lIns="0" rIns="0" tIns="0" bIns="0" anchor="t">
            <a:spAutoFit/>
          </a:bodyPr>
          <a:lstStyle/>
          <a:p>
            <a:pPr algn="l">
              <a:spcBef>
                <a:spcPts val="0"/>
              </a:spcBef>
              <a:spcAft>
                <a:spcPts val="500"/>
              </a:spcAft>
            </a:pPr>
            <a:r>
              <a:rPr sz="800" b="1" i="0">
                <a:solidFill>
                  <a:srgbClr val="0F766E"/>
                </a:solidFill>
                <a:latin typeface="Arial"/>
              </a:rPr>
              <a:t>THE MISSION TIER</a:t>
            </a:r>
          </a:p>
          <a:p>
            <a:pPr algn="l">
              <a:spcBef>
                <a:spcPts val="0"/>
              </a:spcBef>
              <a:spcAft>
                <a:spcPts val="400"/>
              </a:spcAft>
            </a:pPr>
            <a:r>
              <a:rPr sz="1300" b="1" i="0">
                <a:solidFill>
                  <a:srgbClr val="1A2733"/>
                </a:solidFill>
                <a:latin typeface="Arial"/>
              </a:rPr>
              <a:t>Saathi Free</a:t>
            </a:r>
          </a:p>
          <a:p>
            <a:pPr algn="l">
              <a:spcBef>
                <a:spcPts val="0"/>
              </a:spcBef>
              <a:spcAft>
                <a:spcPts val="800"/>
              </a:spcAft>
            </a:pPr>
            <a:r>
              <a:rPr sz="1400" b="1" i="0">
                <a:solidFill>
                  <a:srgbClr val="0F766E"/>
                </a:solidFill>
                <a:latin typeface="Arial"/>
              </a:rPr>
              <a:t>₹0</a:t>
            </a:r>
          </a:p>
          <a:p>
            <a:pPr algn="l">
              <a:lnSpc>
                <a:spcPct val="128000"/>
              </a:lnSpc>
              <a:spcBef>
                <a:spcPts val="0"/>
              </a:spcBef>
              <a:spcAft>
                <a:spcPts val="0"/>
              </a:spcAft>
            </a:pPr>
            <a:r>
              <a:rPr sz="940" b="0" i="0">
                <a:solidFill>
                  <a:srgbClr val="3F4A57"/>
                </a:solidFill>
                <a:latin typeface="Arial"/>
              </a:rPr>
              <a:t>Full curriculum, micro-lessons, practice, quizzes, progress, streaks, milestones and parent summaries. AI Tutor capped at 10 questions/day.</a:t>
            </a:r>
          </a:p>
        </p:txBody>
      </p:sp>
      <p:sp>
        <p:nvSpPr>
          <p:cNvPr id="11" name="Rounded Rectangle 10"/>
          <p:cNvSpPr/>
          <p:nvPr/>
        </p:nvSpPr>
        <p:spPr>
          <a:xfrm>
            <a:off x="3377107" y="1883664"/>
            <a:ext cx="2627299" cy="197510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77107" y="1883664"/>
            <a:ext cx="2627299" cy="8229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6563" y="2121408"/>
            <a:ext cx="2188387" cy="1737360"/>
          </a:xfrm>
          <a:prstGeom prst="rect">
            <a:avLst/>
          </a:prstGeom>
          <a:noFill/>
        </p:spPr>
        <p:txBody>
          <a:bodyPr wrap="square" lIns="0" rIns="0" tIns="0" bIns="0" anchor="t">
            <a:spAutoFit/>
          </a:bodyPr>
          <a:lstStyle/>
          <a:p>
            <a:pPr algn="l">
              <a:spcBef>
                <a:spcPts val="0"/>
              </a:spcBef>
              <a:spcAft>
                <a:spcPts val="500"/>
              </a:spcAft>
            </a:pPr>
            <a:r>
              <a:rPr sz="800" b="1" i="0">
                <a:solidFill>
                  <a:srgbClr val="0369A1"/>
                </a:solidFill>
                <a:latin typeface="Arial"/>
              </a:rPr>
              <a:t>FAMILIES PAY FOR DEPTH</a:t>
            </a:r>
          </a:p>
          <a:p>
            <a:pPr algn="l">
              <a:spcBef>
                <a:spcPts val="0"/>
              </a:spcBef>
              <a:spcAft>
                <a:spcPts val="400"/>
              </a:spcAft>
            </a:pPr>
            <a:r>
              <a:rPr sz="1300" b="1" i="0">
                <a:solidFill>
                  <a:srgbClr val="1A2733"/>
                </a:solidFill>
                <a:latin typeface="Arial"/>
              </a:rPr>
              <a:t>Saathi Plus</a:t>
            </a:r>
          </a:p>
          <a:p>
            <a:pPr algn="l">
              <a:spcBef>
                <a:spcPts val="0"/>
              </a:spcBef>
              <a:spcAft>
                <a:spcPts val="800"/>
              </a:spcAft>
            </a:pPr>
            <a:r>
              <a:rPr sz="1400" b="1" i="0">
                <a:solidFill>
                  <a:srgbClr val="0369A1"/>
                </a:solidFill>
                <a:latin typeface="Arial"/>
              </a:rPr>
              <a:t>₹99/mo  ·  ₹799/yr</a:t>
            </a:r>
          </a:p>
          <a:p>
            <a:pPr algn="l">
              <a:lnSpc>
                <a:spcPct val="128000"/>
              </a:lnSpc>
              <a:spcBef>
                <a:spcPts val="0"/>
              </a:spcBef>
              <a:spcAft>
                <a:spcPts val="0"/>
              </a:spcAft>
            </a:pPr>
            <a:r>
              <a:rPr sz="940" b="0" i="0">
                <a:solidFill>
                  <a:srgbClr val="3F4A57"/>
                </a:solidFill>
                <a:latin typeface="Arial"/>
              </a:rPr>
              <a:t>Unlimited AI Tutor, deeper adaptive practice, revision plans, detailed parent insights.</a:t>
            </a:r>
          </a:p>
        </p:txBody>
      </p:sp>
      <p:sp>
        <p:nvSpPr>
          <p:cNvPr id="14" name="Rounded Rectangle 13"/>
          <p:cNvSpPr/>
          <p:nvPr/>
        </p:nvSpPr>
        <p:spPr>
          <a:xfrm>
            <a:off x="6187287" y="1883664"/>
            <a:ext cx="2627299" cy="197510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7287" y="1883664"/>
            <a:ext cx="2627299" cy="822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6743" y="2121408"/>
            <a:ext cx="2188387" cy="1737360"/>
          </a:xfrm>
          <a:prstGeom prst="rect">
            <a:avLst/>
          </a:prstGeom>
          <a:noFill/>
        </p:spPr>
        <p:txBody>
          <a:bodyPr wrap="square" lIns="0" rIns="0" tIns="0" bIns="0" anchor="t">
            <a:spAutoFit/>
          </a:bodyPr>
          <a:lstStyle/>
          <a:p>
            <a:pPr algn="l">
              <a:spcBef>
                <a:spcPts val="0"/>
              </a:spcBef>
              <a:spcAft>
                <a:spcPts val="500"/>
              </a:spcAft>
            </a:pPr>
            <a:r>
              <a:rPr sz="800" b="1" i="0">
                <a:solidFill>
                  <a:srgbClr val="B45309"/>
                </a:solidFill>
                <a:latin typeface="Arial"/>
              </a:rPr>
              <a:t>SUPPLY-GATED</a:t>
            </a:r>
          </a:p>
          <a:p>
            <a:pPr algn="l">
              <a:spcBef>
                <a:spcPts val="0"/>
              </a:spcBef>
              <a:spcAft>
                <a:spcPts val="400"/>
              </a:spcAft>
            </a:pPr>
            <a:r>
              <a:rPr sz="1300" b="1" i="0">
                <a:solidFill>
                  <a:srgbClr val="1A2733"/>
                </a:solidFill>
                <a:latin typeface="Arial"/>
              </a:rPr>
              <a:t>Saathi Mentor</a:t>
            </a:r>
          </a:p>
          <a:p>
            <a:pPr algn="l">
              <a:spcBef>
                <a:spcPts val="0"/>
              </a:spcBef>
              <a:spcAft>
                <a:spcPts val="800"/>
              </a:spcAft>
            </a:pPr>
            <a:r>
              <a:rPr sz="1400" b="1" i="0">
                <a:solidFill>
                  <a:srgbClr val="B45309"/>
                </a:solidFill>
                <a:latin typeface="Arial"/>
              </a:rPr>
              <a:t>+₹299/mo</a:t>
            </a:r>
          </a:p>
          <a:p>
            <a:pPr algn="l">
              <a:lnSpc>
                <a:spcPct val="128000"/>
              </a:lnSpc>
              <a:spcBef>
                <a:spcPts val="0"/>
              </a:spcBef>
              <a:spcAft>
                <a:spcPts val="0"/>
              </a:spcAft>
            </a:pPr>
            <a:r>
              <a:rPr sz="940" b="0" i="0">
                <a:solidFill>
                  <a:srgbClr val="3F4A57"/>
                </a:solidFill>
                <a:latin typeface="Arial"/>
              </a:rPr>
              <a:t>Adds two human mentor sessions a month. Gated on verified mentor supply — never sold ahead of capacity.</a:t>
            </a:r>
          </a:p>
        </p:txBody>
      </p:sp>
      <p:sp>
        <p:nvSpPr>
          <p:cNvPr id="17" name="Rounded Rectangle 16"/>
          <p:cNvSpPr/>
          <p:nvPr/>
        </p:nvSpPr>
        <p:spPr>
          <a:xfrm>
            <a:off x="8997467" y="1883664"/>
            <a:ext cx="2627299" cy="197510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97467" y="1883664"/>
            <a:ext cx="2627299" cy="82296"/>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16923" y="2121408"/>
            <a:ext cx="2188387" cy="1737360"/>
          </a:xfrm>
          <a:prstGeom prst="rect">
            <a:avLst/>
          </a:prstGeom>
          <a:noFill/>
        </p:spPr>
        <p:txBody>
          <a:bodyPr wrap="square" lIns="0" rIns="0" tIns="0" bIns="0" anchor="t">
            <a:spAutoFit/>
          </a:bodyPr>
          <a:lstStyle/>
          <a:p>
            <a:pPr algn="l">
              <a:spcBef>
                <a:spcPts val="0"/>
              </a:spcBef>
              <a:spcAft>
                <a:spcPts val="500"/>
              </a:spcAft>
            </a:pPr>
            <a:r>
              <a:rPr sz="800" b="1" i="0">
                <a:solidFill>
                  <a:srgbClr val="15803D"/>
                </a:solidFill>
                <a:latin typeface="Arial"/>
              </a:rPr>
              <a:t>THE REVENUE ENGINE</a:t>
            </a:r>
          </a:p>
          <a:p>
            <a:pPr algn="l">
              <a:spcBef>
                <a:spcPts val="0"/>
              </a:spcBef>
              <a:spcAft>
                <a:spcPts val="400"/>
              </a:spcAft>
            </a:pPr>
            <a:r>
              <a:rPr sz="1300" b="1" i="0">
                <a:solidFill>
                  <a:srgbClr val="1A2733"/>
                </a:solidFill>
                <a:latin typeface="Arial"/>
              </a:rPr>
              <a:t>Saathi for Institutions</a:t>
            </a:r>
          </a:p>
          <a:p>
            <a:pPr algn="l">
              <a:spcBef>
                <a:spcPts val="0"/>
              </a:spcBef>
              <a:spcAft>
                <a:spcPts val="800"/>
              </a:spcAft>
            </a:pPr>
            <a:r>
              <a:rPr sz="1400" b="1" i="0">
                <a:solidFill>
                  <a:srgbClr val="15803D"/>
                </a:solidFill>
                <a:latin typeface="Arial"/>
              </a:rPr>
              <a:t>₹450–600 / learner / yr</a:t>
            </a:r>
          </a:p>
          <a:p>
            <a:pPr algn="l">
              <a:lnSpc>
                <a:spcPct val="128000"/>
              </a:lnSpc>
              <a:spcBef>
                <a:spcPts val="0"/>
              </a:spcBef>
              <a:spcAft>
                <a:spcPts val="0"/>
              </a:spcAft>
            </a:pPr>
            <a:r>
              <a:rPr sz="940" b="0" i="0">
                <a:solidFill>
                  <a:srgbClr val="3F4A57"/>
                </a:solidFill>
                <a:latin typeface="Arial"/>
              </a:rPr>
              <a:t>NGO, CSR and government licences. Cohort dashboards, reporting, bulk onboarding.</a:t>
            </a:r>
          </a:p>
        </p:txBody>
      </p:sp>
      <p:sp>
        <p:nvSpPr>
          <p:cNvPr id="20" name="Rounded Rectangle 19"/>
          <p:cNvSpPr/>
          <p:nvPr/>
        </p:nvSpPr>
        <p:spPr>
          <a:xfrm>
            <a:off x="566928" y="4041648"/>
            <a:ext cx="3564026" cy="1280160"/>
          </a:xfrm>
          <a:prstGeom prst="roundRect">
            <a:avLst>
              <a:gd name="adj" fmla="val 6000"/>
            </a:avLst>
          </a:prstGeom>
          <a:solidFill>
            <a:srgbClr val="FEF3C7"/>
          </a:solidFill>
          <a:ln w="12700">
            <a:solidFill>
              <a:srgbClr val="F5D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206240"/>
            <a:ext cx="3051962" cy="969264"/>
          </a:xfrm>
          <a:prstGeom prst="rect">
            <a:avLst/>
          </a:prstGeom>
          <a:noFill/>
        </p:spPr>
        <p:txBody>
          <a:bodyPr wrap="square" lIns="0" rIns="0" tIns="0" bIns="0" anchor="t">
            <a:spAutoFit/>
          </a:bodyPr>
          <a:lstStyle/>
          <a:p>
            <a:pPr algn="l">
              <a:spcBef>
                <a:spcPts val="0"/>
              </a:spcBef>
              <a:spcAft>
                <a:spcPts val="200"/>
              </a:spcAft>
            </a:pPr>
            <a:r>
              <a:rPr sz="2500" b="1" i="0">
                <a:solidFill>
                  <a:srgbClr val="B45309"/>
                </a:solidFill>
                <a:latin typeface="Arial"/>
              </a:rPr>
              <a:t>₹370</a:t>
            </a:r>
          </a:p>
          <a:p>
            <a:pPr algn="l">
              <a:spcBef>
                <a:spcPts val="0"/>
              </a:spcBef>
              <a:spcAft>
                <a:spcPts val="500"/>
              </a:spcAft>
            </a:pPr>
            <a:r>
              <a:rPr sz="1050" b="1" i="0">
                <a:solidFill>
                  <a:srgbClr val="1A2733"/>
                </a:solidFill>
                <a:latin typeface="Arial"/>
              </a:rPr>
              <a:t>per fully active learner per year — the floor</a:t>
            </a:r>
          </a:p>
          <a:p>
            <a:pPr algn="l">
              <a:lnSpc>
                <a:spcPct val="124000"/>
              </a:lnSpc>
              <a:spcBef>
                <a:spcPts val="0"/>
              </a:spcBef>
              <a:spcAft>
                <a:spcPts val="0"/>
              </a:spcAft>
            </a:pPr>
            <a:r>
              <a:rPr sz="919" b="0" i="0">
                <a:solidFill>
                  <a:srgbClr val="3F4A57"/>
                </a:solidFill>
                <a:latin typeface="Arial"/>
              </a:rPr>
              <a:t>~₹330 AI inference (verified, with cached grounding and Haiku for batch) + ~₹40 infrastructure. No institutional licence is priced below it.</a:t>
            </a:r>
          </a:p>
        </p:txBody>
      </p:sp>
      <p:sp>
        <p:nvSpPr>
          <p:cNvPr id="22" name="Rounded Rectangle 21"/>
          <p:cNvSpPr/>
          <p:nvPr/>
        </p:nvSpPr>
        <p:spPr>
          <a:xfrm>
            <a:off x="4313834" y="4041648"/>
            <a:ext cx="3564026" cy="1280160"/>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69866" y="4206240"/>
            <a:ext cx="3051962" cy="969264"/>
          </a:xfrm>
          <a:prstGeom prst="rect">
            <a:avLst/>
          </a:prstGeom>
          <a:noFill/>
        </p:spPr>
        <p:txBody>
          <a:bodyPr wrap="square" lIns="0" rIns="0" tIns="0" bIns="0" anchor="t">
            <a:spAutoFit/>
          </a:bodyPr>
          <a:lstStyle/>
          <a:p>
            <a:pPr algn="l">
              <a:spcBef>
                <a:spcPts val="0"/>
              </a:spcBef>
              <a:spcAft>
                <a:spcPts val="200"/>
              </a:spcAft>
            </a:pPr>
            <a:r>
              <a:rPr sz="2500" b="1" i="0">
                <a:solidFill>
                  <a:srgbClr val="115E59"/>
                </a:solidFill>
                <a:latin typeface="Arial"/>
              </a:rPr>
              <a:t>1–2%</a:t>
            </a:r>
          </a:p>
          <a:p>
            <a:pPr algn="l">
              <a:spcBef>
                <a:spcPts val="0"/>
              </a:spcBef>
              <a:spcAft>
                <a:spcPts val="500"/>
              </a:spcAft>
            </a:pPr>
            <a:r>
              <a:rPr sz="1050" b="1" i="0">
                <a:solidFill>
                  <a:srgbClr val="1A2733"/>
                </a:solidFill>
                <a:latin typeface="Arial"/>
              </a:rPr>
              <a:t>assumed free-to-paid conversion</a:t>
            </a:r>
          </a:p>
          <a:p>
            <a:pPr algn="l">
              <a:lnSpc>
                <a:spcPct val="124000"/>
              </a:lnSpc>
              <a:spcBef>
                <a:spcPts val="0"/>
              </a:spcBef>
              <a:spcAft>
                <a:spcPts val="0"/>
              </a:spcAft>
            </a:pPr>
            <a:r>
              <a:rPr sz="919" b="0" i="0">
                <a:solidFill>
                  <a:srgbClr val="3F4A57"/>
                </a:solidFill>
                <a:latin typeface="Arial"/>
              </a:rPr>
              <a:t>Duolingo converts 9.1% (12.5M paying of 137.8M) after four years of climbing from 5%, on a global and largely affluent base. Assuming that here would be fantasy.</a:t>
            </a:r>
          </a:p>
        </p:txBody>
      </p:sp>
      <p:sp>
        <p:nvSpPr>
          <p:cNvPr id="24" name="Rounded Rectangle 23"/>
          <p:cNvSpPr/>
          <p:nvPr/>
        </p:nvSpPr>
        <p:spPr>
          <a:xfrm>
            <a:off x="8060740" y="4041648"/>
            <a:ext cx="3564026" cy="1280160"/>
          </a:xfrm>
          <a:prstGeom prst="roundRect">
            <a:avLst>
              <a:gd name="adj" fmla="val 6000"/>
            </a:avLst>
          </a:prstGeom>
          <a:solidFill>
            <a:srgbClr val="DCFCE7"/>
          </a:solidFill>
          <a:ln w="12700">
            <a:solidFill>
              <a:srgbClr val="A7E3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16772" y="4206240"/>
            <a:ext cx="3051962" cy="969264"/>
          </a:xfrm>
          <a:prstGeom prst="rect">
            <a:avLst/>
          </a:prstGeom>
          <a:noFill/>
        </p:spPr>
        <p:txBody>
          <a:bodyPr wrap="square" lIns="0" rIns="0" tIns="0" bIns="0" anchor="t">
            <a:spAutoFit/>
          </a:bodyPr>
          <a:lstStyle/>
          <a:p>
            <a:pPr algn="l">
              <a:spcBef>
                <a:spcPts val="0"/>
              </a:spcBef>
              <a:spcAft>
                <a:spcPts val="200"/>
              </a:spcAft>
            </a:pPr>
            <a:r>
              <a:rPr sz="2500" b="1" i="0">
                <a:solidFill>
                  <a:srgbClr val="15803D"/>
                </a:solidFill>
                <a:latin typeface="Arial"/>
              </a:rPr>
              <a:t>₹10.6 Cr</a:t>
            </a:r>
          </a:p>
          <a:p>
            <a:pPr algn="l">
              <a:spcBef>
                <a:spcPts val="0"/>
              </a:spcBef>
              <a:spcAft>
                <a:spcPts val="500"/>
              </a:spcAft>
            </a:pPr>
            <a:r>
              <a:rPr sz="1050" b="1" i="0">
                <a:solidFill>
                  <a:srgbClr val="1A2733"/>
                </a:solidFill>
                <a:latin typeface="Arial"/>
              </a:rPr>
              <a:t>Year-3 revenue at SOM (~$1.25M ARR)</a:t>
            </a:r>
          </a:p>
          <a:p>
            <a:pPr algn="l">
              <a:lnSpc>
                <a:spcPct val="124000"/>
              </a:lnSpc>
              <a:spcBef>
                <a:spcPts val="0"/>
              </a:spcBef>
              <a:spcAft>
                <a:spcPts val="0"/>
              </a:spcAft>
            </a:pPr>
            <a:r>
              <a:rPr sz="919" b="0" i="0">
                <a:solidFill>
                  <a:srgbClr val="3F4A57"/>
                </a:solidFill>
                <a:latin typeface="Arial"/>
              </a:rPr>
              <a:t>225,000 institutional at ₹450 + ~4,000 Plus + ~600 Mentor. Margin is thin by design and improves as inference costs fall — not by raising the institutional price.</a:t>
            </a:r>
          </a:p>
        </p:txBody>
      </p:sp>
      <p:sp>
        <p:nvSpPr>
          <p:cNvPr id="26" name="TextBox 25"/>
          <p:cNvSpPr txBox="1"/>
          <p:nvPr/>
        </p:nvSpPr>
        <p:spPr>
          <a:xfrm>
            <a:off x="566928" y="6071616"/>
            <a:ext cx="11057839" cy="274320"/>
          </a:xfrm>
          <a:prstGeom prst="rect">
            <a:avLst/>
          </a:prstGeom>
          <a:noFill/>
        </p:spPr>
        <p:txBody>
          <a:bodyPr wrap="square" lIns="0" rIns="0" tIns="0" bIns="0" anchor="t">
            <a:spAutoFit/>
          </a:bodyPr>
          <a:lstStyle/>
          <a:p>
            <a:pPr algn="l">
              <a:lnSpc>
                <a:spcPct val="125000"/>
              </a:lnSpc>
              <a:spcBef>
                <a:spcPts val="0"/>
              </a:spcBef>
              <a:spcAft>
                <a:spcPts val="0"/>
              </a:spcAft>
            </a:pPr>
            <a:r>
              <a:rPr sz="850" b="0" i="0">
                <a:solidFill>
                  <a:srgbClr val="5B6673"/>
                </a:solidFill>
                <a:latin typeface="Arial"/>
              </a:rPr>
              <a:t>Sources: Duolingo investor materials (company strategy overview; Q3 FY2025 10-Q) — FY2025 revenue $1.04B, subscriptions 76% of revenue. Saathi unit costs: docs/DECISIONS.md D11, verified against Claude API pricing.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13 · WHAT USERS SAID</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Real feedback from real users.</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Collected in-app from students, parents and teachers using Saathi on their own phones. Replace the placeholders below with actual quotes and the response count.</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Saathi  ·  Personalised learning for every underserved learner</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13</a:t>
            </a:r>
          </a:p>
        </p:txBody>
      </p:sp>
      <p:sp>
        <p:nvSpPr>
          <p:cNvPr id="8" name="Rounded Rectangle 7"/>
          <p:cNvSpPr/>
          <p:nvPr/>
        </p:nvSpPr>
        <p:spPr>
          <a:xfrm>
            <a:off x="566928" y="1883664"/>
            <a:ext cx="356402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48256"/>
            <a:ext cx="41148" cy="109728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66544"/>
            <a:ext cx="3106826" cy="1060704"/>
          </a:xfrm>
          <a:prstGeom prst="rect">
            <a:avLst/>
          </a:prstGeom>
          <a:noFill/>
        </p:spPr>
        <p:txBody>
          <a:bodyPr wrap="square" lIns="0" rIns="0" tIns="0" bIns="0" anchor="t">
            <a:spAutoFit/>
          </a:bodyPr>
          <a:lstStyle/>
          <a:p>
            <a:pPr algn="l">
              <a:lnSpc>
                <a:spcPct val="70000"/>
              </a:lnSpc>
              <a:spcBef>
                <a:spcPts val="0"/>
              </a:spcBef>
              <a:spcAft>
                <a:spcPts val="0"/>
              </a:spcAft>
            </a:pPr>
            <a:r>
              <a:rPr sz="2200" b="1" i="0">
                <a:solidFill>
                  <a:srgbClr val="CCFBF1"/>
                </a:solidFill>
                <a:latin typeface="Arial"/>
              </a:rPr>
              <a:t>“</a:t>
            </a:r>
          </a:p>
          <a:p>
            <a:pPr algn="l">
              <a:lnSpc>
                <a:spcPct val="130000"/>
              </a:lnSpc>
              <a:spcBef>
                <a:spcPts val="0"/>
              </a:spcBef>
              <a:spcAft>
                <a:spcPts val="800"/>
              </a:spcAft>
            </a:pPr>
            <a:r>
              <a:rPr sz="1100" b="0" i="1">
                <a:solidFill>
                  <a:srgbClr val="D8DEE4"/>
                </a:solidFill>
                <a:latin typeface="Arial"/>
              </a:rPr>
              <a:t>Quote goes here.</a:t>
            </a:r>
          </a:p>
          <a:p>
            <a:pPr algn="l">
              <a:spcBef>
                <a:spcPts val="0"/>
              </a:spcBef>
              <a:spcAft>
                <a:spcPts val="0"/>
              </a:spcAft>
            </a:pPr>
            <a:r>
              <a:rPr sz="950" b="1" i="0">
                <a:solidFill>
                  <a:srgbClr val="D8DEE4"/>
                </a:solidFill>
                <a:latin typeface="Arial"/>
              </a:rPr>
              <a:t>— Name, role</a:t>
            </a:r>
          </a:p>
        </p:txBody>
      </p:sp>
      <p:sp>
        <p:nvSpPr>
          <p:cNvPr id="11" name="Rounded Rectangle 10"/>
          <p:cNvSpPr/>
          <p:nvPr/>
        </p:nvSpPr>
        <p:spPr>
          <a:xfrm>
            <a:off x="4313834" y="1883664"/>
            <a:ext cx="356402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3834" y="2048256"/>
            <a:ext cx="41148" cy="109728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9866" y="2066544"/>
            <a:ext cx="3106826" cy="1060704"/>
          </a:xfrm>
          <a:prstGeom prst="rect">
            <a:avLst/>
          </a:prstGeom>
          <a:noFill/>
        </p:spPr>
        <p:txBody>
          <a:bodyPr wrap="square" lIns="0" rIns="0" tIns="0" bIns="0" anchor="t">
            <a:spAutoFit/>
          </a:bodyPr>
          <a:lstStyle/>
          <a:p>
            <a:pPr algn="l">
              <a:lnSpc>
                <a:spcPct val="70000"/>
              </a:lnSpc>
              <a:spcBef>
                <a:spcPts val="0"/>
              </a:spcBef>
              <a:spcAft>
                <a:spcPts val="0"/>
              </a:spcAft>
            </a:pPr>
            <a:r>
              <a:rPr sz="2200" b="1" i="0">
                <a:solidFill>
                  <a:srgbClr val="CCFBF1"/>
                </a:solidFill>
                <a:latin typeface="Arial"/>
              </a:rPr>
              <a:t>“</a:t>
            </a:r>
          </a:p>
          <a:p>
            <a:pPr algn="l">
              <a:lnSpc>
                <a:spcPct val="130000"/>
              </a:lnSpc>
              <a:spcBef>
                <a:spcPts val="0"/>
              </a:spcBef>
              <a:spcAft>
                <a:spcPts val="800"/>
              </a:spcAft>
            </a:pPr>
            <a:r>
              <a:rPr sz="1100" b="0" i="1">
                <a:solidFill>
                  <a:srgbClr val="D8DEE4"/>
                </a:solidFill>
                <a:latin typeface="Arial"/>
              </a:rPr>
              <a:t>Quote goes here.</a:t>
            </a:r>
          </a:p>
          <a:p>
            <a:pPr algn="l">
              <a:spcBef>
                <a:spcPts val="0"/>
              </a:spcBef>
              <a:spcAft>
                <a:spcPts val="0"/>
              </a:spcAft>
            </a:pPr>
            <a:r>
              <a:rPr sz="950" b="1" i="0">
                <a:solidFill>
                  <a:srgbClr val="D8DEE4"/>
                </a:solidFill>
                <a:latin typeface="Arial"/>
              </a:rPr>
              <a:t>— Name, role</a:t>
            </a:r>
          </a:p>
        </p:txBody>
      </p:sp>
      <p:sp>
        <p:nvSpPr>
          <p:cNvPr id="14" name="Rounded Rectangle 13"/>
          <p:cNvSpPr/>
          <p:nvPr/>
        </p:nvSpPr>
        <p:spPr>
          <a:xfrm>
            <a:off x="8060740" y="1883664"/>
            <a:ext cx="356402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740" y="2048256"/>
            <a:ext cx="41148" cy="109728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6772" y="2066544"/>
            <a:ext cx="3106826" cy="1060704"/>
          </a:xfrm>
          <a:prstGeom prst="rect">
            <a:avLst/>
          </a:prstGeom>
          <a:noFill/>
        </p:spPr>
        <p:txBody>
          <a:bodyPr wrap="square" lIns="0" rIns="0" tIns="0" bIns="0" anchor="t">
            <a:spAutoFit/>
          </a:bodyPr>
          <a:lstStyle/>
          <a:p>
            <a:pPr algn="l">
              <a:lnSpc>
                <a:spcPct val="70000"/>
              </a:lnSpc>
              <a:spcBef>
                <a:spcPts val="0"/>
              </a:spcBef>
              <a:spcAft>
                <a:spcPts val="0"/>
              </a:spcAft>
            </a:pPr>
            <a:r>
              <a:rPr sz="2200" b="1" i="0">
                <a:solidFill>
                  <a:srgbClr val="CCFBF1"/>
                </a:solidFill>
                <a:latin typeface="Arial"/>
              </a:rPr>
              <a:t>“</a:t>
            </a:r>
          </a:p>
          <a:p>
            <a:pPr algn="l">
              <a:lnSpc>
                <a:spcPct val="130000"/>
              </a:lnSpc>
              <a:spcBef>
                <a:spcPts val="0"/>
              </a:spcBef>
              <a:spcAft>
                <a:spcPts val="800"/>
              </a:spcAft>
            </a:pPr>
            <a:r>
              <a:rPr sz="1100" b="0" i="1">
                <a:solidFill>
                  <a:srgbClr val="D8DEE4"/>
                </a:solidFill>
                <a:latin typeface="Arial"/>
              </a:rPr>
              <a:t>Quote goes here.</a:t>
            </a:r>
          </a:p>
          <a:p>
            <a:pPr algn="l">
              <a:spcBef>
                <a:spcPts val="0"/>
              </a:spcBef>
              <a:spcAft>
                <a:spcPts val="0"/>
              </a:spcAft>
            </a:pPr>
            <a:r>
              <a:rPr sz="950" b="1" i="0">
                <a:solidFill>
                  <a:srgbClr val="D8DEE4"/>
                </a:solidFill>
                <a:latin typeface="Arial"/>
              </a:rPr>
              <a:t>— Name, role</a:t>
            </a:r>
          </a:p>
        </p:txBody>
      </p:sp>
      <p:sp>
        <p:nvSpPr>
          <p:cNvPr id="17" name="Rounded Rectangle 16"/>
          <p:cNvSpPr/>
          <p:nvPr/>
        </p:nvSpPr>
        <p:spPr>
          <a:xfrm>
            <a:off x="566928" y="3493008"/>
            <a:ext cx="356402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657600"/>
            <a:ext cx="41148" cy="109728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75888"/>
            <a:ext cx="3106826" cy="1060704"/>
          </a:xfrm>
          <a:prstGeom prst="rect">
            <a:avLst/>
          </a:prstGeom>
          <a:noFill/>
        </p:spPr>
        <p:txBody>
          <a:bodyPr wrap="square" lIns="0" rIns="0" tIns="0" bIns="0" anchor="t">
            <a:spAutoFit/>
          </a:bodyPr>
          <a:lstStyle/>
          <a:p>
            <a:pPr algn="l">
              <a:lnSpc>
                <a:spcPct val="70000"/>
              </a:lnSpc>
              <a:spcBef>
                <a:spcPts val="0"/>
              </a:spcBef>
              <a:spcAft>
                <a:spcPts val="0"/>
              </a:spcAft>
            </a:pPr>
            <a:r>
              <a:rPr sz="2200" b="1" i="0">
                <a:solidFill>
                  <a:srgbClr val="CCFBF1"/>
                </a:solidFill>
                <a:latin typeface="Arial"/>
              </a:rPr>
              <a:t>“</a:t>
            </a:r>
          </a:p>
          <a:p>
            <a:pPr algn="l">
              <a:lnSpc>
                <a:spcPct val="130000"/>
              </a:lnSpc>
              <a:spcBef>
                <a:spcPts val="0"/>
              </a:spcBef>
              <a:spcAft>
                <a:spcPts val="800"/>
              </a:spcAft>
            </a:pPr>
            <a:r>
              <a:rPr sz="1100" b="0" i="1">
                <a:solidFill>
                  <a:srgbClr val="D8DEE4"/>
                </a:solidFill>
                <a:latin typeface="Arial"/>
              </a:rPr>
              <a:t>Quote goes here.</a:t>
            </a:r>
          </a:p>
          <a:p>
            <a:pPr algn="l">
              <a:spcBef>
                <a:spcPts val="0"/>
              </a:spcBef>
              <a:spcAft>
                <a:spcPts val="0"/>
              </a:spcAft>
            </a:pPr>
            <a:r>
              <a:rPr sz="950" b="1" i="0">
                <a:solidFill>
                  <a:srgbClr val="D8DEE4"/>
                </a:solidFill>
                <a:latin typeface="Arial"/>
              </a:rPr>
              <a:t>— Name, role</a:t>
            </a:r>
          </a:p>
        </p:txBody>
      </p:sp>
      <p:sp>
        <p:nvSpPr>
          <p:cNvPr id="20" name="Rounded Rectangle 19"/>
          <p:cNvSpPr/>
          <p:nvPr/>
        </p:nvSpPr>
        <p:spPr>
          <a:xfrm>
            <a:off x="4313834" y="3493008"/>
            <a:ext cx="356402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13834" y="3657600"/>
            <a:ext cx="41148" cy="109728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9866" y="3675888"/>
            <a:ext cx="3106826" cy="1060704"/>
          </a:xfrm>
          <a:prstGeom prst="rect">
            <a:avLst/>
          </a:prstGeom>
          <a:noFill/>
        </p:spPr>
        <p:txBody>
          <a:bodyPr wrap="square" lIns="0" rIns="0" tIns="0" bIns="0" anchor="t">
            <a:spAutoFit/>
          </a:bodyPr>
          <a:lstStyle/>
          <a:p>
            <a:pPr algn="l">
              <a:lnSpc>
                <a:spcPct val="70000"/>
              </a:lnSpc>
              <a:spcBef>
                <a:spcPts val="0"/>
              </a:spcBef>
              <a:spcAft>
                <a:spcPts val="0"/>
              </a:spcAft>
            </a:pPr>
            <a:r>
              <a:rPr sz="2200" b="1" i="0">
                <a:solidFill>
                  <a:srgbClr val="CCFBF1"/>
                </a:solidFill>
                <a:latin typeface="Arial"/>
              </a:rPr>
              <a:t>“</a:t>
            </a:r>
          </a:p>
          <a:p>
            <a:pPr algn="l">
              <a:lnSpc>
                <a:spcPct val="130000"/>
              </a:lnSpc>
              <a:spcBef>
                <a:spcPts val="0"/>
              </a:spcBef>
              <a:spcAft>
                <a:spcPts val="800"/>
              </a:spcAft>
            </a:pPr>
            <a:r>
              <a:rPr sz="1100" b="0" i="1">
                <a:solidFill>
                  <a:srgbClr val="D8DEE4"/>
                </a:solidFill>
                <a:latin typeface="Arial"/>
              </a:rPr>
              <a:t>Quote goes here.</a:t>
            </a:r>
          </a:p>
          <a:p>
            <a:pPr algn="l">
              <a:spcBef>
                <a:spcPts val="0"/>
              </a:spcBef>
              <a:spcAft>
                <a:spcPts val="0"/>
              </a:spcAft>
            </a:pPr>
            <a:r>
              <a:rPr sz="950" b="1" i="0">
                <a:solidFill>
                  <a:srgbClr val="D8DEE4"/>
                </a:solidFill>
                <a:latin typeface="Arial"/>
              </a:rPr>
              <a:t>— Name, role</a:t>
            </a:r>
          </a:p>
        </p:txBody>
      </p:sp>
      <p:sp>
        <p:nvSpPr>
          <p:cNvPr id="23" name="Rounded Rectangle 22"/>
          <p:cNvSpPr/>
          <p:nvPr/>
        </p:nvSpPr>
        <p:spPr>
          <a:xfrm>
            <a:off x="8060740" y="3493008"/>
            <a:ext cx="3564026" cy="14264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60740" y="3657600"/>
            <a:ext cx="41148" cy="109728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16772" y="3675888"/>
            <a:ext cx="3106826" cy="1060704"/>
          </a:xfrm>
          <a:prstGeom prst="rect">
            <a:avLst/>
          </a:prstGeom>
          <a:noFill/>
        </p:spPr>
        <p:txBody>
          <a:bodyPr wrap="square" lIns="0" rIns="0" tIns="0" bIns="0" anchor="t">
            <a:spAutoFit/>
          </a:bodyPr>
          <a:lstStyle/>
          <a:p>
            <a:pPr algn="l">
              <a:lnSpc>
                <a:spcPct val="70000"/>
              </a:lnSpc>
              <a:spcBef>
                <a:spcPts val="0"/>
              </a:spcBef>
              <a:spcAft>
                <a:spcPts val="0"/>
              </a:spcAft>
            </a:pPr>
            <a:r>
              <a:rPr sz="2200" b="1" i="0">
                <a:solidFill>
                  <a:srgbClr val="CCFBF1"/>
                </a:solidFill>
                <a:latin typeface="Arial"/>
              </a:rPr>
              <a:t>“</a:t>
            </a:r>
          </a:p>
          <a:p>
            <a:pPr algn="l">
              <a:lnSpc>
                <a:spcPct val="130000"/>
              </a:lnSpc>
              <a:spcBef>
                <a:spcPts val="0"/>
              </a:spcBef>
              <a:spcAft>
                <a:spcPts val="800"/>
              </a:spcAft>
            </a:pPr>
            <a:r>
              <a:rPr sz="1100" b="0" i="1">
                <a:solidFill>
                  <a:srgbClr val="D8DEE4"/>
                </a:solidFill>
                <a:latin typeface="Arial"/>
              </a:rPr>
              <a:t>Quote goes here.</a:t>
            </a:r>
          </a:p>
          <a:p>
            <a:pPr algn="l">
              <a:spcBef>
                <a:spcPts val="0"/>
              </a:spcBef>
              <a:spcAft>
                <a:spcPts val="0"/>
              </a:spcAft>
            </a:pPr>
            <a:r>
              <a:rPr sz="950" b="1" i="0">
                <a:solidFill>
                  <a:srgbClr val="D8DEE4"/>
                </a:solidFill>
                <a:latin typeface="Arial"/>
              </a:rPr>
              <a:t>— Name, role</a:t>
            </a:r>
          </a:p>
        </p:txBody>
      </p:sp>
      <p:sp>
        <p:nvSpPr>
          <p:cNvPr id="26" name="Rounded Rectangle 25"/>
          <p:cNvSpPr/>
          <p:nvPr/>
        </p:nvSpPr>
        <p:spPr>
          <a:xfrm>
            <a:off x="566928" y="5120640"/>
            <a:ext cx="11057839" cy="1005840"/>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5266944"/>
            <a:ext cx="5029200" cy="786384"/>
          </a:xfrm>
          <a:prstGeom prst="rect">
            <a:avLst/>
          </a:prstGeom>
          <a:noFill/>
        </p:spPr>
        <p:txBody>
          <a:bodyPr wrap="square" lIns="0" rIns="0" tIns="0" bIns="0" anchor="t">
            <a:spAutoFit/>
          </a:bodyPr>
          <a:lstStyle/>
          <a:p>
            <a:pPr algn="l">
              <a:spcBef>
                <a:spcPts val="0"/>
              </a:spcBef>
              <a:spcAft>
                <a:spcPts val="500"/>
              </a:spcAft>
            </a:pPr>
            <a:r>
              <a:rPr sz="1150" b="1" i="0">
                <a:solidFill>
                  <a:srgbClr val="115E59"/>
                </a:solidFill>
                <a:latin typeface="Arial"/>
              </a:rPr>
              <a:t>How the feedback was collected</a:t>
            </a:r>
          </a:p>
          <a:p>
            <a:pPr algn="l">
              <a:lnSpc>
                <a:spcPct val="126000"/>
              </a:lnSpc>
              <a:spcBef>
                <a:spcPts val="0"/>
              </a:spcBef>
              <a:spcAft>
                <a:spcPts val="0"/>
              </a:spcAft>
            </a:pPr>
            <a:r>
              <a:rPr sz="980" b="0" i="0">
                <a:solidFill>
                  <a:srgbClr val="3F4A57"/>
                </a:solidFill>
                <a:latin typeface="Arial"/>
              </a:rPr>
              <a:t>A five-question form inside the app, shown after a lesson is completed. Three tap-only questions, two optional written ones. No email address leaves the database.</a:t>
            </a:r>
          </a:p>
        </p:txBody>
      </p:sp>
      <p:sp>
        <p:nvSpPr>
          <p:cNvPr id="28" name="TextBox 27"/>
          <p:cNvSpPr txBox="1"/>
          <p:nvPr/>
        </p:nvSpPr>
        <p:spPr>
          <a:xfrm>
            <a:off x="6327648" y="5321807"/>
            <a:ext cx="1691640" cy="731520"/>
          </a:xfrm>
          <a:prstGeom prst="rect">
            <a:avLst/>
          </a:prstGeom>
          <a:noFill/>
        </p:spPr>
        <p:txBody>
          <a:bodyPr wrap="square" lIns="0" rIns="0" tIns="0" bIns="0" anchor="t">
            <a:spAutoFit/>
          </a:bodyPr>
          <a:lstStyle/>
          <a:p>
            <a:pPr algn="l">
              <a:spcBef>
                <a:spcPts val="0"/>
              </a:spcBef>
              <a:spcAft>
                <a:spcPts val="200"/>
              </a:spcAft>
            </a:pPr>
            <a:r>
              <a:rPr sz="2200" b="1" i="0">
                <a:solidFill>
                  <a:srgbClr val="0F766E"/>
                </a:solidFill>
                <a:latin typeface="Arial"/>
              </a:rPr>
              <a:t>00</a:t>
            </a:r>
          </a:p>
          <a:p>
            <a:pPr algn="l">
              <a:lnSpc>
                <a:spcPct val="120000"/>
              </a:lnSpc>
              <a:spcBef>
                <a:spcPts val="0"/>
              </a:spcBef>
              <a:spcAft>
                <a:spcPts val="0"/>
              </a:spcAft>
            </a:pPr>
            <a:r>
              <a:rPr sz="900" b="0" i="0">
                <a:solidFill>
                  <a:srgbClr val="5B6673"/>
                </a:solidFill>
                <a:latin typeface="Arial"/>
              </a:rPr>
              <a:t>responses</a:t>
            </a:r>
          </a:p>
        </p:txBody>
      </p:sp>
      <p:sp>
        <p:nvSpPr>
          <p:cNvPr id="29" name="TextBox 28"/>
          <p:cNvSpPr txBox="1"/>
          <p:nvPr/>
        </p:nvSpPr>
        <p:spPr>
          <a:xfrm>
            <a:off x="8110727" y="5321807"/>
            <a:ext cx="1691640" cy="731520"/>
          </a:xfrm>
          <a:prstGeom prst="rect">
            <a:avLst/>
          </a:prstGeom>
          <a:noFill/>
        </p:spPr>
        <p:txBody>
          <a:bodyPr wrap="square" lIns="0" rIns="0" tIns="0" bIns="0" anchor="t">
            <a:spAutoFit/>
          </a:bodyPr>
          <a:lstStyle/>
          <a:p>
            <a:pPr algn="l">
              <a:spcBef>
                <a:spcPts val="0"/>
              </a:spcBef>
              <a:spcAft>
                <a:spcPts val="200"/>
              </a:spcAft>
            </a:pPr>
            <a:r>
              <a:rPr sz="2200" b="1" i="0">
                <a:solidFill>
                  <a:srgbClr val="0F766E"/>
                </a:solidFill>
                <a:latin typeface="Arial"/>
              </a:rPr>
              <a:t>00%</a:t>
            </a:r>
          </a:p>
          <a:p>
            <a:pPr algn="l">
              <a:lnSpc>
                <a:spcPct val="120000"/>
              </a:lnSpc>
              <a:spcBef>
                <a:spcPts val="0"/>
              </a:spcBef>
              <a:spcAft>
                <a:spcPts val="0"/>
              </a:spcAft>
            </a:pPr>
            <a:r>
              <a:rPr sz="900" b="0" i="0">
                <a:solidFill>
                  <a:srgbClr val="5B6673"/>
                </a:solidFill>
                <a:latin typeface="Arial"/>
              </a:rPr>
              <a:t>said it helped them understand</a:t>
            </a:r>
          </a:p>
        </p:txBody>
      </p:sp>
      <p:sp>
        <p:nvSpPr>
          <p:cNvPr id="30" name="TextBox 29"/>
          <p:cNvSpPr txBox="1"/>
          <p:nvPr/>
        </p:nvSpPr>
        <p:spPr>
          <a:xfrm>
            <a:off x="9893808" y="5321807"/>
            <a:ext cx="1691640" cy="731520"/>
          </a:xfrm>
          <a:prstGeom prst="rect">
            <a:avLst/>
          </a:prstGeom>
          <a:noFill/>
        </p:spPr>
        <p:txBody>
          <a:bodyPr wrap="square" lIns="0" rIns="0" tIns="0" bIns="0" anchor="t">
            <a:spAutoFit/>
          </a:bodyPr>
          <a:lstStyle/>
          <a:p>
            <a:pPr algn="l">
              <a:spcBef>
                <a:spcPts val="0"/>
              </a:spcBef>
              <a:spcAft>
                <a:spcPts val="200"/>
              </a:spcAft>
            </a:pPr>
            <a:r>
              <a:rPr sz="2200" b="1" i="0">
                <a:solidFill>
                  <a:srgbClr val="0F766E"/>
                </a:solidFill>
                <a:latin typeface="Arial"/>
              </a:rPr>
              <a:t>00%</a:t>
            </a:r>
          </a:p>
          <a:p>
            <a:pPr algn="l">
              <a:lnSpc>
                <a:spcPct val="120000"/>
              </a:lnSpc>
              <a:spcBef>
                <a:spcPts val="0"/>
              </a:spcBef>
              <a:spcAft>
                <a:spcPts val="0"/>
              </a:spcAft>
            </a:pPr>
            <a:r>
              <a:rPr sz="900" b="0" i="0">
                <a:solidFill>
                  <a:srgbClr val="5B6673"/>
                </a:solidFill>
                <a:latin typeface="Arial"/>
              </a:rPr>
              <a:t>would come 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