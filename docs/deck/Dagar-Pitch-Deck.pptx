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and free to open right now: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FREE</a:t>
            </a:r>
          </a:p>
        </p:txBody>
      </p:sp>
      <p:sp>
        <p:nvSpPr>
          <p:cNvPr id="12" name="TextBox 11"/>
          <p:cNvSpPr txBox="1"/>
          <p:nvPr/>
        </p:nvSpPr>
        <p:spPr>
          <a:xfrm>
            <a:off x="749808"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₹0</a:t>
            </a:r>
          </a:p>
        </p:txBody>
      </p:sp>
      <p:sp>
        <p:nvSpPr>
          <p:cNvPr id="13" name="TextBox 12"/>
          <p:cNvSpPr txBox="1"/>
          <p:nvPr/>
        </p:nvSpPr>
        <p:spPr>
          <a:xfrm>
            <a:off x="749808"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Everything needed to learn. Full curriculum, lessons, practice, quizzes, progress, streaks and the parent summary. AI tutor capped at 10 questions a day.</a:t>
            </a:r>
          </a:p>
        </p:txBody>
      </p:sp>
      <p:sp>
        <p:nvSpPr>
          <p:cNvPr id="14" name="Rounded Rectangle 13"/>
          <p:cNvSpPr/>
          <p:nvPr/>
        </p:nvSpPr>
        <p:spPr>
          <a:xfrm>
            <a:off x="3381679"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679"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1679"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PLUS</a:t>
            </a:r>
          </a:p>
        </p:txBody>
      </p:sp>
      <p:sp>
        <p:nvSpPr>
          <p:cNvPr id="18" name="TextBox 17"/>
          <p:cNvSpPr txBox="1"/>
          <p:nvPr/>
        </p:nvSpPr>
        <p:spPr>
          <a:xfrm>
            <a:off x="3564559"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₹99 / month</a:t>
            </a:r>
          </a:p>
        </p:txBody>
      </p:sp>
      <p:sp>
        <p:nvSpPr>
          <p:cNvPr id="19" name="TextBox 18"/>
          <p:cNvSpPr txBox="1"/>
          <p:nvPr/>
        </p:nvSpPr>
        <p:spPr>
          <a:xfrm>
            <a:off x="3564559"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Depth, for the families who want it and can pay. Unlimited AI tutor, deeper adaptive practice, revision plans and fuller parent insight.</a:t>
            </a:r>
          </a:p>
        </p:txBody>
      </p:sp>
      <p:sp>
        <p:nvSpPr>
          <p:cNvPr id="20" name="Rounded Rectangle 19"/>
          <p:cNvSpPr/>
          <p:nvPr/>
        </p:nvSpPr>
        <p:spPr>
          <a:xfrm>
            <a:off x="6196431"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6431"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1"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DAGAR MENTOR</a:t>
            </a:r>
          </a:p>
        </p:txBody>
      </p:sp>
      <p:sp>
        <p:nvSpPr>
          <p:cNvPr id="24" name="TextBox 23"/>
          <p:cNvSpPr txBox="1"/>
          <p:nvPr/>
        </p:nvSpPr>
        <p:spPr>
          <a:xfrm>
            <a:off x="6379311"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 ₹299 / month</a:t>
            </a:r>
          </a:p>
        </p:txBody>
      </p:sp>
      <p:sp>
        <p:nvSpPr>
          <p:cNvPr id="25" name="TextBox 24"/>
          <p:cNvSpPr txBox="1"/>
          <p:nvPr/>
        </p:nvSpPr>
        <p:spPr>
          <a:xfrm>
            <a:off x="6379311"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Sessions with a real person. Not sold until mentors are verified and on call, because selling ahead of supply loses a parent's trust once and for good.</a:t>
            </a:r>
          </a:p>
        </p:txBody>
      </p:sp>
      <p:sp>
        <p:nvSpPr>
          <p:cNvPr id="26" name="Rounded Rectangle 25"/>
          <p:cNvSpPr/>
          <p:nvPr/>
        </p:nvSpPr>
        <p:spPr>
          <a:xfrm>
            <a:off x="9011183"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11183"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1183"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94063"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INSTITUTIONS</a:t>
            </a:r>
          </a:p>
        </p:txBody>
      </p:sp>
      <p:sp>
        <p:nvSpPr>
          <p:cNvPr id="30" name="TextBox 29"/>
          <p:cNvSpPr txBox="1"/>
          <p:nvPr/>
        </p:nvSpPr>
        <p:spPr>
          <a:xfrm>
            <a:off x="9194063"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₹450 to ₹600</a:t>
            </a:r>
          </a:p>
        </p:txBody>
      </p:sp>
      <p:sp>
        <p:nvSpPr>
          <p:cNvPr id="31" name="TextBox 30"/>
          <p:cNvSpPr txBox="1"/>
          <p:nvPr/>
        </p:nvSpPr>
        <p:spPr>
          <a:xfrm>
            <a:off x="9194063"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Per learner, per year. The scalable engine: NGO, CSR and government licences with cohort dashboards, reporting and bulk onboarding.</a:t>
            </a:r>
          </a:p>
        </p:txBody>
      </p:sp>
      <p:sp>
        <p:nvSpPr>
          <p:cNvPr id="32" name="Rounded Rectangle 31"/>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₹370 a learner a year</a:t>
            </a:r>
          </a:p>
          <a:p>
            <a:pPr algn="l">
              <a:lnSpc>
                <a:spcPct val="122000"/>
              </a:lnSpc>
              <a:spcBef>
                <a:spcPts val="0"/>
              </a:spcBef>
              <a:spcAft>
                <a:spcPts val="0"/>
              </a:spcAft>
            </a:pPr>
            <a:r>
              <a:rPr sz="950" b="0" i="0">
                <a:solidFill>
                  <a:srgbClr val="3F4A57"/>
                </a:solidFill>
                <a:latin typeface="Arial"/>
              </a:rPr>
              <a:t>Roughly ₹330 of AI and ₹40 of infrastructure, modelled from published token pricing rather than measured per learner. Nothing is priced below it, so ₹450 leaves ₹80. Thin, and the risk is an institution treating ₹450 as a ceiling.</a:t>
            </a:r>
          </a:p>
        </p:txBody>
      </p:sp>
      <p:sp>
        <p:nvSpPr>
          <p:cNvPr id="35" name="Rounded Rectangle 34"/>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not families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38" name="Rounded Rectangle 37"/>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and parental consent does not unlock it. Every user we have is 11 to 14. The usual way a free product pays for itself is closed,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48656"/>
            <a:ext cx="11057839" cy="71323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85816"/>
            <a:ext cx="54864" cy="4389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58384"/>
            <a:ext cx="10417759" cy="512064"/>
          </a:xfrm>
          <a:prstGeom prst="rect">
            <a:avLst/>
          </a:prstGeom>
          <a:noFill/>
        </p:spPr>
        <p:txBody>
          <a:bodyPr wrap="square" lIns="0" rIns="0" tIns="0" bIns="0" anchor="t">
            <a:spAutoFit/>
          </a:bodyPr>
          <a:lstStyle/>
          <a:p>
            <a:pPr algn="l">
              <a:spcBef>
                <a:spcPts val="0"/>
              </a:spcBef>
              <a:spcAft>
                <a:spcPts val="200"/>
              </a:spcAft>
            </a:pPr>
            <a:r>
              <a:rPr sz="1150" b="1" i="0">
                <a:solidFill>
                  <a:srgbClr val="1A2733"/>
                </a:solidFill>
                <a:latin typeface="Arial"/>
              </a:rPr>
              <a:t>Short of time? Play it at 1.5x. The narration is synthetic, in both languages, on purpose.</a:t>
            </a:r>
          </a:p>
          <a:p>
            <a:pPr algn="l">
              <a:spcBef>
                <a:spcPts val="0"/>
              </a:spcBef>
              <a:spcAft>
                <a:spcPts val="0"/>
              </a:spcAft>
            </a:pPr>
            <a:r>
              <a:rPr sz="950" b="0" i="0">
                <a:solidFill>
                  <a:srgbClr val="3F4A57"/>
                </a:solidFill>
                <a:latin typeface="Arial"/>
              </a:rPr>
              <a:t>It stays clear up to about 1.5x, and a learner who reads in Hindi should be able to watch the demo in Hindi. That is the same argument the product makes.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no cost</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