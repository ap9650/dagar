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two segments, worked below, = ₹13 Cr, which is $1.48M ARR.</a:t>
            </a:r>
          </a:p>
          <a:p/>
          <a:p>
            <a:r>
              <a:t>SOM is not multiplied by ₹500, because at this size we can model the actual mix</a:t>
            </a:r>
          </a:p>
          <a:p>
            <a:r>
              <a:t>instead of using a blended ceiling. Most of the SOM learners pay nothing at all.</a:t>
            </a:r>
          </a:p>
          <a:p/>
          <a:p>
            <a:r>
              <a:t>── HOW SOM IS BUILT ────────────────────────────────────────────────────────</a:t>
            </a:r>
          </a:p>
          <a:p/>
          <a:p>
            <a:r>
              <a:t>STEP 1, LEARNERS, CHANNEL BY CHANNEL. The percentage of SAM is the OUTPUT of</a:t>
            </a:r>
          </a:p>
          <a:p>
            <a:r>
              <a:t>this, never the input. Starting from "let us say 1% of the market" is working</a:t>
            </a:r>
          </a:p>
          <a:p>
            <a:r>
              <a:t>backwards from a number that merely sounds humble.</a:t>
            </a:r>
          </a:p>
          <a:p/>
          <a:p>
            <a:r>
              <a:t>  NGO and CSR programmes    150,000   15 to 25 partners, 6 to 10k learners each</a:t>
            </a:r>
          </a:p>
          <a:p>
            <a:r>
              <a:t>  Government pilots          75,000   2 to 3 district-level pilots</a:t>
            </a:r>
          </a:p>
          <a:p>
            <a:r>
              <a:t>  Direct to consumer        275,000   organic plus modest paid acquisition,</a:t>
            </a:r>
          </a:p>
          <a:p>
            <a:r>
              <a:t>                                      aimed at parents in tier 2 and tier 3</a:t>
            </a:r>
          </a:p>
          <a:p>
            <a:r>
              <a:t>  TOTAL                     500,000   which is 1.7% of the 29.6M SAM</a:t>
            </a:r>
          </a:p>
          <a:p/>
          <a:p>
            <a:r>
              <a:t>STEP 2, WHO ACTUALLY PAYS. The two halves behave completely differently.</a:t>
            </a:r>
          </a:p>
          <a:p/>
          <a:p>
            <a:r>
              <a:t>  Institutional   225,000 learners, every one funded by the institution</a:t>
            </a:r>
          </a:p>
          <a:p>
            <a:r>
              <a:t>                  225,000 x ₹450        = ₹10.1 Cr</a:t>
            </a:r>
          </a:p>
          <a:p/>
          <a:p>
            <a:r>
              <a:t>  Consumer        275,000 reached, 4% subscribe = 11,000 people</a:t>
            </a:r>
          </a:p>
          <a:p>
            <a:r>
              <a:t>                  Plus         60%   6,600 x ₹799     = ₹0.5 Cr</a:t>
            </a:r>
          </a:p>
          <a:p>
            <a:r>
              <a:t>                  Live         35%   3,850 x ₹3,999   = ₹1.5 Cr</a:t>
            </a:r>
          </a:p>
          <a:p>
            <a:r>
              <a:t>                  One to one    5%     550 x ₹14,999  = ₹0.8 Cr</a:t>
            </a:r>
          </a:p>
          <a:p>
            <a:r>
              <a:t>                  Free                264,000 x ₹0    = ₹0</a:t>
            </a:r>
          </a:p>
          <a:p/>
          <a:p>
            <a:r>
              <a:t>  TOTAL           500,000 learners                    = ₹13 Cr, $1.48M ARR</a:t>
            </a:r>
          </a:p>
          <a:p/>
          <a:p>
            <a:r>
              <a:t>Blended, that is about ₹260 per learner per year across all 500,000, because</a:t>
            </a:r>
          </a:p>
          <a:p>
            <a:r>
              <a:t>most of them never pay anything. That is the model working as intended, not a</a:t>
            </a:r>
          </a:p>
          <a:p>
            <a:r>
              <a:t>disappointing number.</a:t>
            </a:r>
          </a:p>
          <a:p/>
          <a:p>
            <a:r>
              <a:t>WHERE THE 4% COMES FROM, IF ASKED</a:t>
            </a:r>
          </a:p>
          <a:p>
            <a:r>
              <a:t>Benchmarked rather than guessed. Indian edtech converts 2 to 5% on general</a:t>
            </a:r>
          </a:p>
          <a:p>
            <a:r>
              <a:t>learning and 8 to 15% on exam preparation. Consumer freemium generally runs 2 to</a:t>
            </a:r>
          </a:p>
          <a:p>
            <a:r>
              <a:t>4%. Duolingo, whose daily habit loop we deliberately copied, reaches 8.9% of</a:t>
            </a:r>
          </a:p>
          <a:p>
            <a:r>
              <a:t>monthly actives. We are general learning, so 4% is the top of the honest band</a:t>
            </a:r>
          </a:p>
          <a:p>
            <a:r>
              <a:t>and comfortably under the product we learned the mechanics from.</a:t>
            </a:r>
          </a:p>
          <a:p/>
          <a:p>
            <a:r>
              <a:t>THE THREE SOFT SPOTS IN SOM, SAID BEFORE THEY ARE FOUND</a:t>
            </a:r>
          </a:p>
          <a:p>
            <a:r>
              <a:t>1. The pipeline is zero today. No NGO signed, no district agreed, no CSR</a:t>
            </a:r>
          </a:p>
          <a:p>
            <a:r>
              <a:t>   conversation started. Every channel number is a plausible shape for something</a:t>
            </a:r>
          </a:p>
          <a:p>
            <a:r>
              <a:t>   not yet opened. Logged as assumption A6, low confidence.</a:t>
            </a:r>
          </a:p>
          <a:p>
            <a:r>
              <a:t>2. The 60 / 35 / 5 tier split is an assumption, not a measurement. If everyone</a:t>
            </a:r>
          </a:p>
          <a:p>
            <a:r>
              <a:t>   lands on Plus, revenue drops by roughly ₹2 Cr. If Live carries it, revenue</a:t>
            </a:r>
          </a:p>
          <a:p>
            <a:r>
              <a:t>   rises.</a:t>
            </a:r>
          </a:p>
          <a:p>
            <a:r>
              <a:t>3. District pilots are the most ambitious line. 25,000 to 37,000 learners in one</a:t>
            </a:r>
          </a:p>
          <a:p>
            <a:r>
              <a:t>   district is a large pilot. The defensible retreat is one district and 10,000</a:t>
            </a:r>
          </a:p>
          <a:p>
            <a:r>
              <a:t>   learners: the model still stands, the total just moves.</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14 of 38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11 of 36 tutor messages are about the screen, a learner asked us to build a</a:t>
            </a:r>
          </a:p>
          <a:p>
            <a:r>
              <a:t>tutor we already ship, and 14 of 38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53 offers and 3 accepted.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21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SENTENCE</a:t>
            </a:r>
          </a:p>
          <a:p>
            <a:r>
              <a:t>The lessons are free for everyone, for good. Institutions pay to reach the</a:t>
            </a:r>
          </a:p>
          <a:p>
            <a:r>
              <a:t>learners who never could, and families who can pay subscribe for more practice</a:t>
            </a:r>
          </a:p>
          <a:p>
            <a:r>
              <a:t>and more content. Both run at once, and the second funds the first.</a:t>
            </a:r>
          </a:p>
          <a:p/>
          <a:p>
            <a:r>
              <a:t>WHY THE MVP IS FREE TODAY, IF ASKED</a:t>
            </a:r>
          </a:p>
          <a:p>
            <a:r>
              <a:t>Because it is still being validated, not because free is the business. Charging</a:t>
            </a:r>
          </a:p>
          <a:p>
            <a:r>
              <a:t>now would contaminate the activation and retention numbers we are reading, and</a:t>
            </a:r>
          </a:p>
          <a:p>
            <a:r>
              <a:t>we would rather know whether it works than know whether it sells. The paid tier</a:t>
            </a:r>
          </a:p>
          <a:p>
            <a:r>
              <a:t>follows once H1 to H7 have data.</a:t>
            </a:r>
          </a:p>
          <a:p/>
          <a:p>
            <a:r>
              <a:t>WHAT WE COPIED FROM DUOLINGO, AND WHAT WE DID NOT</a:t>
            </a:r>
          </a:p>
          <a:p>
            <a:r>
              <a:t>The daily habit loop, and the principle that the free tier stays genuinely</a:t>
            </a:r>
          </a:p>
          <a:p>
            <a:r>
              <a:t>useful forever rather than being crippled to force conversion. Not the hearts,</a:t>
            </a:r>
          </a:p>
          <a:p>
            <a:r>
              <a:t>not the lives, not the leaderboard, for the reasons on slide 19.</a:t>
            </a:r>
          </a:p>
          <a:p/>
          <a:p>
            <a:r>
              <a:t>BE PRECISE THAT ₹370 IS MODELLED</a:t>
            </a:r>
          </a:p>
          <a:p>
            <a:r>
              <a:t>It is derived in MARKET_AND_PRICING.md from D11's cost targets and published</a:t>
            </a:r>
          </a:p>
          <a:p>
            <a:r>
              <a:t>token pricing: about ₹330 of AI inference and ₹40 of infrastructure for a fully</a:t>
            </a:r>
          </a:p>
          <a:p>
            <a:r>
              <a:t>active learner per year. It is not yet validated against production, because</a:t>
            </a:r>
          </a:p>
          <a:p>
            <a:r>
              <a:t>test-account purges null the learner attribution on our AI spend rows. Say</a:t>
            </a:r>
          </a:p>
          <a:p>
            <a:r>
              <a:t>"modelled" and not "measured". Someone will ask, and the difference is the</a:t>
            </a:r>
          </a:p>
          <a:p>
            <a:r>
              <a:t>whole credibility of the slide.</a:t>
            </a:r>
          </a:p>
          <a:p/>
          <a:p>
            <a:r>
              <a:t>WHY LIVE IS ₹399 AND ONE-TO-ONE IS ₹1,499</a:t>
            </a:r>
          </a:p>
          <a:p>
            <a:r>
              <a:t>Because one is shared and the other is not. A live cohort is one teacher across</a:t>
            </a:r>
          </a:p>
          <a:p>
            <a:r>
              <a:t>roughly fifty learners: at ₹1,200 a session, eight sessions a month, that is</a:t>
            </a:r>
          </a:p>
          <a:p>
            <a:r>
              <a:t>about ₹190 of teacher time per learner, so ₹399 carries it. One-to-one is a</a:t>
            </a:r>
          </a:p>
          <a:p>
            <a:r>
              <a:t>teacher for one child and the cost does not fall with scale. Two private</a:t>
            </a:r>
          </a:p>
          <a:p>
            <a:r>
              <a:t>sessions a month is real money however large we get, which is why it is priced</a:t>
            </a:r>
          </a:p>
          <a:p>
            <a:r>
              <a:t>at four figures and gated on verified supply. Every other margin in this model</a:t>
            </a:r>
          </a:p>
          <a:p>
            <a:r>
              <a:t>improves as inference gets cheaper. Human time does not, and pretending</a:t>
            </a:r>
          </a:p>
          <a:p>
            <a:r>
              <a:t>otherwise is how a promised service quietly stops being deliverable.</a:t>
            </a:r>
          </a:p>
          <a:p/>
          <a:p>
            <a:r>
              <a:t>THE ORDER THEY ARRIVE IN</a:t>
            </a:r>
          </a:p>
          <a:p>
            <a:r>
              <a:t>Plus in Phase 2, alongside the first institutional pilots. Live in Phase 3,</a:t>
            </a:r>
          </a:p>
          <a:p>
            <a:r>
              <a:t>because it needs teachers on a timetable and a batch big enough to fill.</a:t>
            </a:r>
          </a:p>
          <a:p>
            <a:r>
              <a:t>One-to-one last, and only if the demand signal holds: 53 offers and 3 accepted</a:t>
            </a:r>
          </a:p>
          <a:p>
            <a:r>
              <a:t>today is not yet a reason to hire anybody.</a:t>
            </a:r>
          </a:p>
          <a:p/>
          <a:p>
            <a:r>
              <a:t>THE INSTITUTIONAL VERSION OF ONE-TO-ONE</a:t>
            </a:r>
          </a:p>
          <a:p>
            <a:r>
              <a:t>An NGO can fund private sessions for the learners our struggle detection flags,</a:t>
            </a:r>
          </a:p>
          <a:p>
            <a:r>
              <a:t>rather than a family paying ₹1,499. That is the same feature reaching the</a:t>
            </a:r>
          </a:p>
          <a:p>
            <a:r>
              <a:t>learners who need it most, paid for by the budget that exists for exactly that.</a:t>
            </a:r>
          </a:p>
          <a:p/>
          <a:p>
            <a:r>
              <a:t>WHY NOT ADVERTISING, IN ONE LINE</a:t>
            </a:r>
          </a:p>
          <a:p>
            <a:r>
              <a:t>Section 9(3) of the DPDP Act 2023 prohibits tracking, behavioural monitoring</a:t>
            </a:r>
          </a:p>
          <a:p>
            <a:r>
              <a:t>and targeted advertising directed at children, and parental consent does not</a:t>
            </a:r>
          </a:p>
          <a:p>
            <a:r>
              <a:t>lift it. Every user we have is 11 to 14. This is worth saying out loud because</a:t>
            </a:r>
          </a:p>
          <a:p>
            <a:r>
              <a:t>it removes the obvious answer to "how does a free product survive", and because</a:t>
            </a:r>
          </a:p>
          <a:p>
            <a:r>
              <a:t>a team that knows the regulation reads as a team that read it.</a:t>
            </a:r>
          </a:p>
          <a:p/>
          <a:p>
            <a:r>
              <a:t>IF ASKED ABOUT THE 1 TO 2% CONVERSION</a:t>
            </a:r>
          </a:p>
          <a:p>
            <a:r>
              <a:t>It is deliberately pessimistic and it should be. The people we serve are</a:t>
            </a:r>
          </a:p>
          <a:p>
            <a:r>
              <a:t>defined by not being able to afford ₹500 a month of tuition, so assuming they</a:t>
            </a:r>
          </a:p>
          <a:p>
            <a:r>
              <a:t>will pay ₹99 a month at typical freemium rates would be assuming away the</a:t>
            </a:r>
          </a:p>
          <a:p>
            <a:r>
              <a:t>problem the product exists to solve.</a:t>
            </a:r>
          </a:p>
          <a:p/>
          <a:p>
            <a:r>
              <a:t>IF ASKED WHAT KILLS THIS MODEL</a:t>
            </a:r>
          </a:p>
          <a:p>
            <a:r>
              <a:t>Institutions buying on cost per beneficiary and treating ₹450 as a ceiling.</a:t>
            </a:r>
          </a:p>
          <a:p>
            <a:r>
              <a:t>That is in MARKET_AND_PRICING.md as a named risk rather than a footnote. The</a:t>
            </a:r>
          </a:p>
          <a:p>
            <a:r>
              <a:t>mitigation is volume tiers and the fact that a free-tier learner costs about</a:t>
            </a:r>
          </a:p>
          <a:p>
            <a:r>
              <a:t>₹120 rather than ₹370, so a realistic cohort mix carries more margin than the</a:t>
            </a:r>
          </a:p>
          <a:p>
            <a:r>
              <a:t>worst case implies.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SLIDE IS SO LATE IN THE DECK</a:t>
            </a:r>
          </a:p>
          <a:p>
            <a:r>
              <a:t>Because the last thing a room should hear before the close is the people the</a:t>
            </a:r>
          </a:p>
          <a:p>
            <a:r>
              <a:t>product is for, in their own words, rather than another claim from us. Slide 20</a:t>
            </a:r>
          </a:p>
          <a:p>
            <a:r>
              <a:t>used four of these analytically to set up the roadmap. This is the whole set.</a:t>
            </a:r>
          </a:p>
          <a:p/>
          <a:p>
            <a:r>
              <a:t>THESE ARE CARDS, NOT SCREENSHOTS</a:t>
            </a:r>
          </a:p>
          <a:p>
            <a:r>
              <a:t>There is no screen in Dagar that displays other people's feedback, so a</a:t>
            </a:r>
          </a:p>
          <a:p>
            <a:r>
              <a:t>screenshot would have meant inventing a picture of a product surface that does</a:t>
            </a:r>
          </a:p>
          <a:p>
            <a:r>
              <a:t>not exist. The words are verbatim from the database, spelling included, and</a:t>
            </a:r>
          </a:p>
          <a:p>
            <a:r>
              <a:t>where a quote is trimmed there is an ellipsis.</a:t>
            </a:r>
          </a:p>
          <a:p/>
          <a:p>
            <a:r>
              <a:t>THE NUMBER THAT MATTERS MOST</a:t>
            </a:r>
          </a:p>
          <a:p>
            <a:r>
              <a:t>15 of 15 said it helped them understand something: 14 "yes" and 1 "a bit". Say</a:t>
            </a:r>
          </a:p>
          <a:p>
            <a:r>
              <a:t>the split. One respondent said they would not use it again and still said it</a:t>
            </a:r>
          </a:p>
          <a:p>
            <a:r>
              <a:t>helped them understand, which is a more interesting data point than a clean</a:t>
            </a:r>
          </a:p>
          <a:p>
            <a:r>
              <a:t>sweep would have been.</a:t>
            </a:r>
          </a:p>
          <a:p/>
          <a:p>
            <a:r>
              <a:t>THE HINGLISH RESPONSE IS EVIDENCE, NOT DECORATION</a:t>
            </a:r>
          </a:p>
          <a:p>
            <a:r>
              <a:t>A learner writing back in Hinglish, unprompted, and specifically noting that</a:t>
            </a:r>
          </a:p>
          <a:p>
            <a:r>
              <a:t>both languages are there, is the bilingual decision being validated by the</a:t>
            </a:r>
          </a:p>
          <a:p>
            <a:r>
              <a:t>person it was made for.</a:t>
            </a:r>
          </a:p>
          <a:p/>
          <a:p>
            <a:r>
              <a:t>IF ASKED ABOUT THE NEGATIVE ONES</a:t>
            </a:r>
          </a:p>
          <a:p>
            <a:r>
              <a:t>Two are on the slide on purpose. "Data handling chapter" as an answer to what</a:t>
            </a:r>
          </a:p>
          <a:p>
            <a:r>
              <a:t>confused them is a content problem in a specific chapter and it is on the list</a:t>
            </a:r>
          </a:p>
          <a:p>
            <a:r>
              <a:t>to rewrite. "Please add a few more chapters" is the roadmap's top item arriving</a:t>
            </a:r>
          </a:p>
          <a:p>
            <a:r>
              <a:t>unprompted from a user.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VIDEO CANNOT BE PLAYED</a:t>
            </a:r>
          </a:p>
          <a:p>
            <a:r>
              <a:t>This slide is the demo. Four screens in the order a learner meets them, and the</a:t>
            </a:r>
          </a:p>
          <a:p>
            <a:r>
              <a:t>address to open it live. Nothing in the recording is on the video only.</a:t>
            </a:r>
          </a:p>
          <a:p/>
          <a:p>
            <a:r>
              <a:t>WHAT TO POINT AT WHILE IT PLAYS</a:t>
            </a:r>
          </a:p>
          <a:p>
            <a:r>
              <a:t>The order, not the features. Lesson, then practice on the same concept while it</a:t>
            </a:r>
          </a:p>
          <a:p>
            <a:r>
              <a:t>is still warm, then progress that the parent sees without an account. Every</a:t>
            </a:r>
          </a:p>
          <a:p>
            <a:r>
              <a:t>competitor has lessons and quizzes. The sequence is the product.</a:t>
            </a:r>
          </a:p>
          <a:p/>
          <a:p>
            <a:r>
              <a:t>WHY THE VOICE IS SYNTHETIC</a:t>
            </a:r>
          </a:p>
          <a:p>
            <a:r>
              <a:t>Two reasons and the second is the real one. It keeps the demo re-recordable</a:t>
            </a:r>
          </a:p>
          <a:p>
            <a:r>
              <a:t>when the product changes, and it means the Hindi version exists at all rather</a:t>
            </a:r>
          </a:p>
          <a:p>
            <a:r>
              <a:t>than waiting for someone to record it. The product's whole argument is that a</a:t>
            </a:r>
          </a:p>
          <a:p>
            <a:r>
              <a:t>learner should not have to work in their second language to get help, and a</a:t>
            </a:r>
          </a:p>
          <a:p>
            <a:r>
              <a:t>demo that is English-only would contradict that on the way out of the room.</a:t>
            </a:r>
          </a:p>
          <a:p/>
          <a:p>
            <a:r>
              <a:t>IF ASKED WHETHER IT IS A REAL RECORDING</a:t>
            </a:r>
          </a:p>
          <a:p>
            <a:r>
              <a:t>Yes. It is the running app on a phone, not a prototype and not a mock-up. Only</a:t>
            </a:r>
          </a:p>
          <a:p>
            <a:r>
              <a:t>the voice is generated.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SUMMARISE THE DECK</a:t>
            </a:r>
          </a:p>
          <a:p>
            <a:r>
              <a:t>They have just watched twenty five slides. Repeating them is the fastest way to</a:t>
            </a:r>
          </a:p>
          <a:p>
            <a:r>
              <a:t>lose the room in the last minute. This slide says one new thing: it is real,</a:t>
            </a:r>
          </a:p>
          <a:p>
            <a:r>
              <a:t>it is open now, and children have already used it.</a:t>
            </a:r>
          </a:p>
          <a:p/>
          <a:p>
            <a:r>
              <a:t>THE ONE INSTRUCTION</a:t>
            </a:r>
          </a:p>
          <a:p>
            <a:r>
              <a:t>"Open it on your phone and give it to a child." That is the ask. Not funding,</a:t>
            </a:r>
          </a:p>
          <a:p>
            <a:r>
              <a:t>not a pilot, not a follow-up meeting. Everything about this product is judged</a:t>
            </a:r>
          </a:p>
          <a:p>
            <a:r>
              <a:t>by whether a twelve-year-old can use it unaided, and the fastest way to find</a:t>
            </a:r>
          </a:p>
          <a:p>
            <a:r>
              <a:t>out is to hand a phone over. No download and no account stands between a judge</a:t>
            </a:r>
          </a:p>
          <a:p>
            <a:r>
              <a:t>and that test, which is the whole point of slide 23.</a:t>
            </a:r>
          </a:p>
          <a:p/>
          <a:p>
            <a:r>
              <a:t>THE FOUR NUMBERS ARE THE ONLY CLAIM</a:t>
            </a:r>
          </a:p>
          <a:p>
            <a:r>
              <a:t>30 learners, 133 lessons finished, 761 questions answered, 15 of 15 saying it</a:t>
            </a:r>
          </a:p>
          <a:p>
            <a:r>
              <a:t>helped them understand something. Every one is checkable in the product and</a:t>
            </a:r>
          </a:p>
          <a:p>
            <a:r>
              <a:t>none of them is a projection.</a:t>
            </a:r>
          </a:p>
          <a:p/>
          <a:p>
            <a:r>
              <a:t>IF THERE IS TIME FOR ONE LAST SENTENCE</a:t>
            </a:r>
          </a:p>
          <a:p>
            <a:r>
              <a:t>The mission is that every learner reaches their full potential whatever they</a:t>
            </a:r>
          </a:p>
          <a:p>
            <a:r>
              <a:t>can afford, wherever they start, however they learn. Four days does not deliver</a:t>
            </a:r>
          </a:p>
          <a:p>
            <a:r>
              <a:t>that. It delivers evidence that the shape of the answer is right.</a:t>
            </a:r>
          </a:p>
          <a:p/>
          <a:p>
            <a:r>
              <a:t>IF ASKED WHAT WE NEED</a:t>
            </a:r>
          </a:p>
          <a:p>
            <a:r>
              <a:t>Access, not money. Two or three classrooms in Hindi-medium government schools,</a:t>
            </a:r>
          </a:p>
          <a:p>
            <a:r>
              <a:t>and a teacher willing to tell us what breaks. Everything on the roadmap moves</a:t>
            </a:r>
          </a:p>
          <a:p>
            <a:r>
              <a:t>faster with real learners in front of it than with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whatever their family can pay.</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5980176"/>
            <a:ext cx="10509199" cy="256032"/>
          </a:xfrm>
          <a:prstGeom prst="rect">
            <a:avLst/>
          </a:prstGeom>
          <a:noFill/>
        </p:spPr>
        <p:txBody>
          <a:bodyPr wrap="square" lIns="0" rIns="0" tIns="0" bIns="0" anchor="t">
            <a:spAutoFit/>
          </a:bodyPr>
          <a:lstStyle/>
          <a:p>
            <a:pPr algn="l">
              <a:spcBef>
                <a:spcPts val="0"/>
              </a:spcBef>
              <a:spcAft>
                <a:spcPts val="0"/>
              </a:spcAft>
            </a:pPr>
            <a:r>
              <a:rPr sz="1100" b="1" i="0">
                <a:solidFill>
                  <a:srgbClr val="0F766E"/>
                </a:solidFill>
                <a:latin typeface="Arial"/>
              </a:rPr>
              <a:t>It is live right now, and free to open:  dagar-ap19.vercel.app</a:t>
            </a:r>
          </a:p>
        </p:txBody>
      </p:sp>
      <p:sp>
        <p:nvSpPr>
          <p:cNvPr id="24" name="TextBox 23"/>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5" name="TextBox 24"/>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500K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Half funded by institutions, half reached directly, of whom a small share subscribe.</a:t>
            </a:r>
          </a:p>
          <a:p>
            <a:pPr algn="l">
              <a:spcBef>
                <a:spcPts val="0"/>
              </a:spcBef>
              <a:spcAft>
                <a:spcPts val="0"/>
              </a:spcAft>
            </a:pPr>
            <a:r>
              <a:rPr sz="1100" b="1" i="0">
                <a:solidFill>
                  <a:srgbClr val="1A2733"/>
                </a:solidFill>
                <a:latin typeface="Arial"/>
              </a:rPr>
              <a:t>₹13 Cr  ·  $1.48M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is ever priced out of learning here.</a:t>
            </a:r>
          </a:p>
          <a:p>
            <a:pPr algn="l">
              <a:lnSpc>
                <a:spcPct val="124000"/>
              </a:lnSpc>
              <a:spcBef>
                <a:spcPts val="0"/>
              </a:spcBef>
              <a:spcAft>
                <a:spcPts val="0"/>
              </a:spcAft>
            </a:pPr>
            <a:r>
              <a:rPr sz="1000" b="0" i="0">
                <a:solidFill>
                  <a:srgbClr val="3F4A57"/>
                </a:solidFill>
                <a:latin typeface="Arial"/>
              </a:rPr>
              <a:t>Two routes to the same product. Institutions buy reach for learners who cannot pay, at ₹450 each. Families who can pay subscribe for depth and fund the rest. The core lessons stay free either way, and ₹450 is a floor set by cost: an active learner costs about ₹370 a year. Tiers on slide 24.</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36 questions learners have sent the tutor, 11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53 offers made, 3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38 learners used it. 19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52</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38</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16 of 19</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respondents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19 responses is not a market study, and the last quote is worth more than all the rest.</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18 of 19 said it helped them understand something, 16 would come back, a learner asked us to build the feature we already ship, and only 14 of 38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Joint loudest request, 8 of 19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Joint loudest too, 8 of 19.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11 of 36 tutor messages are about the screen. 14 of 38 have ever opened the tutor</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53 offers and 3 accepted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while we learn</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reading. It is a stage, not the model</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both sides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and Dagar Plus for families who can pay, tested in parallel rather than one after the other</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Live classes, then a mentor</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to a batch first, because that scales. One-to-one after, and only if the demand signal we collect today holds up</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install, and nothing in the way.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 Open it now: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52</a:t>
            </a:r>
          </a:p>
          <a:p>
            <a:pPr algn="l">
              <a:lnSpc>
                <a:spcPct val="115000"/>
              </a:lnSpc>
              <a:spcBef>
                <a:spcPts val="0"/>
              </a:spcBef>
              <a:spcAft>
                <a:spcPts val="300"/>
              </a:spcAft>
            </a:pPr>
            <a:r>
              <a:rPr sz="1100" b="1" i="0">
                <a:solidFill>
                  <a:srgbClr val="1A2733"/>
                </a:solidFill>
                <a:latin typeface="Arial"/>
              </a:rPr>
              <a:t>have joined</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24 · MONETISATION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Some pay. Some never will. Both get the same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lessons stay free for everyone. Institutions fund the learners who cannot pay, and families who can pay subscribe for more.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24</a:t>
            </a:r>
          </a:p>
        </p:txBody>
      </p:sp>
      <p:sp>
        <p:nvSpPr>
          <p:cNvPr id="8" name="Rounded Rectangle 7"/>
          <p:cNvSpPr/>
          <p:nvPr/>
        </p:nvSpPr>
        <p:spPr>
          <a:xfrm>
            <a:off x="566928"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FREE</a:t>
            </a:r>
          </a:p>
        </p:txBody>
      </p:sp>
      <p:sp>
        <p:nvSpPr>
          <p:cNvPr id="12" name="TextBox 11"/>
          <p:cNvSpPr txBox="1"/>
          <p:nvPr/>
        </p:nvSpPr>
        <p:spPr>
          <a:xfrm>
            <a:off x="713232"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₹0</a:t>
            </a:r>
          </a:p>
        </p:txBody>
      </p:sp>
      <p:sp>
        <p:nvSpPr>
          <p:cNvPr id="13" name="TextBox 12"/>
          <p:cNvSpPr txBox="1"/>
          <p:nvPr/>
        </p:nvSpPr>
        <p:spPr>
          <a:xfrm>
            <a:off x="713232"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The core, free for good: lessons, practice, quizzes, progress and the parent summary, tutor capped at 10 questions a day.</a:t>
            </a:r>
          </a:p>
        </p:txBody>
      </p:sp>
      <p:sp>
        <p:nvSpPr>
          <p:cNvPr id="14" name="Rounded Rectangle 13"/>
          <p:cNvSpPr/>
          <p:nvPr/>
        </p:nvSpPr>
        <p:spPr>
          <a:xfrm>
            <a:off x="2811414"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11414"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11414"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57718"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PLUS</a:t>
            </a:r>
          </a:p>
        </p:txBody>
      </p:sp>
      <p:sp>
        <p:nvSpPr>
          <p:cNvPr id="18" name="TextBox 17"/>
          <p:cNvSpPr txBox="1"/>
          <p:nvPr/>
        </p:nvSpPr>
        <p:spPr>
          <a:xfrm>
            <a:off x="2957718"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₹99 / mo</a:t>
            </a:r>
          </a:p>
        </p:txBody>
      </p:sp>
      <p:sp>
        <p:nvSpPr>
          <p:cNvPr id="19" name="TextBox 18"/>
          <p:cNvSpPr txBox="1"/>
          <p:nvPr/>
        </p:nvSpPr>
        <p:spPr>
          <a:xfrm>
            <a:off x="2957718"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Depth. Unlimited AI tutor, deeper adaptive practice, revision plans and fuller parent insight.</a:t>
            </a:r>
          </a:p>
        </p:txBody>
      </p:sp>
      <p:sp>
        <p:nvSpPr>
          <p:cNvPr id="20" name="Rounded Rectangle 19"/>
          <p:cNvSpPr/>
          <p:nvPr/>
        </p:nvSpPr>
        <p:spPr>
          <a:xfrm>
            <a:off x="5055900"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55900"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55900"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02204"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LIVE</a:t>
            </a:r>
          </a:p>
        </p:txBody>
      </p:sp>
      <p:sp>
        <p:nvSpPr>
          <p:cNvPr id="24" name="TextBox 23"/>
          <p:cNvSpPr txBox="1"/>
          <p:nvPr/>
        </p:nvSpPr>
        <p:spPr>
          <a:xfrm>
            <a:off x="5202204"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₹399 / mo</a:t>
            </a:r>
          </a:p>
        </p:txBody>
      </p:sp>
      <p:sp>
        <p:nvSpPr>
          <p:cNvPr id="25" name="TextBox 24"/>
          <p:cNvSpPr txBox="1"/>
          <p:nvPr/>
        </p:nvSpPr>
        <p:spPr>
          <a:xfrm>
            <a:off x="5202204"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Plus, and a teacher. Live cohort classes several times a week, one teacher explaining concepts to a batch, the model PhysicsWallah proved at scale.</a:t>
            </a:r>
          </a:p>
        </p:txBody>
      </p:sp>
      <p:sp>
        <p:nvSpPr>
          <p:cNvPr id="26" name="Rounded Rectangle 25"/>
          <p:cNvSpPr/>
          <p:nvPr/>
        </p:nvSpPr>
        <p:spPr>
          <a:xfrm>
            <a:off x="7300386"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00386"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00386" y="1883664"/>
            <a:ext cx="45720" cy="2066543"/>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6690"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ONE TO ONE</a:t>
            </a:r>
          </a:p>
        </p:txBody>
      </p:sp>
      <p:sp>
        <p:nvSpPr>
          <p:cNvPr id="30" name="TextBox 29"/>
          <p:cNvSpPr txBox="1"/>
          <p:nvPr/>
        </p:nvSpPr>
        <p:spPr>
          <a:xfrm>
            <a:off x="7446690"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₹1,499 / mo</a:t>
            </a:r>
          </a:p>
        </p:txBody>
      </p:sp>
      <p:sp>
        <p:nvSpPr>
          <p:cNvPr id="31" name="TextBox 30"/>
          <p:cNvSpPr txBox="1"/>
          <p:nvPr/>
        </p:nvSpPr>
        <p:spPr>
          <a:xfrm>
            <a:off x="7446690"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Live, and two private sessions a month. Priced at what a teacher's hour actually costs. Gated on verified supply.</a:t>
            </a:r>
          </a:p>
        </p:txBody>
      </p:sp>
      <p:sp>
        <p:nvSpPr>
          <p:cNvPr id="32" name="Rounded Rectangle 31"/>
          <p:cNvSpPr/>
          <p:nvPr/>
        </p:nvSpPr>
        <p:spPr>
          <a:xfrm>
            <a:off x="9544872"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544872"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44872" y="1883664"/>
            <a:ext cx="45720" cy="206654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91176"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INSTITUTIONS</a:t>
            </a:r>
          </a:p>
        </p:txBody>
      </p:sp>
      <p:sp>
        <p:nvSpPr>
          <p:cNvPr id="36" name="TextBox 35"/>
          <p:cNvSpPr txBox="1"/>
          <p:nvPr/>
        </p:nvSpPr>
        <p:spPr>
          <a:xfrm>
            <a:off x="9691176"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₹450–600 / yr</a:t>
            </a:r>
          </a:p>
        </p:txBody>
      </p:sp>
      <p:sp>
        <p:nvSpPr>
          <p:cNvPr id="37" name="TextBox 36"/>
          <p:cNvSpPr txBox="1"/>
          <p:nvPr/>
        </p:nvSpPr>
        <p:spPr>
          <a:xfrm>
            <a:off x="9691176"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Per learner. NGO, CSR and government licences, and they can fund one-to-one for the learners our struggle signals flag.</a:t>
            </a:r>
          </a:p>
        </p:txBody>
      </p:sp>
      <p:sp>
        <p:nvSpPr>
          <p:cNvPr id="38" name="Rounded Rectangle 37"/>
          <p:cNvSpPr/>
          <p:nvPr/>
        </p:nvSpPr>
        <p:spPr>
          <a:xfrm>
            <a:off x="566928"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Two routes, running in parallel</a:t>
            </a:r>
          </a:p>
          <a:p>
            <a:pPr algn="l">
              <a:lnSpc>
                <a:spcPct val="122000"/>
              </a:lnSpc>
              <a:spcBef>
                <a:spcPts val="0"/>
              </a:spcBef>
              <a:spcAft>
                <a:spcPts val="0"/>
              </a:spcAft>
            </a:pPr>
            <a:r>
              <a:rPr sz="950" b="0" i="0">
                <a:solidFill>
                  <a:srgbClr val="3F4A57"/>
                </a:solidFill>
                <a:latin typeface="Arial"/>
              </a:rPr>
              <a:t>Institutions buy reach for learners who cannot pay: CSR is mandated in India by Section 135 and already buys per beneficiary. Alongside that we sell directly to families in tier 2 and tier 3 cities who can find ₹99 a month but never ₹5,000 for a tutor.</a:t>
            </a:r>
          </a:p>
        </p:txBody>
      </p:sp>
      <p:sp>
        <p:nvSpPr>
          <p:cNvPr id="41" name="Rounded Rectangle 40"/>
          <p:cNvSpPr/>
          <p:nvPr/>
        </p:nvSpPr>
        <p:spPr>
          <a:xfrm>
            <a:off x="4319930"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319930"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5962"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of free users subscribing</a:t>
            </a:r>
          </a:p>
          <a:p>
            <a:pPr algn="l">
              <a:lnSpc>
                <a:spcPct val="122000"/>
              </a:lnSpc>
              <a:spcBef>
                <a:spcPts val="0"/>
              </a:spcBef>
              <a:spcAft>
                <a:spcPts val="0"/>
              </a:spcAft>
            </a:pPr>
            <a:r>
              <a:rPr sz="950" b="0" i="0">
                <a:solidFill>
                  <a:srgbClr val="3F4A57"/>
                </a:solidFill>
                <a:latin typeface="Arial"/>
              </a:rPr>
              <a:t>Indian edtech converts 2 to 5% on general learning and 8 to 15% on exam prep. Duolingo, whose daily habit loop we copied deliberately, reaches 8.9%. We model 4%: the top of the general band, well below the app we learned it from.</a:t>
            </a:r>
          </a:p>
        </p:txBody>
      </p:sp>
      <p:sp>
        <p:nvSpPr>
          <p:cNvPr id="44" name="Rounded Rectangle 43"/>
          <p:cNvSpPr/>
          <p:nvPr/>
        </p:nvSpPr>
        <p:spPr>
          <a:xfrm>
            <a:off x="8072932"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072932"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28964"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advertising, ever</a:t>
            </a:r>
          </a:p>
          <a:p>
            <a:pPr algn="l">
              <a:lnSpc>
                <a:spcPct val="122000"/>
              </a:lnSpc>
              <a:spcBef>
                <a:spcPts val="0"/>
              </a:spcBef>
              <a:spcAft>
                <a:spcPts val="0"/>
              </a:spcAft>
            </a:pPr>
            <a:r>
              <a:rPr sz="950" b="0" i="0">
                <a:solidFill>
                  <a:srgbClr val="3F4A57"/>
                </a:solidFill>
                <a:latin typeface="Arial"/>
              </a:rPr>
              <a:t>The DPDP Act 2023 forbids behavioural tracking and targeted advertising aimed at under-18s, so our marketing speaks to parents and never to children. The usual way a free product pays for itself is closed to us, and we would not want it open.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25 · IN THEIR WORDS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They told us it works, and what to fix.</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came from inside the product, from an account that had used it, spelling left as typed. Try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25</a:t>
            </a:r>
          </a:p>
        </p:txBody>
      </p:sp>
      <p:sp>
        <p:nvSpPr>
          <p:cNvPr id="8" name="TextBox 7"/>
          <p:cNvSpPr txBox="1"/>
          <p:nvPr/>
        </p:nvSpPr>
        <p:spPr>
          <a:xfrm>
            <a:off x="566928" y="1883664"/>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Did it help you understand something?</a:t>
            </a:r>
          </a:p>
        </p:txBody>
      </p:sp>
      <p:sp>
        <p:nvSpPr>
          <p:cNvPr id="9" name="TextBox 8"/>
          <p:cNvSpPr txBox="1"/>
          <p:nvPr/>
        </p:nvSpPr>
        <p:spPr>
          <a:xfrm>
            <a:off x="566928" y="2103120"/>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10" name="Rectangle 9"/>
          <p:cNvSpPr/>
          <p:nvPr/>
        </p:nvSpPr>
        <p:spPr>
          <a:xfrm>
            <a:off x="1755648" y="2144268"/>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55648" y="2144268"/>
            <a:ext cx="1431757"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093976"/>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17</a:t>
            </a:r>
          </a:p>
        </p:txBody>
      </p:sp>
      <p:sp>
        <p:nvSpPr>
          <p:cNvPr id="13" name="TextBox 12"/>
          <p:cNvSpPr txBox="1"/>
          <p:nvPr/>
        </p:nvSpPr>
        <p:spPr>
          <a:xfrm>
            <a:off x="566928" y="23408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A bit</a:t>
            </a:r>
          </a:p>
        </p:txBody>
      </p:sp>
      <p:sp>
        <p:nvSpPr>
          <p:cNvPr id="14" name="Rectangle 13"/>
          <p:cNvSpPr/>
          <p:nvPr/>
        </p:nvSpPr>
        <p:spPr>
          <a:xfrm>
            <a:off x="1755648" y="23820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55648" y="2382011"/>
            <a:ext cx="84221"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19856" y="23317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17" name="TextBox 16"/>
          <p:cNvSpPr txBox="1"/>
          <p:nvPr/>
        </p:nvSpPr>
        <p:spPr>
          <a:xfrm>
            <a:off x="566928" y="25786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18" name="Rectangle 17"/>
          <p:cNvSpPr/>
          <p:nvPr/>
        </p:nvSpPr>
        <p:spPr>
          <a:xfrm>
            <a:off x="1755648" y="26197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755648" y="2619755"/>
            <a:ext cx="84221"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9856" y="25694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21" name="TextBox 20"/>
          <p:cNvSpPr txBox="1"/>
          <p:nvPr/>
        </p:nvSpPr>
        <p:spPr>
          <a:xfrm>
            <a:off x="566928" y="30358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Would you use Dagar again?</a:t>
            </a:r>
          </a:p>
        </p:txBody>
      </p:sp>
      <p:sp>
        <p:nvSpPr>
          <p:cNvPr id="22" name="TextBox 21"/>
          <p:cNvSpPr txBox="1"/>
          <p:nvPr/>
        </p:nvSpPr>
        <p:spPr>
          <a:xfrm>
            <a:off x="566928" y="32552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23" name="Rectangle 22"/>
          <p:cNvSpPr/>
          <p:nvPr/>
        </p:nvSpPr>
        <p:spPr>
          <a:xfrm>
            <a:off x="1755648" y="32964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755648" y="3296411"/>
            <a:ext cx="1347536"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19856" y="32461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16</a:t>
            </a:r>
          </a:p>
        </p:txBody>
      </p:sp>
      <p:sp>
        <p:nvSpPr>
          <p:cNvPr id="26" name="TextBox 25"/>
          <p:cNvSpPr txBox="1"/>
          <p:nvPr/>
        </p:nvSpPr>
        <p:spPr>
          <a:xfrm>
            <a:off x="566928" y="34930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Maybe</a:t>
            </a:r>
          </a:p>
        </p:txBody>
      </p:sp>
      <p:sp>
        <p:nvSpPr>
          <p:cNvPr id="27" name="Rectangle 26"/>
          <p:cNvSpPr/>
          <p:nvPr/>
        </p:nvSpPr>
        <p:spPr>
          <a:xfrm>
            <a:off x="1755648" y="35341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755648" y="3534155"/>
            <a:ext cx="84221"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19856" y="34838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30" name="TextBox 29"/>
          <p:cNvSpPr txBox="1"/>
          <p:nvPr/>
        </p:nvSpPr>
        <p:spPr>
          <a:xfrm>
            <a:off x="566928" y="37307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31" name="Rectangle 30"/>
          <p:cNvSpPr/>
          <p:nvPr/>
        </p:nvSpPr>
        <p:spPr>
          <a:xfrm>
            <a:off x="1755648" y="37718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55648" y="3771899"/>
            <a:ext cx="168442"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19856" y="37216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2</a:t>
            </a:r>
          </a:p>
        </p:txBody>
      </p:sp>
      <p:sp>
        <p:nvSpPr>
          <p:cNvPr id="34" name="TextBox 33"/>
          <p:cNvSpPr txBox="1"/>
          <p:nvPr/>
        </p:nvSpPr>
        <p:spPr>
          <a:xfrm>
            <a:off x="566928" y="4187951"/>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If we could do only ONE more thing</a:t>
            </a:r>
          </a:p>
        </p:txBody>
      </p:sp>
      <p:sp>
        <p:nvSpPr>
          <p:cNvPr id="35" name="TextBox 34"/>
          <p:cNvSpPr txBox="1"/>
          <p:nvPr/>
        </p:nvSpPr>
        <p:spPr>
          <a:xfrm>
            <a:off x="566928" y="44074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practice</a:t>
            </a:r>
          </a:p>
        </p:txBody>
      </p:sp>
      <p:sp>
        <p:nvSpPr>
          <p:cNvPr id="36" name="Rectangle 35"/>
          <p:cNvSpPr/>
          <p:nvPr/>
        </p:nvSpPr>
        <p:spPr>
          <a:xfrm>
            <a:off x="1755648" y="44485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755648" y="4448555"/>
            <a:ext cx="673768"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419856" y="4398264"/>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8</a:t>
            </a:r>
          </a:p>
        </p:txBody>
      </p:sp>
      <p:sp>
        <p:nvSpPr>
          <p:cNvPr id="39" name="TextBox 38"/>
          <p:cNvSpPr txBox="1"/>
          <p:nvPr/>
        </p:nvSpPr>
        <p:spPr>
          <a:xfrm>
            <a:off x="566928" y="46451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chapters</a:t>
            </a:r>
          </a:p>
        </p:txBody>
      </p:sp>
      <p:sp>
        <p:nvSpPr>
          <p:cNvPr id="40" name="Rectangle 39"/>
          <p:cNvSpPr/>
          <p:nvPr/>
        </p:nvSpPr>
        <p:spPr>
          <a:xfrm>
            <a:off x="1755648" y="46862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755648" y="4686299"/>
            <a:ext cx="673768"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19856" y="46360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8</a:t>
            </a:r>
          </a:p>
        </p:txBody>
      </p:sp>
      <p:sp>
        <p:nvSpPr>
          <p:cNvPr id="43" name="TextBox 42"/>
          <p:cNvSpPr txBox="1"/>
          <p:nvPr/>
        </p:nvSpPr>
        <p:spPr>
          <a:xfrm>
            <a:off x="566928" y="4882895"/>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Something else</a:t>
            </a:r>
          </a:p>
        </p:txBody>
      </p:sp>
      <p:sp>
        <p:nvSpPr>
          <p:cNvPr id="44" name="Rectangle 43"/>
          <p:cNvSpPr/>
          <p:nvPr/>
        </p:nvSpPr>
        <p:spPr>
          <a:xfrm>
            <a:off x="1755648" y="4924043"/>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755648" y="4924043"/>
            <a:ext cx="168442"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19856" y="4873751"/>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2</a:t>
            </a:r>
          </a:p>
        </p:txBody>
      </p:sp>
      <p:sp>
        <p:nvSpPr>
          <p:cNvPr id="47" name="TextBox 46"/>
          <p:cNvSpPr txBox="1"/>
          <p:nvPr/>
        </p:nvSpPr>
        <p:spPr>
          <a:xfrm>
            <a:off x="566928" y="5120639"/>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The tutor</a:t>
            </a:r>
          </a:p>
        </p:txBody>
      </p:sp>
      <p:sp>
        <p:nvSpPr>
          <p:cNvPr id="48" name="Rectangle 47"/>
          <p:cNvSpPr/>
          <p:nvPr/>
        </p:nvSpPr>
        <p:spPr>
          <a:xfrm>
            <a:off x="1755648" y="5161787"/>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755648" y="5161787"/>
            <a:ext cx="84221"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19856" y="5111495"/>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51" name="Rounded Rectangle 50"/>
          <p:cNvSpPr/>
          <p:nvPr/>
        </p:nvSpPr>
        <p:spPr>
          <a:xfrm>
            <a:off x="4087368"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087368"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251959"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PARENT</a:t>
            </a:r>
          </a:p>
        </p:txBody>
      </p:sp>
      <p:sp>
        <p:nvSpPr>
          <p:cNvPr id="54" name="TextBox 53"/>
          <p:cNvSpPr txBox="1"/>
          <p:nvPr/>
        </p:nvSpPr>
        <p:spPr>
          <a:xfrm>
            <a:off x="4251959"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“It feels like having a patient math tutor in my pocket 24/7.”</a:t>
            </a:r>
          </a:p>
        </p:txBody>
      </p:sp>
      <p:sp>
        <p:nvSpPr>
          <p:cNvPr id="55" name="Rounded Rectangle 54"/>
          <p:cNvSpPr/>
          <p:nvPr/>
        </p:nvSpPr>
        <p:spPr>
          <a:xfrm>
            <a:off x="7956651"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956651"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21243"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58" name="TextBox 57"/>
          <p:cNvSpPr txBox="1"/>
          <p:nvPr/>
        </p:nvSpPr>
        <p:spPr>
          <a:xfrm>
            <a:off x="8121243"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“The way it engages with us to making learning simpler.”</a:t>
            </a:r>
          </a:p>
        </p:txBody>
      </p:sp>
      <p:sp>
        <p:nvSpPr>
          <p:cNvPr id="59" name="Rounded Rectangle 58"/>
          <p:cNvSpPr/>
          <p:nvPr/>
        </p:nvSpPr>
        <p:spPr>
          <a:xfrm>
            <a:off x="4087368"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087368"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51959"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OTHER</a:t>
            </a:r>
          </a:p>
        </p:txBody>
      </p:sp>
      <p:sp>
        <p:nvSpPr>
          <p:cNvPr id="62" name="TextBox 61"/>
          <p:cNvSpPr txBox="1"/>
          <p:nvPr/>
        </p:nvSpPr>
        <p:spPr>
          <a:xfrm>
            <a:off x="4251959"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“Dagar ka concept kaafi accha laga. Lessons simple aur easy to understand hain, aur practice questions bhi helpful hain. Hindi/English dono m h.”</a:t>
            </a:r>
          </a:p>
        </p:txBody>
      </p:sp>
      <p:sp>
        <p:nvSpPr>
          <p:cNvPr id="63" name="Rounded Rectangle 62"/>
          <p:cNvSpPr/>
          <p:nvPr/>
        </p:nvSpPr>
        <p:spPr>
          <a:xfrm>
            <a:off x="7956651"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956651"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121243"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66" name="TextBox 65"/>
          <p:cNvSpPr txBox="1"/>
          <p:nvPr/>
        </p:nvSpPr>
        <p:spPr>
          <a:xfrm>
            <a:off x="8121243"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“Explanation is very important. … Now this app is like practice paper. It can help students to practice more and make it in fun way.”</a:t>
            </a:r>
          </a:p>
        </p:txBody>
      </p:sp>
      <p:sp>
        <p:nvSpPr>
          <p:cNvPr id="67" name="Rounded Rectangle 66"/>
          <p:cNvSpPr/>
          <p:nvPr/>
        </p:nvSpPr>
        <p:spPr>
          <a:xfrm>
            <a:off x="4087368"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087368"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251959"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OTHER</a:t>
            </a:r>
          </a:p>
        </p:txBody>
      </p:sp>
      <p:sp>
        <p:nvSpPr>
          <p:cNvPr id="70" name="TextBox 69"/>
          <p:cNvSpPr txBox="1"/>
          <p:nvPr/>
        </p:nvSpPr>
        <p:spPr>
          <a:xfrm>
            <a:off x="4251959"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“Okay, but please add a few more chapters along with some additional practice questions.”</a:t>
            </a:r>
          </a:p>
        </p:txBody>
      </p:sp>
      <p:sp>
        <p:nvSpPr>
          <p:cNvPr id="71" name="Rounded Rectangle 70"/>
          <p:cNvSpPr/>
          <p:nvPr/>
        </p:nvSpPr>
        <p:spPr>
          <a:xfrm>
            <a:off x="7956651"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7956651"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121243"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STUDENT</a:t>
            </a:r>
          </a:p>
        </p:txBody>
      </p:sp>
      <p:sp>
        <p:nvSpPr>
          <p:cNvPr id="74" name="TextBox 73"/>
          <p:cNvSpPr txBox="1"/>
          <p:nvPr/>
        </p:nvSpPr>
        <p:spPr>
          <a:xfrm>
            <a:off x="8121243"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Asked what confused them, one answer was two words: “Data handling chapter.”</a:t>
            </a:r>
          </a:p>
        </p:txBody>
      </p:sp>
      <p:sp>
        <p:nvSpPr>
          <p:cNvPr id="75" name="Rounded Rectangle 74"/>
          <p:cNvSpPr/>
          <p:nvPr/>
        </p:nvSpPr>
        <p:spPr>
          <a:xfrm>
            <a:off x="566928" y="5431536"/>
            <a:ext cx="11057839" cy="8412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66928" y="5577840"/>
            <a:ext cx="54864" cy="5486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77824" y="5541264"/>
            <a:ext cx="10417759" cy="658368"/>
          </a:xfrm>
          <a:prstGeom prst="rect">
            <a:avLst/>
          </a:prstGeom>
          <a:noFill/>
        </p:spPr>
        <p:txBody>
          <a:bodyPr wrap="square" lIns="0" rIns="0" tIns="0" bIns="0" anchor="t">
            <a:spAutoFit/>
          </a:bodyPr>
          <a:lstStyle/>
          <a:p>
            <a:pPr algn="l">
              <a:spcBef>
                <a:spcPts val="0"/>
              </a:spcBef>
              <a:spcAft>
                <a:spcPts val="300"/>
              </a:spcAft>
            </a:pPr>
            <a:r>
              <a:rPr sz="1200" b="1" i="0">
                <a:solidFill>
                  <a:srgbClr val="1A2733"/>
                </a:solidFill>
                <a:latin typeface="Arial"/>
              </a:rPr>
              <a:t>18 of 19 said it helped them understand something.</a:t>
            </a:r>
          </a:p>
          <a:p>
            <a:pPr algn="l">
              <a:lnSpc>
                <a:spcPct val="124000"/>
              </a:lnSpc>
              <a:spcBef>
                <a:spcPts val="0"/>
              </a:spcBef>
              <a:spcAft>
                <a:spcPts val="0"/>
              </a:spcAft>
            </a:pPr>
            <a:r>
              <a:rPr sz="1000" b="0" i="0">
                <a:solidFill>
                  <a:srgbClr val="3F4A57"/>
                </a:solidFill>
                <a:latin typeface="Arial"/>
              </a:rPr>
              <a:t>16 would come back. And the loudest request was simply more of it: practice and chapters, tied.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26 · DEMO</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Five minutes, one learner's evening.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recording runs the loop end to end, from choosing a language to a finished lesson, narrated in English and in Hindi. Or open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26</a:t>
            </a:r>
          </a:p>
        </p:txBody>
      </p:sp>
      <p:pic>
        <p:nvPicPr>
          <p:cNvPr id="8" name="Picture 7" descr="dashboard-en.png"/>
          <p:cNvPicPr>
            <a:picLocks noChangeAspect="1"/>
          </p:cNvPicPr>
          <p:nvPr/>
        </p:nvPicPr>
        <p:blipFill>
          <a:blip r:embed="rId2"/>
          <a:stretch>
            <a:fillRect/>
          </a:stretch>
        </p:blipFill>
        <p:spPr>
          <a:xfrm>
            <a:off x="1381748" y="1883664"/>
            <a:ext cx="1134818" cy="2395728"/>
          </a:xfrm>
          <a:prstGeom prst="rect">
            <a:avLst/>
          </a:prstGeom>
        </p:spPr>
      </p:pic>
      <p:sp>
        <p:nvSpPr>
          <p:cNvPr id="9" name="TextBox 8"/>
          <p:cNvSpPr txBox="1"/>
          <p:nvPr/>
        </p:nvSpPr>
        <p:spPr>
          <a:xfrm>
            <a:off x="658368"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1 · She opens it</a:t>
            </a:r>
          </a:p>
        </p:txBody>
      </p:sp>
      <p:sp>
        <p:nvSpPr>
          <p:cNvPr id="10" name="TextBox 9"/>
          <p:cNvSpPr txBox="1"/>
          <p:nvPr/>
        </p:nvSpPr>
        <p:spPr>
          <a:xfrm>
            <a:off x="658368"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thing to do next, a streak, and a goal she can finish tonight.</a:t>
            </a:r>
          </a:p>
        </p:txBody>
      </p:sp>
      <p:pic>
        <p:nvPicPr>
          <p:cNvPr id="11" name="Picture 10" descr="lesson-step.png"/>
          <p:cNvPicPr>
            <a:picLocks noChangeAspect="1"/>
          </p:cNvPicPr>
          <p:nvPr/>
        </p:nvPicPr>
        <p:blipFill>
          <a:blip r:embed="rId3"/>
          <a:stretch>
            <a:fillRect/>
          </a:stretch>
        </p:blipFill>
        <p:spPr>
          <a:xfrm>
            <a:off x="4146208" y="1883664"/>
            <a:ext cx="1134818" cy="2395728"/>
          </a:xfrm>
          <a:prstGeom prst="rect">
            <a:avLst/>
          </a:prstGeom>
        </p:spPr>
      </p:pic>
      <p:sp>
        <p:nvSpPr>
          <p:cNvPr id="12" name="TextBox 11"/>
          <p:cNvSpPr txBox="1"/>
          <p:nvPr/>
        </p:nvSpPr>
        <p:spPr>
          <a:xfrm>
            <a:off x="342282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2 · A lesson she answers</a:t>
            </a:r>
          </a:p>
        </p:txBody>
      </p:sp>
      <p:sp>
        <p:nvSpPr>
          <p:cNvPr id="13" name="TextBox 12"/>
          <p:cNvSpPr txBox="1"/>
          <p:nvPr/>
        </p:nvSpPr>
        <p:spPr>
          <a:xfrm>
            <a:off x="342282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idea per screen, a real diagram, and a hint before any answer.</a:t>
            </a:r>
          </a:p>
        </p:txBody>
      </p:sp>
      <p:pic>
        <p:nvPicPr>
          <p:cNvPr id="14" name="Picture 13" descr="practice-tiles.png"/>
          <p:cNvPicPr>
            <a:picLocks noChangeAspect="1"/>
          </p:cNvPicPr>
          <p:nvPr/>
        </p:nvPicPr>
        <p:blipFill>
          <a:blip r:embed="rId4"/>
          <a:stretch>
            <a:fillRect/>
          </a:stretch>
        </p:blipFill>
        <p:spPr>
          <a:xfrm>
            <a:off x="6910668" y="1883664"/>
            <a:ext cx="1134818" cy="2395728"/>
          </a:xfrm>
          <a:prstGeom prst="rect">
            <a:avLst/>
          </a:prstGeom>
        </p:spPr>
      </p:pic>
      <p:sp>
        <p:nvSpPr>
          <p:cNvPr id="15" name="TextBox 14"/>
          <p:cNvSpPr txBox="1"/>
          <p:nvPr/>
        </p:nvSpPr>
        <p:spPr>
          <a:xfrm>
            <a:off x="618728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3 · Practice while it is warm</a:t>
            </a:r>
          </a:p>
        </p:txBody>
      </p:sp>
      <p:sp>
        <p:nvSpPr>
          <p:cNvPr id="16" name="TextBox 15"/>
          <p:cNvSpPr txBox="1"/>
          <p:nvPr/>
        </p:nvSpPr>
        <p:spPr>
          <a:xfrm>
            <a:off x="618728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Graded by code, not by AI. Wrong is amber, and it comes with a way forward.</a:t>
            </a:r>
          </a:p>
        </p:txBody>
      </p:sp>
      <p:pic>
        <p:nvPicPr>
          <p:cNvPr id="17" name="Picture 16" descr="progress-en.png"/>
          <p:cNvPicPr>
            <a:picLocks noChangeAspect="1"/>
          </p:cNvPicPr>
          <p:nvPr/>
        </p:nvPicPr>
        <p:blipFill>
          <a:blip r:embed="rId5"/>
          <a:stretch>
            <a:fillRect/>
          </a:stretch>
        </p:blipFill>
        <p:spPr>
          <a:xfrm>
            <a:off x="9675128" y="1883664"/>
            <a:ext cx="1134818" cy="2395728"/>
          </a:xfrm>
          <a:prstGeom prst="rect">
            <a:avLst/>
          </a:prstGeom>
        </p:spPr>
      </p:pic>
      <p:sp>
        <p:nvSpPr>
          <p:cNvPr id="18" name="TextBox 17"/>
          <p:cNvSpPr txBox="1"/>
          <p:nvPr/>
        </p:nvSpPr>
        <p:spPr>
          <a:xfrm>
            <a:off x="895174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4 · Progress she can see</a:t>
            </a:r>
          </a:p>
        </p:txBody>
      </p:sp>
      <p:sp>
        <p:nvSpPr>
          <p:cNvPr id="19" name="TextBox 18"/>
          <p:cNvSpPr txBox="1"/>
          <p:nvPr/>
        </p:nvSpPr>
        <p:spPr>
          <a:xfrm>
            <a:off x="895174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Mastery per concept, the week, and the same numbers her parent sees.</a:t>
            </a:r>
          </a:p>
        </p:txBody>
      </p:sp>
      <p:sp>
        <p:nvSpPr>
          <p:cNvPr id="20" name="Rounded Rectangle 19"/>
          <p:cNvSpPr/>
          <p:nvPr/>
        </p:nvSpPr>
        <p:spPr>
          <a:xfrm>
            <a:off x="566928" y="5212079"/>
            <a:ext cx="11057839" cy="78638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49240"/>
            <a:ext cx="54864" cy="5120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Watch in English</a:t>
            </a:r>
          </a:p>
        </p:txBody>
      </p:sp>
      <p:sp>
        <p:nvSpPr>
          <p:cNvPr id="23" name="TextBox 22"/>
          <p:cNvSpPr txBox="1"/>
          <p:nvPr/>
        </p:nvSpPr>
        <p:spPr>
          <a:xfrm>
            <a:off x="877824"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dagar-ap19.vercel.app/demo-en.mp4</a:t>
            </a:r>
          </a:p>
        </p:txBody>
      </p:sp>
      <p:sp>
        <p:nvSpPr>
          <p:cNvPr id="24" name="TextBox 23"/>
          <p:cNvSpPr txBox="1"/>
          <p:nvPr/>
        </p:nvSpPr>
        <p:spPr>
          <a:xfrm>
            <a:off x="6406743"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हिंदी में देखिए</a:t>
            </a:r>
          </a:p>
        </p:txBody>
      </p:sp>
      <p:sp>
        <p:nvSpPr>
          <p:cNvPr id="25" name="TextBox 24"/>
          <p:cNvSpPr txBox="1"/>
          <p:nvPr/>
        </p:nvSpPr>
        <p:spPr>
          <a:xfrm>
            <a:off x="6406743"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dagar-ap19.vercel.app/demo-hi.mp4</a:t>
            </a:r>
          </a:p>
        </p:txBody>
      </p:sp>
      <p:sp>
        <p:nvSpPr>
          <p:cNvPr id="26" name="TextBox 25"/>
          <p:cNvSpPr txBox="1"/>
          <p:nvPr/>
        </p:nvSpPr>
        <p:spPr>
          <a:xfrm>
            <a:off x="877824" y="5760719"/>
            <a:ext cx="10417759" cy="219456"/>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Short of time, play it at 1.5x. The narration is generated, in both languages, on purpose.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27 · THE ASK</a:t>
            </a:r>
          </a:p>
        </p:txBody>
      </p:sp>
      <p:sp>
        <p:nvSpPr>
          <p:cNvPr id="4" name="TextBox 3"/>
          <p:cNvSpPr txBox="1"/>
          <p:nvPr/>
        </p:nvSpPr>
        <p:spPr>
          <a:xfrm>
            <a:off x="566928" y="1097280"/>
            <a:ext cx="10509199" cy="1463040"/>
          </a:xfrm>
          <a:prstGeom prst="rect">
            <a:avLst/>
          </a:prstGeom>
          <a:noFill/>
        </p:spPr>
        <p:txBody>
          <a:bodyPr wrap="square" lIns="0" rIns="0" tIns="0" bIns="0" anchor="t">
            <a:spAutoFit/>
          </a:bodyPr>
          <a:lstStyle/>
          <a:p>
            <a:pPr algn="l">
              <a:lnSpc>
                <a:spcPct val="108000"/>
              </a:lnSpc>
              <a:spcBef>
                <a:spcPts val="0"/>
              </a:spcBef>
              <a:spcAft>
                <a:spcPts val="800"/>
              </a:spcAft>
            </a:pPr>
            <a:r>
              <a:rPr sz="3400" b="1" i="0">
                <a:solidFill>
                  <a:srgbClr val="1A2733"/>
                </a:solidFill>
                <a:latin typeface="Arial"/>
              </a:rPr>
              <a:t>It is not a prototype.</a:t>
            </a:r>
          </a:p>
          <a:p>
            <a:pPr algn="l">
              <a:lnSpc>
                <a:spcPct val="108000"/>
              </a:lnSpc>
              <a:spcBef>
                <a:spcPts val="0"/>
              </a:spcBef>
              <a:spcAft>
                <a:spcPts val="0"/>
              </a:spcAft>
            </a:pPr>
            <a:r>
              <a:rPr sz="3400" b="1" i="0">
                <a:solidFill>
                  <a:srgbClr val="0F766E"/>
                </a:solidFill>
                <a:latin typeface="Arial"/>
              </a:rPr>
              <a:t>Open it on your phone and give it to a child.</a:t>
            </a:r>
          </a:p>
        </p:txBody>
      </p:sp>
      <p:sp>
        <p:nvSpPr>
          <p:cNvPr id="5" name="TextBox 4"/>
          <p:cNvSpPr txBox="1"/>
          <p:nvPr/>
        </p:nvSpPr>
        <p:spPr>
          <a:xfrm>
            <a:off x="566928" y="2542032"/>
            <a:ext cx="10509199" cy="457200"/>
          </a:xfrm>
          <a:prstGeom prst="rect">
            <a:avLst/>
          </a:prstGeom>
          <a:noFill/>
        </p:spPr>
        <p:txBody>
          <a:bodyPr wrap="square" lIns="0" rIns="0" tIns="0" bIns="0" anchor="t">
            <a:spAutoFit/>
          </a:bodyPr>
          <a:lstStyle/>
          <a:p>
            <a:pPr algn="l">
              <a:spcBef>
                <a:spcPts val="0"/>
              </a:spcBef>
              <a:spcAft>
                <a:spcPts val="0"/>
              </a:spcAft>
            </a:pPr>
            <a:r>
              <a:rPr sz="1500" b="0" i="0">
                <a:solidFill>
                  <a:srgbClr val="5B6673"/>
                </a:solidFill>
                <a:latin typeface="Arial"/>
              </a:rPr>
              <a:t>dagar-ap19.vercel.app   ·   no download, no account for parents, free to try</a:t>
            </a:r>
          </a:p>
        </p:txBody>
      </p:sp>
      <p:sp>
        <p:nvSpPr>
          <p:cNvPr id="6" name="Rounded Rectangle 5"/>
          <p:cNvSpPr/>
          <p:nvPr/>
        </p:nvSpPr>
        <p:spPr>
          <a:xfrm>
            <a:off x="566928"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38</a:t>
            </a:r>
          </a:p>
          <a:p>
            <a:pPr algn="l">
              <a:lnSpc>
                <a:spcPct val="115000"/>
              </a:lnSpc>
              <a:spcBef>
                <a:spcPts val="0"/>
              </a:spcBef>
              <a:spcAft>
                <a:spcPts val="300"/>
              </a:spcAft>
            </a:pPr>
            <a:r>
              <a:rPr sz="1100" b="1" i="0">
                <a:solidFill>
                  <a:srgbClr val="1A2733"/>
                </a:solidFill>
                <a:latin typeface="Arial"/>
              </a:rPr>
              <a:t>learners, real ones</a:t>
            </a:r>
          </a:p>
        </p:txBody>
      </p:sp>
      <p:sp>
        <p:nvSpPr>
          <p:cNvPr id="8" name="Rounded Rectangle 7"/>
          <p:cNvSpPr/>
          <p:nvPr/>
        </p:nvSpPr>
        <p:spPr>
          <a:xfrm>
            <a:off x="281543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5318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166</a:t>
            </a:r>
          </a:p>
          <a:p>
            <a:pPr algn="l">
              <a:lnSpc>
                <a:spcPct val="115000"/>
              </a:lnSpc>
              <a:spcBef>
                <a:spcPts val="0"/>
              </a:spcBef>
              <a:spcAft>
                <a:spcPts val="300"/>
              </a:spcAft>
            </a:pPr>
            <a:r>
              <a:rPr sz="1100" b="1" i="0">
                <a:solidFill>
                  <a:srgbClr val="1A2733"/>
                </a:solidFill>
                <a:latin typeface="Arial"/>
              </a:rPr>
              <a:t>lessons finished</a:t>
            </a:r>
          </a:p>
        </p:txBody>
      </p:sp>
      <p:sp>
        <p:nvSpPr>
          <p:cNvPr id="10" name="Rounded Rectangle 9"/>
          <p:cNvSpPr/>
          <p:nvPr/>
        </p:nvSpPr>
        <p:spPr>
          <a:xfrm>
            <a:off x="506394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169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1,069</a:t>
            </a:r>
          </a:p>
          <a:p>
            <a:pPr algn="l">
              <a:lnSpc>
                <a:spcPct val="115000"/>
              </a:lnSpc>
              <a:spcBef>
                <a:spcPts val="0"/>
              </a:spcBef>
              <a:spcAft>
                <a:spcPts val="300"/>
              </a:spcAft>
            </a:pPr>
            <a:r>
              <a:rPr sz="1100" b="1" i="0">
                <a:solidFill>
                  <a:srgbClr val="1A2733"/>
                </a:solidFill>
                <a:latin typeface="Arial"/>
              </a:rPr>
              <a:t>questions answered</a:t>
            </a:r>
          </a:p>
        </p:txBody>
      </p:sp>
      <p:sp>
        <p:nvSpPr>
          <p:cNvPr id="12" name="Rounded Rectangle 11"/>
          <p:cNvSpPr/>
          <p:nvPr/>
        </p:nvSpPr>
        <p:spPr>
          <a:xfrm>
            <a:off x="7312456"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50200"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 of 19</a:t>
            </a:r>
          </a:p>
          <a:p>
            <a:pPr algn="l">
              <a:lnSpc>
                <a:spcPct val="115000"/>
              </a:lnSpc>
              <a:spcBef>
                <a:spcPts val="0"/>
              </a:spcBef>
              <a:spcAft>
                <a:spcPts val="300"/>
              </a:spcAft>
            </a:pPr>
            <a:r>
              <a:rPr sz="1100" b="1" i="0">
                <a:solidFill>
                  <a:srgbClr val="1A2733"/>
                </a:solidFill>
                <a:latin typeface="Arial"/>
              </a:rPr>
              <a:t>said it helped</a:t>
            </a:r>
          </a:p>
        </p:txBody>
      </p:sp>
      <p:sp>
        <p:nvSpPr>
          <p:cNvPr id="14" name="Rounded Rectangle 13"/>
          <p:cNvSpPr/>
          <p:nvPr/>
        </p:nvSpPr>
        <p:spPr>
          <a:xfrm>
            <a:off x="566928" y="4462272"/>
            <a:ext cx="11057839" cy="137160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81728"/>
            <a:ext cx="54864" cy="9326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645152"/>
            <a:ext cx="10417759" cy="1042415"/>
          </a:xfrm>
          <a:prstGeom prst="rect">
            <a:avLst/>
          </a:prstGeom>
          <a:noFill/>
        </p:spPr>
        <p:txBody>
          <a:bodyPr wrap="square" lIns="0" rIns="0" tIns="0" bIns="0" anchor="t">
            <a:spAutoFit/>
          </a:bodyPr>
          <a:lstStyle/>
          <a:p>
            <a:pPr algn="l">
              <a:spcBef>
                <a:spcPts val="0"/>
              </a:spcBef>
              <a:spcAft>
                <a:spcPts val="600"/>
              </a:spcAft>
            </a:pPr>
            <a:r>
              <a:rPr sz="1500" b="1" i="0">
                <a:solidFill>
                  <a:srgbClr val="1A2733"/>
                </a:solidFill>
                <a:latin typeface="Arial"/>
              </a:rPr>
              <a:t>Every learner deserves a guide. Most never get one.</a:t>
            </a:r>
          </a:p>
          <a:p>
            <a:pPr algn="l">
              <a:lnSpc>
                <a:spcPct val="130000"/>
              </a:lnSpc>
              <a:spcBef>
                <a:spcPts val="0"/>
              </a:spcBef>
              <a:spcAft>
                <a:spcPts val="0"/>
              </a:spcAft>
            </a:pPr>
            <a:r>
              <a:rPr sz="1150" b="0" i="0">
                <a:solidFill>
                  <a:srgbClr val="3F4A57"/>
                </a:solidFill>
                <a:latin typeface="Arial"/>
              </a:rPr>
              <a:t>The learners we built this for are the ones a stretched classroom cannot reach: behind in mathematics, studying in Hindi, on a phone they share, in families who cannot buy the tuition that would fix it. Four days does not solve that. It was enough to show that a tutor which knows their exact lesson, answers in their language and costs them nothing is buildable, and that when you put it in front of 38 of them, they use it.</a:t>
            </a:r>
          </a:p>
        </p:txBody>
      </p:sp>
      <p:sp>
        <p:nvSpPr>
          <p:cNvPr id="17" name="TextBox 16"/>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18" name="TextBox 17"/>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