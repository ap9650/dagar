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WHY MORE CHAPTERS IS THIRD</a:t>
            </a:r>
          </a:p>
          <a:p>
            <a:r>
              <a:t>It has the highest Confidence on the board at 9, because 7 of 15 asked for it</a:t>
            </a:r>
          </a:p>
          <a:p>
            <a:r>
              <a:t>in a forced choice. It is third on Ease: authoring a chapter is not the slow</a:t>
            </a:r>
          </a:p>
          <a:p>
            <a:r>
              <a:t>part, verifying every answer key is, and a wrong key teaches a child they are</a:t>
            </a:r>
          </a:p>
          <a:p>
            <a:r>
              <a:t>wrong when they are right. We would rather have three chapters we trust than</a:t>
            </a:r>
          </a:p>
          <a:p>
            <a:r>
              <a:t>six we hope about.</a:t>
            </a:r>
          </a:p>
          <a:p/>
          <a:p>
            <a:r>
              <a:t>WHY DISCOVERABILITY IS FIRST</a:t>
            </a:r>
          </a:p>
          <a:p>
            <a:r>
              <a:t>Three independent signals, and only one of them is an opinion. 9 of 25 messages</a:t>
            </a:r>
          </a:p>
          <a:p>
            <a:r>
              <a:t>sent to the tutor are about the screen rather than the mathematics. A learner</a:t>
            </a:r>
          </a:p>
          <a:p>
            <a:r>
              <a:t>asked us to build an AI tutor in an app that has one on every lesson. And 11 of</a:t>
            </a:r>
          </a:p>
          <a:p>
            <a:r>
              <a:t>30 active learners have ever opened it, against a 50% target. More content</a:t>
            </a:r>
          </a:p>
          <a:p>
            <a:r>
              <a:t>behind a door a third of learners cannot find multiplies the problem.</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scored out of 10 and averaged. Reach is left out: at this size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566928"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9" name="TextBox 8"/>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0" name="TextBox 9"/>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1" name="TextBox 10"/>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2" name="TextBox 11"/>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3" name="Rectangle 12"/>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2020824"/>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16" name="TextBox 15"/>
          <p:cNvSpPr txBox="1"/>
          <p:nvPr/>
        </p:nvSpPr>
        <p:spPr>
          <a:xfrm>
            <a:off x="621792" y="2194560"/>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a:t>
            </a:r>
          </a:p>
        </p:txBody>
      </p:sp>
      <p:sp>
        <p:nvSpPr>
          <p:cNvPr id="17" name="TextBox 16"/>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18" name="TextBox 17"/>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19" name="TextBox 18"/>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20" name="TextBox 19"/>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21" name="TextBox 20"/>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2" name="Rectangle 21"/>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2450592"/>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24" name="TextBox 23"/>
          <p:cNvSpPr txBox="1"/>
          <p:nvPr/>
        </p:nvSpPr>
        <p:spPr>
          <a:xfrm>
            <a:off x="621792" y="2624328"/>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25" name="TextBox 24"/>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26" name="TextBox 25"/>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7" name="TextBox 26"/>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8" name="TextBox 27"/>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29" name="TextBox 28"/>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0" name="Rectangle 29"/>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2880360"/>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33" name="TextBox 32"/>
          <p:cNvSpPr txBox="1"/>
          <p:nvPr/>
        </p:nvSpPr>
        <p:spPr>
          <a:xfrm>
            <a:off x="621792" y="3054096"/>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Third because authoring and verifying answer keys is slow, not because it matters less</a:t>
            </a:r>
          </a:p>
        </p:txBody>
      </p:sp>
      <p:sp>
        <p:nvSpPr>
          <p:cNvPr id="34" name="TextBox 33"/>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5" name="TextBox 34"/>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6" name="TextBox 35"/>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37" name="TextBox 36"/>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7.3</a:t>
            </a:r>
          </a:p>
        </p:txBody>
      </p:sp>
      <p:sp>
        <p:nvSpPr>
          <p:cNvPr id="38" name="TextBox 37"/>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9" name="Rectangle 38"/>
          <p:cNvSpPr/>
          <p:nvPr/>
        </p:nvSpPr>
        <p:spPr>
          <a:xfrm>
            <a:off x="475488" y="330098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310128"/>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41" name="TextBox 40"/>
          <p:cNvSpPr txBox="1"/>
          <p:nvPr/>
        </p:nvSpPr>
        <p:spPr>
          <a:xfrm>
            <a:off x="621792" y="3483864"/>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42" name="TextBox 41"/>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3" name="TextBox 42"/>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44" name="TextBox 43"/>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45" name="TextBox 44"/>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46" name="TextBox 45"/>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47" name="Rectangle 46"/>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1792" y="3739896"/>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50" name="TextBox 49"/>
          <p:cNvSpPr txBox="1"/>
          <p:nvPr/>
        </p:nvSpPr>
        <p:spPr>
          <a:xfrm>
            <a:off x="621792" y="3913632"/>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51" name="TextBox 50"/>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52" name="TextBox 51"/>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3" name="TextBox 52"/>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54" name="TextBox 53"/>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55" name="TextBox 54"/>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56" name="Rectangle 55"/>
          <p:cNvSpPr/>
          <p:nvPr/>
        </p:nvSpPr>
        <p:spPr>
          <a:xfrm>
            <a:off x="475488" y="4160520"/>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1792" y="4169663"/>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58" name="TextBox 57"/>
          <p:cNvSpPr txBox="1"/>
          <p:nvPr/>
        </p:nvSpPr>
        <p:spPr>
          <a:xfrm>
            <a:off x="621792" y="4343399"/>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59" name="TextBox 58"/>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0" name="TextBox 59"/>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1" name="TextBox 60"/>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62" name="TextBox 61"/>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63" name="TextBox 62"/>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64" name="Rectangle 63"/>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1792" y="4599432"/>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67" name="TextBox 66"/>
          <p:cNvSpPr txBox="1"/>
          <p:nvPr/>
        </p:nvSpPr>
        <p:spPr>
          <a:xfrm>
            <a:off x="621792" y="4773168"/>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68" name="TextBox 67"/>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9" name="TextBox 68"/>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0" name="TextBox 69"/>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71" name="TextBox 70"/>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72" name="TextBox 71"/>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73" name="Rectangle 72"/>
          <p:cNvSpPr/>
          <p:nvPr/>
        </p:nvSpPr>
        <p:spPr>
          <a:xfrm>
            <a:off x="475488" y="5020056"/>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1792" y="5029200"/>
            <a:ext cx="658368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grades, more languages, a view for teachers</a:t>
            </a:r>
          </a:p>
        </p:txBody>
      </p:sp>
      <p:sp>
        <p:nvSpPr>
          <p:cNvPr id="75" name="TextBox 74"/>
          <p:cNvSpPr txBox="1"/>
          <p:nvPr/>
        </p:nvSpPr>
        <p:spPr>
          <a:xfrm>
            <a:off x="621792" y="5202936"/>
            <a:ext cx="658368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Not scored, and that is the point. Breadth is what solving one learner properly earns you, so these get numbers when the rows above are done</a:t>
            </a:r>
          </a:p>
        </p:txBody>
      </p:sp>
      <p:sp>
        <p:nvSpPr>
          <p:cNvPr id="76" name="TextBox 75"/>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77" name="TextBox 76"/>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78" name="TextBox 77"/>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79" name="TextBox 78"/>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80" name="TextBox 79"/>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81" name="Rounded Rectangle 80"/>
          <p:cNvSpPr/>
          <p:nvPr/>
        </p:nvSpPr>
        <p:spPr>
          <a:xfrm>
            <a:off x="566928" y="5669279"/>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66928" y="5788151"/>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77824" y="5806440"/>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The top item is the one nobody asked for. More chapters is the loudest request, and it is third.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