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two segments, worked below, = ₹13.3 Cr, which is $1.51M ARR.</a:t>
            </a:r>
          </a:p>
          <a:p/>
          <a:p>
            <a:r>
              <a:t>SOM is not multiplied by ₹500, because at this size we can model the actual mix</a:t>
            </a:r>
          </a:p>
          <a:p>
            <a:r>
              <a:t>instead of using a blended ceiling. Most of the SOM learners pay nothing at all.</a:t>
            </a:r>
          </a:p>
          <a:p/>
          <a:p>
            <a:r>
              <a:t>── HOW SOM IS BUILT ────────────────────────────────────────────────────────</a:t>
            </a:r>
          </a:p>
          <a:p/>
          <a:p>
            <a:r>
              <a:t>STEP 1, LEARNERS, CHANNEL BY CHANNEL. The percentage of SAM is the OUTPUT of</a:t>
            </a:r>
          </a:p>
          <a:p>
            <a:r>
              <a:t>this, never the input. Starting from "let us say 1% of the market" is working</a:t>
            </a:r>
          </a:p>
          <a:p>
            <a:r>
              <a:t>backwards from a number that merely sounds humble.</a:t>
            </a:r>
          </a:p>
          <a:p/>
          <a:p>
            <a:r>
              <a:t>  NGO and CSR programmes    150,000   15 to 25 partners, 6 to 10k learners each</a:t>
            </a:r>
          </a:p>
          <a:p>
            <a:r>
              <a:t>  Government pilots          75,000   2 to 3 district-level pilots</a:t>
            </a:r>
          </a:p>
          <a:p>
            <a:r>
              <a:t>  Direct to consumer        275,000   organic plus modest paid acquisition,</a:t>
            </a:r>
          </a:p>
          <a:p>
            <a:r>
              <a:t>                                      aimed at parents in tier 2 and tier 3</a:t>
            </a:r>
          </a:p>
          <a:p>
            <a:r>
              <a:t>  TOTAL                     500,000   which is 1.7% of the 29.6M SAM</a:t>
            </a:r>
          </a:p>
          <a:p/>
          <a:p>
            <a:r>
              <a:t>STEP 2, WHO ACTUALLY PAYS. The two halves behave completely differently.</a:t>
            </a:r>
          </a:p>
          <a:p/>
          <a:p>
            <a:r>
              <a:t>  Institutional   225,000 learners, every one funded by the institution</a:t>
            </a:r>
          </a:p>
          <a:p>
            <a:r>
              <a:t>                  225,000 x ₹450        = ₹10.1 Cr</a:t>
            </a:r>
          </a:p>
          <a:p/>
          <a:p>
            <a:r>
              <a:t>  Consumer        275,000 reached, 4% subscribe = 11,000 people</a:t>
            </a:r>
          </a:p>
          <a:p>
            <a:r>
              <a:t>                  Plus         60%   6,600 x ₹999     = ₹0.7 Cr</a:t>
            </a:r>
          </a:p>
          <a:p>
            <a:r>
              <a:t>                  Live         35%   3,850 x ₹3,999   = ₹1.5 Cr</a:t>
            </a:r>
          </a:p>
          <a:p>
            <a:r>
              <a:t>                  One to one    5%     550 x ₹17,988   = ₹1.0 Cr</a:t>
            </a:r>
          </a:p>
          <a:p>
            <a:r>
              <a:t>                  Free                264,000 x ₹0     = ₹0</a:t>
            </a:r>
          </a:p>
          <a:p/>
          <a:p>
            <a:r>
              <a:t>  TOTAL           500,000 learners                     = ₹13.3 Cr, $1.51M ARR</a:t>
            </a:r>
          </a:p>
          <a:p/>
          <a:p>
            <a:r>
              <a:t>Blended, that is about ₹260 per learner per year across all 500,000, because</a:t>
            </a:r>
          </a:p>
          <a:p>
            <a:r>
              <a:t>most of them never pay anything. That is the model working as intended, not a</a:t>
            </a:r>
          </a:p>
          <a:p>
            <a:r>
              <a:t>disappointing number.</a:t>
            </a:r>
          </a:p>
          <a:p/>
          <a:p>
            <a:r>
              <a:t>WHERE THE 4% COMES FROM, IF ASKED</a:t>
            </a:r>
          </a:p>
          <a:p>
            <a:r>
              <a:t>Benchmarked rather than guessed. Indian edtech converts 2 to 5% on general</a:t>
            </a:r>
          </a:p>
          <a:p>
            <a:r>
              <a:t>learning and 8 to 15% on exam preparation. Consumer freemium generally runs 2 to</a:t>
            </a:r>
          </a:p>
          <a:p>
            <a:r>
              <a:t>4%. Duolingo, whose daily habit loop we deliberately copied, reaches 8.9% of</a:t>
            </a:r>
          </a:p>
          <a:p>
            <a:r>
              <a:t>monthly actives. We are general learning, so 4% is the top of the honest band</a:t>
            </a:r>
          </a:p>
          <a:p>
            <a:r>
              <a:t>and comfortably under the product we learned the mechanics from.</a:t>
            </a:r>
          </a:p>
          <a:p/>
          <a:p>
            <a:r>
              <a:t>THE THREE SOFT SPOTS IN SOM, SAID BEFORE THEY ARE FOUND</a:t>
            </a:r>
          </a:p>
          <a:p>
            <a:r>
              <a:t>1. The pipeline is zero today. No NGO signed, no district agreed, no CSR</a:t>
            </a:r>
          </a:p>
          <a:p>
            <a:r>
              <a:t>   conversation started. Every channel number is a plausible shape for something</a:t>
            </a:r>
          </a:p>
          <a:p>
            <a:r>
              <a:t>   not yet opened. Logged as assumption A6, low confidence.</a:t>
            </a:r>
          </a:p>
          <a:p>
            <a:r>
              <a:t>2. The 60 / 35 / 5 tier split is an assumption, not a measurement. If everyone</a:t>
            </a:r>
          </a:p>
          <a:p>
            <a:r>
              <a:t>   lands on Plus, revenue drops by roughly ₹2 Cr. If Live carries it, revenue</a:t>
            </a:r>
          </a:p>
          <a:p>
            <a:r>
              <a:t>   rises.</a:t>
            </a:r>
          </a:p>
          <a:p>
            <a:r>
              <a:t>3. District pilots are the most ambitious line. 25,000 to 37,000 learners in one</a:t>
            </a:r>
          </a:p>
          <a:p>
            <a:r>
              <a:t>   district is a large pilot. The defensible retreat is one district and 10,000</a:t>
            </a:r>
          </a:p>
          <a:p>
            <a:r>
              <a:t>   learners: the model still stands, the total just moves.</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14 of 38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11 of 36 tutor messages are about the screen, a learner asked us to build a</a:t>
            </a:r>
          </a:p>
          <a:p>
            <a:r>
              <a:t>tutor we already ship, and 14 of 38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53 offers and 3 accepted.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53 offers and 3 accepted</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₹13.3 Cr  ·  $1.51M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 min</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Marking is done by Opus, deliberately stronger than the Sonnet it marks, so when three runs disagree it means the TUTOR answered differently.</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47 of 50</a:t>
            </a:r>
          </a:p>
          <a:p>
            <a:pPr algn="l">
              <a:lnSpc>
                <a:spcPct val="122000"/>
              </a:lnSpc>
              <a:spcBef>
                <a:spcPts val="0"/>
              </a:spcBef>
              <a:spcAft>
                <a:spcPts val="0"/>
              </a:spcAft>
            </a:pPr>
            <a:r>
              <a:rPr sz="950" b="0" i="0">
                <a:solidFill>
                  <a:srgbClr val="3F4A57"/>
                </a:solidFill>
                <a:latin typeface="Arial"/>
              </a:rPr>
              <a:t>9 of 9 on the attacks, 3 of 3 on defects we already fixed, and 21 of 22 on real learner traffic. Above the 90% we set ourselves, and it took a stronger judge to see it.</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36 questions learners have sent the tutor, 11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53 offers made, 3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38 learners used it. 19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 of 19</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respondents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19 responses is not a market study, and the last quote is worth more than all the rest.</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18 of 19 said it helped them understand something, 16 would come back, a learner asked us to build the feature we already ship, and only 14 of 38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request, 8 of 19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too, 8 of 19.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11 of 36 tutor messages are about the screen. 14 of 38 have ever opened the tutor</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53 offers and 3 accepted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have joined</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a teacher's real hourly cost. Monthly only: we will not take a year up front for teachers we have not hired.</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31757"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17</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55648" y="2619755"/>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1" name="TextBox 20"/>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2" name="TextBox 21"/>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3" name="Rectangle 22"/>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5648" y="3296411"/>
            <a:ext cx="1347536"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16</a:t>
            </a:r>
          </a:p>
        </p:txBody>
      </p:sp>
      <p:sp>
        <p:nvSpPr>
          <p:cNvPr id="26" name="TextBox 25"/>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Maybe</a:t>
            </a:r>
          </a:p>
        </p:txBody>
      </p:sp>
      <p:sp>
        <p:nvSpPr>
          <p:cNvPr id="27" name="Rectangle 26"/>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5648" y="3534155"/>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30" name="TextBox 29"/>
          <p:cNvSpPr txBox="1"/>
          <p:nvPr/>
        </p:nvSpPr>
        <p:spPr>
          <a:xfrm>
            <a:off x="566928" y="37307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31" name="Rectangle 30"/>
          <p:cNvSpPr/>
          <p:nvPr/>
        </p:nvSpPr>
        <p:spPr>
          <a:xfrm>
            <a:off x="1755648" y="37718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3771899"/>
            <a:ext cx="168442"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37216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2</a:t>
            </a:r>
          </a:p>
        </p:txBody>
      </p:sp>
      <p:sp>
        <p:nvSpPr>
          <p:cNvPr id="34" name="TextBox 33"/>
          <p:cNvSpPr txBox="1"/>
          <p:nvPr/>
        </p:nvSpPr>
        <p:spPr>
          <a:xfrm>
            <a:off x="566928" y="4187951"/>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5" name="TextBox 34"/>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6" name="Rectangle 35"/>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755648" y="4448555"/>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39" name="TextBox 38"/>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40" name="Rectangle 39"/>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55648" y="4686299"/>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43" name="TextBox 42"/>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4" name="Rectangle 43"/>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755648" y="4924043"/>
            <a:ext cx="168442"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2</a:t>
            </a:r>
          </a:p>
        </p:txBody>
      </p:sp>
      <p:sp>
        <p:nvSpPr>
          <p:cNvPr id="47" name="TextBox 46"/>
          <p:cNvSpPr txBox="1"/>
          <p:nvPr/>
        </p:nvSpPr>
        <p:spPr>
          <a:xfrm>
            <a:off x="566928" y="5120639"/>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48" name="Rectangle 47"/>
          <p:cNvSpPr/>
          <p:nvPr/>
        </p:nvSpPr>
        <p:spPr>
          <a:xfrm>
            <a:off x="1755648" y="5161787"/>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755648" y="5161787"/>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19856" y="5111495"/>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51" name="Rounded Rectangle 50"/>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54" name="TextBox 53"/>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5" name="Rounded Rectangle 54"/>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8" name="TextBox 57"/>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9" name="Rounded Rectangle 58"/>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62" name="TextBox 61"/>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63" name="Rounded Rectangle 62"/>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6" name="TextBox 65"/>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7" name="Rounded Rectangle 66"/>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70" name="TextBox 69"/>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71" name="Rounded Rectangle 70"/>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74" name="TextBox 73"/>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5" name="Rounded Rectangle 74"/>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18 of 19 said it helped them understand something.</a:t>
            </a:r>
          </a:p>
          <a:p>
            <a:pPr algn="l">
              <a:lnSpc>
                <a:spcPct val="124000"/>
              </a:lnSpc>
              <a:spcBef>
                <a:spcPts val="0"/>
              </a:spcBef>
              <a:spcAft>
                <a:spcPts val="0"/>
              </a:spcAft>
            </a:pPr>
            <a:r>
              <a:rPr sz="1000" b="0" i="0">
                <a:solidFill>
                  <a:srgbClr val="3F4A57"/>
                </a:solidFill>
                <a:latin typeface="Arial"/>
              </a:rPr>
              <a:t>16 would come back. And the loudest request was simply more of it: practice and chapters, tied.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166</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1,069</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 of 19</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38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