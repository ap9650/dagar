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two segments, worked below, = ₹13.3 Cr, which is $1.51M ARR.</a:t>
            </a:r>
          </a:p>
          <a:p/>
          <a:p>
            <a:r>
              <a:t>SOM is not multiplied by ₹500, because at this size we can model the actual mix</a:t>
            </a:r>
          </a:p>
          <a:p>
            <a:r>
              <a:t>instead of using a blended ceiling. Most of the SOM learners pay nothing at all.</a:t>
            </a:r>
          </a:p>
          <a:p/>
          <a:p>
            <a:r>
              <a:t>── HOW SOM IS BUILT ────────────────────────────────────────────────────────</a:t>
            </a:r>
          </a:p>
          <a:p/>
          <a:p>
            <a:r>
              <a:t>STEP 1, LEARNERS, CHANNEL BY CHANNEL. The percentage of SAM is the OUTPUT of</a:t>
            </a:r>
          </a:p>
          <a:p>
            <a:r>
              <a:t>this, never the input. Starting from "let us say 1% of the market" is working</a:t>
            </a:r>
          </a:p>
          <a:p>
            <a:r>
              <a:t>backwards from a number that merely sounds humble.</a:t>
            </a:r>
          </a:p>
          <a:p/>
          <a:p>
            <a:r>
              <a:t>  NGO and CSR programmes    150,000   15 to 25 partners, 6 to 10k learners each</a:t>
            </a:r>
          </a:p>
          <a:p>
            <a:r>
              <a:t>  Government pilots          75,000   2 to 3 district-level pilots</a:t>
            </a:r>
          </a:p>
          <a:p>
            <a:r>
              <a:t>  Direct to consumer        275,000   organic plus modest paid acquisition,</a:t>
            </a:r>
          </a:p>
          <a:p>
            <a:r>
              <a:t>                                      aimed at parents in tier 2 and tier 3</a:t>
            </a:r>
          </a:p>
          <a:p>
            <a:r>
              <a:t>  TOTAL                     500,000   which is 1.7% of the 29.6M SAM</a:t>
            </a:r>
          </a:p>
          <a:p/>
          <a:p>
            <a:r>
              <a:t>STEP 2, WHO ACTUALLY PAYS. The two halves behave completely differently.</a:t>
            </a:r>
          </a:p>
          <a:p/>
          <a:p>
            <a:r>
              <a:t>  Institutional   225,000 learners, every one funded by the institution</a:t>
            </a:r>
          </a:p>
          <a:p>
            <a:r>
              <a:t>                  225,000 x ₹450        = ₹10.1 Cr</a:t>
            </a:r>
          </a:p>
          <a:p/>
          <a:p>
            <a:r>
              <a:t>  Consumer        275,000 reached, 4% subscribe = 11,000 people</a:t>
            </a:r>
          </a:p>
          <a:p>
            <a:r>
              <a:t>                  Plus         60%   6,600 x ₹999     = ₹0.7 Cr</a:t>
            </a:r>
          </a:p>
          <a:p>
            <a:r>
              <a:t>                  Live         35%   3,850 x ₹3,999   = ₹1.5 Cr</a:t>
            </a:r>
          </a:p>
          <a:p>
            <a:r>
              <a:t>                  One to one    5%     550 x ₹17,988   = ₹1.0 Cr</a:t>
            </a:r>
          </a:p>
          <a:p>
            <a:r>
              <a:t>                  Free                264,000 x ₹0     = ₹0</a:t>
            </a:r>
          </a:p>
          <a:p/>
          <a:p>
            <a:r>
              <a:t>  TOTAL           500,000 learners                     = ₹13.3 Cr, $1.51M ARR</a:t>
            </a:r>
          </a:p>
          <a:p/>
          <a:p>
            <a:r>
              <a:t>Blended, that is about ₹260 per learner per year across all 500,000, because</a:t>
            </a:r>
          </a:p>
          <a:p>
            <a:r>
              <a:t>most of them never pay anything. That is the model working as intended, not a</a:t>
            </a:r>
          </a:p>
          <a:p>
            <a:r>
              <a:t>disappointing number.</a:t>
            </a:r>
          </a:p>
          <a:p/>
          <a:p>
            <a:r>
              <a:t>WHERE THE 4% COMES FROM, IF ASKED</a:t>
            </a:r>
          </a:p>
          <a:p>
            <a:r>
              <a:t>Benchmarked rather than guessed. Indian edtech converts 2 to 5% on general</a:t>
            </a:r>
          </a:p>
          <a:p>
            <a:r>
              <a:t>learning and 8 to 15% on exam preparation. Consumer freemium generally runs 2 to</a:t>
            </a:r>
          </a:p>
          <a:p>
            <a:r>
              <a:t>4%. Duolingo, whose daily habit loop we deliberately copied, reaches 8.9% of</a:t>
            </a:r>
          </a:p>
          <a:p>
            <a:r>
              <a:t>monthly actives. We are general learning, so 4% is the top of the honest band</a:t>
            </a:r>
          </a:p>
          <a:p>
            <a:r>
              <a:t>and comfortably under the product we learned the mechanics from.</a:t>
            </a:r>
          </a:p>
          <a:p/>
          <a:p>
            <a:r>
              <a:t>THE THREE SOFT SPOTS IN SOM, SAID BEFORE THEY ARE FOUND</a:t>
            </a:r>
          </a:p>
          <a:p>
            <a:r>
              <a:t>1. The pipeline is zero today. No NGO signed, no district agreed, no CSR</a:t>
            </a:r>
          </a:p>
          <a:p>
            <a:r>
              <a:t>   conversation started. Every channel number is a plausible shape for something</a:t>
            </a:r>
          </a:p>
          <a:p>
            <a:r>
              <a:t>   not yet opened. Logged as assumption A6, low confidence.</a:t>
            </a:r>
          </a:p>
          <a:p>
            <a:r>
              <a:t>2. The 60 / 35 / 5 tier split is an assumption, not a measurement. If everyone</a:t>
            </a:r>
          </a:p>
          <a:p>
            <a:r>
              <a:t>   lands on Plus, revenue drops by roughly ₹2 Cr. If Live carries it, revenue</a:t>
            </a:r>
          </a:p>
          <a:p>
            <a:r>
              <a:t>   rises.</a:t>
            </a:r>
          </a:p>
          <a:p>
            <a:r>
              <a:t>3. District pilots are the most ambitious line. 25,000 to 37,000 learners in one</a:t>
            </a:r>
          </a:p>
          <a:p>
            <a:r>
              <a:t>   district is a large pilot. The defensible retreat is one district and 10,000</a:t>
            </a:r>
          </a:p>
          <a:p>
            <a:r>
              <a:t>   learners: the model still stands, the total just moves.</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14 of 38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THE TWO SOURCES, AND WHY BOTH ARE ON THE LIST</a:t>
            </a:r>
          </a:p>
          <a:p>
            <a:r>
              <a:t>What learners say and what learners do are different instruments and the</a:t>
            </a:r>
          </a:p>
          <a:p>
            <a:r>
              <a:t>roadmap uses both. More chapters is what they asked for: 7 of 15 in a forced</a:t>
            </a:r>
          </a:p>
          <a:p>
            <a:r>
              <a:t>choice, the highest Confidence on the board. Discoverability is what they did:</a:t>
            </a:r>
          </a:p>
          <a:p>
            <a:r>
              <a:t>11 of 36 tutor messages are about the screen, a learner asked us to build a</a:t>
            </a:r>
          </a:p>
          <a:p>
            <a:r>
              <a:t>tutor we already ship, and 14 of 38 have ever opened it against a 50% target.</a:t>
            </a:r>
          </a:p>
          <a:p>
            <a:r>
              <a:t>Neither instrument sees what the other sees, so we ship both first.</a:t>
            </a:r>
          </a:p>
          <a:p/>
          <a:p>
            <a:r>
              <a:t>WHY MORE CHAPTERS SCORES 9.0</a:t>
            </a:r>
          </a:p>
          <a:p>
            <a:r>
              <a:t>Impact 10: one chapter per grade is a hard ceiling. A learner who finishes it</a:t>
            </a:r>
          </a:p>
          <a:p>
            <a:r>
              <a:t>has nothing to come back to, and that is the only failure on this list with no</a:t>
            </a:r>
          </a:p>
          <a:p>
            <a:r>
              <a:t>workaround. Confidence 10: 7 of 15 chose it in a forced choice, over practice,</a:t>
            </a:r>
          </a:p>
          <a:p>
            <a:r>
              <a:t>over the tutor, over everything else, which is the strongest stated signal we</a:t>
            </a:r>
          </a:p>
          <a:p>
            <a:r>
              <a:t>have. Ease 7: the content model, the lesson player and the answer-key</a:t>
            </a:r>
          </a:p>
          <a:p>
            <a:r>
              <a:t>verification script already exist, so widening the syllabus is authoring work</a:t>
            </a:r>
          </a:p>
          <a:p>
            <a:r>
              <a:t>rather than building work. It is not a 9, because a human still has to check</a:t>
            </a:r>
          </a:p>
          <a:p>
            <a:r>
              <a:t>every key and a wrong one tells a child they are wrong when they are right.</a:t>
            </a:r>
          </a:p>
          <a:p/>
          <a:p>
            <a:r>
              <a:t>WHY DISCOVERABILITY SCORES 8.3 AND NOT HIGHER</a:t>
            </a:r>
          </a:p>
          <a:p>
            <a:r>
              <a:t>Impact 8 rather than 9, because learners demonstrably get past the friction:</a:t>
            </a:r>
          </a:p>
          <a:p>
            <a:r>
              <a:t>133 lessons completed and 761 practice questions answered through exactly the</a:t>
            </a:r>
          </a:p>
          <a:p>
            <a:r>
              <a:t>confusion we are describing. It is serious and it is not a wall. Confidence 8,</a:t>
            </a:r>
          </a:p>
          <a:p>
            <a:r>
              <a:t>because we are certain the problem is real and less certain a redesign closes</a:t>
            </a:r>
          </a:p>
          <a:p>
            <a:r>
              <a:t>it completely. This is the more honest reading of our own evidence.</a:t>
            </a:r>
          </a:p>
          <a:p/>
          <a:p>
            <a:r>
              <a:t>IF ASKED WHETHER THE SCORES WERE FITTED TO THE ANSWER</a:t>
            </a:r>
          </a:p>
          <a:p>
            <a:r>
              <a:t>A fair question and the answer is that four of them moved when we re-examined</a:t>
            </a:r>
          </a:p>
          <a:p>
            <a:r>
              <a:t>them, in both directions: chapters went up on Confidence and Ease, and</a:t>
            </a:r>
          </a:p>
          <a:p>
            <a:r>
              <a:t>discoverability came down on Impact and Confidence. The reasons are the two</a:t>
            </a:r>
          </a:p>
          <a:p>
            <a:r>
              <a:t>notes above and each is independently arguable. If someone argues one</a:t>
            </a:r>
          </a:p>
          <a:p>
            <a:r>
              <a:t>successfully the order should change, which is the entire reason for writing</a:t>
            </a:r>
          </a:p>
          <a:p>
            <a:r>
              <a:t>the numbers down instead of asserting a priority.</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53 offers and 3 accepted.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 ARE NO DATES</a:t>
            </a:r>
          </a:p>
          <a:p>
            <a:r>
              <a:t>Because we would be guessing, and a roadmap with invented dates is the fastest</a:t>
            </a:r>
          </a:p>
          <a:p>
            <a:r>
              <a:t>way to lose a room that has seen a few. Each phase names its precondition</a:t>
            </a:r>
          </a:p>
          <a:p>
            <a:r>
              <a:t>instead. Phase 2 starts when the depth work on slide 20 is done. Phase 3 starts</a:t>
            </a:r>
          </a:p>
          <a:p>
            <a:r>
              <a:t>when Phase 2 has paying institutions and a reason to believe the model holds.</a:t>
            </a:r>
          </a:p>
          <a:p/>
          <a:p>
            <a:r>
              <a:t>THIS IS THE PRD, NOT A DECK INVENTION</a:t>
            </a:r>
          </a:p>
          <a:p>
            <a:r>
              <a:t>These three phases are lifted from the PRD's own roadmap section, so the two</a:t>
            </a:r>
          </a:p>
          <a:p>
            <a:r>
              <a:t>cannot drift apart. If someone asks to see it written down, it is there with</a:t>
            </a:r>
          </a:p>
          <a:p>
            <a:r>
              <a:t>the full feature lists.</a:t>
            </a:r>
          </a:p>
          <a:p/>
          <a:p>
            <a:r>
              <a:t>THE ORDER OF PHASE 2 IS DELIBERATE</a:t>
            </a:r>
          </a:p>
          <a:p>
            <a:r>
              <a:t>Subjects and classes before languages, and both before dashboards for adults.</a:t>
            </a:r>
          </a:p>
          <a:p>
            <a:r>
              <a:t>Every one of those widens the product, but only the first two widen it for the</a:t>
            </a:r>
          </a:p>
          <a:p>
            <a:r>
              <a:t>learner, and the learner is who the product is for.</a:t>
            </a:r>
          </a:p>
          <a:p/>
          <a:p>
            <a:r>
              <a:t>WHAT "NEW PERSONAS" MEANS, IF ASKED</a:t>
            </a:r>
          </a:p>
          <a:p>
            <a:r>
              <a:t>Everything up to here serves one persona: a learner in Classes 6 to 8 who is</a:t>
            </a:r>
          </a:p>
          <a:p>
            <a:r>
              <a:t>behind and cannot afford tuition. Phase 3 widens who the product is for, not</a:t>
            </a:r>
          </a:p>
          <a:p>
            <a:r>
              <a:t>just what it teaches. Adult literacy learners are the clearest case, and they</a:t>
            </a:r>
          </a:p>
          <a:p>
            <a:r>
              <a:t>need the same thing our learners need: one idea at a time, in their language,</a:t>
            </a:r>
          </a:p>
          <a:p>
            <a:r>
              <a:t>with no cost and no judgement. The accessibility groups stop being people we</a:t>
            </a:r>
          </a:p>
          <a:p>
            <a:r>
              <a:t>accommodate and become people we design for. The engine does not change. The</a:t>
            </a:r>
          </a:p>
          <a:p>
            <a:r>
              <a:t>learner does.</a:t>
            </a:r>
          </a:p>
          <a:p/>
          <a:p>
            <a:r>
              <a:t>WHY ACCESSIBILITY IS A PHASE AND NOT A CHECKBOX</a:t>
            </a:r>
          </a:p>
          <a:p>
            <a:r>
              <a:t>WCAG AA is already in the MVP: contrast, keyboard, focus, touch targets,</a:t>
            </a:r>
          </a:p>
          <a:p>
            <a:r>
              <a:t>reduced motion. That is table stakes and it is done. Phase 3 is different in</a:t>
            </a:r>
          </a:p>
          <a:p>
            <a:r>
              <a:t>kind, not degree: a product designed from the start for a learner who cannot</a:t>
            </a:r>
          </a:p>
          <a:p>
            <a:r>
              <a:t>see the screen, or cannot hear the audio, or reads differently. That is a</a:t>
            </a:r>
          </a:p>
          <a:p>
            <a:r>
              <a:t>rebuild of the interaction model, not a settings page, which is why it is</a:t>
            </a:r>
          </a:p>
          <a:p>
            <a:r>
              <a:t>honest to call it a phase.</a:t>
            </a:r>
          </a:p>
          <a:p/>
          <a:p>
            <a:r>
              <a:t>IF ASKED WHICH PHASE 2 ITEM IS CLOSEST</a:t>
            </a:r>
          </a:p>
          <a:p>
            <a:r>
              <a:t>Science. The content model, the lesson player, the practice engine and the</a:t>
            </a:r>
          </a:p>
          <a:p>
            <a:r>
              <a:t>grading are all subject-agnostic already. Adding a subject is authoring and</a:t>
            </a:r>
          </a:p>
          <a:p>
            <a:r>
              <a:t>review, not engineering, and that was a deliberate architectural choice made in</a:t>
            </a:r>
          </a:p>
          <a:p>
            <a:r>
              <a:t>the first two days.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STEP IS THE WHOLE PROBLEM</a:t>
            </a:r>
          </a:p>
          <a:p>
            <a:r>
              <a:t>Every number on this slide is about removing friction before learning starts.</a:t>
            </a:r>
          </a:p>
          <a:p>
            <a:r>
              <a:t>No Play Store account, no APK, no 40MB download on a phone shared between</a:t>
            </a:r>
          </a:p>
          <a:p>
            <a:r>
              <a:t>siblings, and no registration for the parent. Each of those is a place where a</a:t>
            </a:r>
          </a:p>
          <a:p>
            <a:r>
              <a:t>family in the target segment drops out, and none of them has anything to do</a:t>
            </a:r>
          </a:p>
          <a:p>
            <a:r>
              <a:t>with whether the teaching is good.</a:t>
            </a:r>
          </a:p>
          <a:p/>
          <a:p>
            <a:r>
              <a:t>WHY NOT THE PLAY STORE, IF ASKED</a:t>
            </a:r>
          </a:p>
          <a:p>
            <a:r>
              <a:t>A personal developer account opened after November 2023 must run a closed test</a:t>
            </a:r>
          </a:p>
          <a:p>
            <a:r>
              <a:t>with 12 or more testers for 14 continuous days before it can even apply for</a:t>
            </a:r>
          </a:p>
          <a:p>
            <a:r>
              <a:t>production. That is longer than this build. The same web app wraps into a</a:t>
            </a:r>
          </a:p>
          <a:p>
            <a:r>
              <a:t>Trusted Web Activity later with no rewrite, so the store is a packaging</a:t>
            </a:r>
          </a:p>
          <a:p>
            <a:r>
              <a:t>decision we can take whenever it helps, not a dependency. Recorded as D15.</a:t>
            </a:r>
          </a:p>
          <a:p/>
          <a:p>
            <a:r>
              <a:t>BE HONEST ABOUT WHICH CHANNEL IS PROVEN</a:t>
            </a:r>
          </a:p>
          <a:p>
            <a:r>
              <a:t>One. A teacher shared a link with her class and 46 accounts followed, 30 of</a:t>
            </a:r>
          </a:p>
          <a:p>
            <a:r>
              <a:t>which completed a lesson. The NGO and CSR route is reasoned rather than</a:t>
            </a:r>
          </a:p>
          <a:p>
            <a:r>
              <a:t>demonstrated, and saying so is what makes the first number believable.</a:t>
            </a:r>
          </a:p>
          <a:p/>
          <a:p>
            <a:r>
              <a:t>THE INSTITUTIONAL ARGUMENT IN ONE LINE</a:t>
            </a:r>
          </a:p>
          <a:p>
            <a:r>
              <a:t>An institution is a room full of teachers, and the motion that already worked</a:t>
            </a:r>
          </a:p>
          <a:p>
            <a:r>
              <a:t>is one teacher with one class and one link. We are not proposing a different</a:t>
            </a:r>
          </a:p>
          <a:p>
            <a:r>
              <a:t>machine at scale, we are proposing the same one, more times.</a:t>
            </a:r>
          </a:p>
          <a:p/>
          <a:p>
            <a:r>
              <a:t>IF ASKED ABOUT THE 250,000 FIGURE</a:t>
            </a:r>
          </a:p>
          <a:p>
            <a:r>
              <a:t>It is roughly 0.8% of the ~30 million learners in Classes 6 to 8 on this</a:t>
            </a:r>
          </a:p>
          <a:p>
            <a:r>
              <a:t>curriculum with household smartphone access, over three years. The derivation</a:t>
            </a:r>
          </a:p>
          <a:p>
            <a:r>
              <a:t>and its confidence levels are in MARKET_AND_PRICING.md, and the weakest input</a:t>
            </a:r>
          </a:p>
          <a:p>
            <a:r>
              <a:t>is curriculum alignment at about 62%.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SENTENCE</a:t>
            </a:r>
          </a:p>
          <a:p>
            <a:r>
              <a:t>The lessons are free for everyone, for good. Institutions pay to reach the</a:t>
            </a:r>
          </a:p>
          <a:p>
            <a:r>
              <a:t>learners who never could, and families who can pay subscribe for more practice</a:t>
            </a:r>
          </a:p>
          <a:p>
            <a:r>
              <a:t>and more content. Both run at once, and the second funds the first.</a:t>
            </a:r>
          </a:p>
          <a:p/>
          <a:p>
            <a:r>
              <a:t>WHY THE MVP IS FREE TODAY, IF ASKED</a:t>
            </a:r>
          </a:p>
          <a:p>
            <a:r>
              <a:t>Because it is still being validated, not because free is the business. Charging</a:t>
            </a:r>
          </a:p>
          <a:p>
            <a:r>
              <a:t>now would contaminate the activation and retention numbers we are reading, and</a:t>
            </a:r>
          </a:p>
          <a:p>
            <a:r>
              <a:t>we would rather know whether it works than know whether it sells. The paid tier</a:t>
            </a:r>
          </a:p>
          <a:p>
            <a:r>
              <a:t>follows once H1 to H7 have data.</a:t>
            </a:r>
          </a:p>
          <a:p/>
          <a:p>
            <a:r>
              <a:t>WHAT WE COPIED FROM DUOLINGO, AND WHAT WE DID NOT</a:t>
            </a:r>
          </a:p>
          <a:p>
            <a:r>
              <a:t>The daily habit loop, and the principle that the free tier stays genuinely</a:t>
            </a:r>
          </a:p>
          <a:p>
            <a:r>
              <a:t>useful forever rather than being crippled to force conversion. Not the hearts,</a:t>
            </a:r>
          </a:p>
          <a:p>
            <a:r>
              <a:t>not the lives, not the leaderboard, for the reasons on slide 18.</a:t>
            </a:r>
          </a:p>
          <a:p/>
          <a:p>
            <a:r>
              <a:t>BE PRECISE THAT ₹370 IS MODELLED</a:t>
            </a:r>
          </a:p>
          <a:p>
            <a:r>
              <a:t>It is derived in MARKET_AND_PRICING.md from D11's cost targets and published</a:t>
            </a:r>
          </a:p>
          <a:p>
            <a:r>
              <a:t>token pricing: about ₹330 of AI inference and ₹40 of infrastructure for a fully</a:t>
            </a:r>
          </a:p>
          <a:p>
            <a:r>
              <a:t>active learner per year. It is not yet validated against production, because</a:t>
            </a:r>
          </a:p>
          <a:p>
            <a:r>
              <a:t>test-account purges null the learner attribution on our AI spend rows. Say</a:t>
            </a:r>
          </a:p>
          <a:p>
            <a:r>
              <a:t>"modelled" and not "measured". Someone will ask, and the difference is the</a:t>
            </a:r>
          </a:p>
          <a:p>
            <a:r>
              <a:t>whole credibility of the slide.</a:t>
            </a:r>
          </a:p>
          <a:p/>
          <a:p>
            <a:r>
              <a:t>WHY LIVE IS ₹399 AND ONE-TO-ONE IS ₹1,499</a:t>
            </a:r>
          </a:p>
          <a:p>
            <a:r>
              <a:t>Because one is shared and the other is not. A live cohort is one teacher across</a:t>
            </a:r>
          </a:p>
          <a:p>
            <a:r>
              <a:t>roughly fifty learners: at ₹1,200 a session, eight sessions a month, that is</a:t>
            </a:r>
          </a:p>
          <a:p>
            <a:r>
              <a:t>about ₹190 of teacher time per learner, so ₹399 carries it. One-to-one is a</a:t>
            </a:r>
          </a:p>
          <a:p>
            <a:r>
              <a:t>teacher for one child and the cost does not fall with scale. Two private</a:t>
            </a:r>
          </a:p>
          <a:p>
            <a:r>
              <a:t>sessions a month is real money however large we get, which is why it is priced</a:t>
            </a:r>
          </a:p>
          <a:p>
            <a:r>
              <a:t>at four figures and gated on verified supply. Every other margin in this model</a:t>
            </a:r>
          </a:p>
          <a:p>
            <a:r>
              <a:t>improves as inference gets cheaper. Human time does not, and pretending</a:t>
            </a:r>
          </a:p>
          <a:p>
            <a:r>
              <a:t>otherwise is how a promised service quietly stops being deliverable.</a:t>
            </a:r>
          </a:p>
          <a:p/>
          <a:p>
            <a:r>
              <a:t>THE ORDER THEY ARRIVE IN</a:t>
            </a:r>
          </a:p>
          <a:p>
            <a:r>
              <a:t>Plus in Phase 2, alongside the first institutional pilots. Live in Phase 3,</a:t>
            </a:r>
          </a:p>
          <a:p>
            <a:r>
              <a:t>because it needs teachers on a timetable and a batch big enough to fill.</a:t>
            </a:r>
          </a:p>
          <a:p>
            <a:r>
              <a:t>One-to-one last, and only if the demand signal holds: 53 offers and 3 accepted</a:t>
            </a:r>
          </a:p>
          <a:p>
            <a:r>
              <a:t>today is not yet a reason to hire anybody.</a:t>
            </a:r>
          </a:p>
          <a:p/>
          <a:p>
            <a:r>
              <a:t>THE INSTITUTIONAL VERSION OF ONE-TO-ONE</a:t>
            </a:r>
          </a:p>
          <a:p>
            <a:r>
              <a:t>An NGO can fund private sessions for the learners our struggle detection flags,</a:t>
            </a:r>
          </a:p>
          <a:p>
            <a:r>
              <a:t>rather than a family paying ₹1,499. That is the same feature reaching the</a:t>
            </a:r>
          </a:p>
          <a:p>
            <a:r>
              <a:t>learners who need it most, paid for by the budget that exists for exactly that.</a:t>
            </a:r>
          </a:p>
          <a:p/>
          <a:p>
            <a:r>
              <a:t>WHY NOT ADVERTISING, IN ONE LINE</a:t>
            </a:r>
          </a:p>
          <a:p>
            <a:r>
              <a:t>Section 9(3) of the DPDP Act 2023 prohibits tracking, behavioural monitoring</a:t>
            </a:r>
          </a:p>
          <a:p>
            <a:r>
              <a:t>and targeted advertising directed at children, and parental consent does not</a:t>
            </a:r>
          </a:p>
          <a:p>
            <a:r>
              <a:t>lift it. Every user we have is 11 to 14. This is worth saying out loud because</a:t>
            </a:r>
          </a:p>
          <a:p>
            <a:r>
              <a:t>it removes the obvious answer to "how does a free product survive", and because</a:t>
            </a:r>
          </a:p>
          <a:p>
            <a:r>
              <a:t>a team that knows the regulation reads as a team that read it.</a:t>
            </a:r>
          </a:p>
          <a:p/>
          <a:p>
            <a:r>
              <a:t>IF ASKED ABOUT THE 1 TO 2% CONVERSION</a:t>
            </a:r>
          </a:p>
          <a:p>
            <a:r>
              <a:t>It is deliberately pessimistic and it should be. The people we serve are</a:t>
            </a:r>
          </a:p>
          <a:p>
            <a:r>
              <a:t>defined by not being able to afford ₹500 a month of tuition, so assuming they</a:t>
            </a:r>
          </a:p>
          <a:p>
            <a:r>
              <a:t>will pay ₹99 a month at typical freemium rates would be assuming away the</a:t>
            </a:r>
          </a:p>
          <a:p>
            <a:r>
              <a:t>problem the product exists to solve.</a:t>
            </a:r>
          </a:p>
          <a:p/>
          <a:p>
            <a:r>
              <a:t>IF ASKED WHAT KILLS THIS MODEL</a:t>
            </a:r>
          </a:p>
          <a:p>
            <a:r>
              <a:t>Institutions buying on cost per beneficiary and treating ₹450 as a ceiling.</a:t>
            </a:r>
          </a:p>
          <a:p>
            <a:r>
              <a:t>That is in MARKET_AND_PRICING.md as a named risk rather than a footnote. The</a:t>
            </a:r>
          </a:p>
          <a:p>
            <a:r>
              <a:t>mitigation is volume tiers and the fact that a free-tier learner costs about</a:t>
            </a:r>
          </a:p>
          <a:p>
            <a:r>
              <a:t>₹120 rather than ₹370, so a realistic cohort mix carries more margin than the</a:t>
            </a:r>
          </a:p>
          <a:p>
            <a:r>
              <a:t>worst case implies.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SLIDE IS SO LATE IN THE DECK</a:t>
            </a:r>
          </a:p>
          <a:p>
            <a:r>
              <a:t>Because the last thing a room should hear before the close is the people the</a:t>
            </a:r>
          </a:p>
          <a:p>
            <a:r>
              <a:t>product is for, in their own words, rather than another claim from us. Slide 20</a:t>
            </a:r>
          </a:p>
          <a:p>
            <a:r>
              <a:t>used four of these analytically to set up the roadmap. This is the whole set.</a:t>
            </a:r>
          </a:p>
          <a:p/>
          <a:p>
            <a:r>
              <a:t>THESE ARE CARDS, NOT SCREENSHOTS</a:t>
            </a:r>
          </a:p>
          <a:p>
            <a:r>
              <a:t>There is no screen in Dagar that displays other people's feedback, so a</a:t>
            </a:r>
          </a:p>
          <a:p>
            <a:r>
              <a:t>screenshot would have meant inventing a picture of a product surface that does</a:t>
            </a:r>
          </a:p>
          <a:p>
            <a:r>
              <a:t>not exist. The words are verbatim from the database, spelling included, and</a:t>
            </a:r>
          </a:p>
          <a:p>
            <a:r>
              <a:t>where a quote is trimmed there is an ellipsis.</a:t>
            </a:r>
          </a:p>
          <a:p/>
          <a:p>
            <a:r>
              <a:t>THE NUMBER THAT MATTERS MOST</a:t>
            </a:r>
          </a:p>
          <a:p>
            <a:r>
              <a:t>15 of 15 said it helped them understand something: 14 "yes" and 1 "a bit". Say</a:t>
            </a:r>
          </a:p>
          <a:p>
            <a:r>
              <a:t>the split. One respondent said they would not use it again and still said it</a:t>
            </a:r>
          </a:p>
          <a:p>
            <a:r>
              <a:t>helped them understand, which is a more interesting data point than a clean</a:t>
            </a:r>
          </a:p>
          <a:p>
            <a:r>
              <a:t>sweep would have been.</a:t>
            </a:r>
          </a:p>
          <a:p/>
          <a:p>
            <a:r>
              <a:t>THE HINGLISH RESPONSE IS EVIDENCE, NOT DECORATION</a:t>
            </a:r>
          </a:p>
          <a:p>
            <a:r>
              <a:t>A learner writing back in Hinglish, unprompted, and specifically noting that</a:t>
            </a:r>
          </a:p>
          <a:p>
            <a:r>
              <a:t>both languages are there, is the bilingual decision being validated by the</a:t>
            </a:r>
          </a:p>
          <a:p>
            <a:r>
              <a:t>person it was made for.</a:t>
            </a:r>
          </a:p>
          <a:p/>
          <a:p>
            <a:r>
              <a:t>IF ASKED ABOUT THE NEGATIVE ONES</a:t>
            </a:r>
          </a:p>
          <a:p>
            <a:r>
              <a:t>Two are on the slide on purpose. "Data handling chapter" as an answer to what</a:t>
            </a:r>
          </a:p>
          <a:p>
            <a:r>
              <a:t>confused them is a content problem in a specific chapter and it is on the list</a:t>
            </a:r>
          </a:p>
          <a:p>
            <a:r>
              <a:t>to rewrite. "Please add a few more chapters" is the roadmap's top item arriving</a:t>
            </a:r>
          </a:p>
          <a:p>
            <a:r>
              <a:t>unprompted from a user.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VIDEO CANNOT BE PLAYED</a:t>
            </a:r>
          </a:p>
          <a:p>
            <a:r>
              <a:t>This slide is the demo. Four screens in the order a learner meets them, and the</a:t>
            </a:r>
          </a:p>
          <a:p>
            <a:r>
              <a:t>address to open it live. Nothing in the recording is on the video only.</a:t>
            </a:r>
          </a:p>
          <a:p/>
          <a:p>
            <a:r>
              <a:t>WHAT TO POINT AT WHILE IT PLAYS</a:t>
            </a:r>
          </a:p>
          <a:p>
            <a:r>
              <a:t>The order, not the features. Lesson, then practice on the same concept while it</a:t>
            </a:r>
          </a:p>
          <a:p>
            <a:r>
              <a:t>is still warm, then progress that the parent sees without an account. Every</a:t>
            </a:r>
          </a:p>
          <a:p>
            <a:r>
              <a:t>competitor has lessons and quizzes. The sequence is the product.</a:t>
            </a:r>
          </a:p>
          <a:p/>
          <a:p>
            <a:r>
              <a:t>WHY THE VOICE IS SYNTHETIC</a:t>
            </a:r>
          </a:p>
          <a:p>
            <a:r>
              <a:t>Two reasons and the second is the real one. It keeps the demo re-recordable</a:t>
            </a:r>
          </a:p>
          <a:p>
            <a:r>
              <a:t>when the product changes, and it means the Hindi version exists at all rather</a:t>
            </a:r>
          </a:p>
          <a:p>
            <a:r>
              <a:t>than waiting for someone to record it. The product's whole argument is that a</a:t>
            </a:r>
          </a:p>
          <a:p>
            <a:r>
              <a:t>learner should not have to work in their second language to get help, and a</a:t>
            </a:r>
          </a:p>
          <a:p>
            <a:r>
              <a:t>demo that is English-only would contradict that on the way out of the room.</a:t>
            </a:r>
          </a:p>
          <a:p/>
          <a:p>
            <a:r>
              <a:t>IF ASKED WHETHER IT IS A REAL RECORDING</a:t>
            </a:r>
          </a:p>
          <a:p>
            <a:r>
              <a:t>Yes. It is the running app on a phone, not a prototype and not a mock-up. Only</a:t>
            </a:r>
          </a:p>
          <a:p>
            <a:r>
              <a:t>the voice is generated.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SUMMARISE THE DECK</a:t>
            </a:r>
          </a:p>
          <a:p>
            <a:r>
              <a:t>They have just watched twenty five slides. Repeating them is the fastest way to</a:t>
            </a:r>
          </a:p>
          <a:p>
            <a:r>
              <a:t>lose the room in the last minute. This slide says one new thing: it is real,</a:t>
            </a:r>
          </a:p>
          <a:p>
            <a:r>
              <a:t>it is open now, and children have already used it.</a:t>
            </a:r>
          </a:p>
          <a:p/>
          <a:p>
            <a:r>
              <a:t>THE ONE INSTRUCTION</a:t>
            </a:r>
          </a:p>
          <a:p>
            <a:r>
              <a:t>"Open it on your phone and give it to a child." That is the ask. Not funding,</a:t>
            </a:r>
          </a:p>
          <a:p>
            <a:r>
              <a:t>not a pilot, not a follow-up meeting. Everything about this product is judged</a:t>
            </a:r>
          </a:p>
          <a:p>
            <a:r>
              <a:t>by whether a twelve-year-old can use it unaided, and the fastest way to find</a:t>
            </a:r>
          </a:p>
          <a:p>
            <a:r>
              <a:t>out is to hand a phone over. No download and no account stands between a judge</a:t>
            </a:r>
          </a:p>
          <a:p>
            <a:r>
              <a:t>and that test, which is the whole point of slide 22.</a:t>
            </a:r>
          </a:p>
          <a:p/>
          <a:p>
            <a:r>
              <a:t>THE FOUR NUMBERS ARE THE ONLY CLAIM</a:t>
            </a:r>
          </a:p>
          <a:p>
            <a:r>
              <a:t>30 learners, 133 lessons finished, 761 questions answered, 15 of 15 saying it</a:t>
            </a:r>
          </a:p>
          <a:p>
            <a:r>
              <a:t>helped them understand something. Every one is checkable in the product and</a:t>
            </a:r>
          </a:p>
          <a:p>
            <a:r>
              <a:t>none of them is a projection.</a:t>
            </a:r>
          </a:p>
          <a:p/>
          <a:p>
            <a:r>
              <a:t>IF THERE IS TIME FOR ONE LAST SENTENCE</a:t>
            </a:r>
          </a:p>
          <a:p>
            <a:r>
              <a:t>The mission is that every learner reaches their full potential whatever they</a:t>
            </a:r>
          </a:p>
          <a:p>
            <a:r>
              <a:t>can afford, wherever they start, however they learn. Four days does not deliver</a:t>
            </a:r>
          </a:p>
          <a:p>
            <a:r>
              <a:t>that. It delivers evidence that the shape of the answer is right.</a:t>
            </a:r>
          </a:p>
          <a:p/>
          <a:p>
            <a:r>
              <a:t>IF ASKED WHAT WE NEED</a:t>
            </a:r>
          </a:p>
          <a:p>
            <a:r>
              <a:t>Access, not money. Two or three classrooms in Hindi-medium government schools,</a:t>
            </a:r>
          </a:p>
          <a:p>
            <a:r>
              <a:t>and a teacher willing to tell us what breaks. Everything on the roadmap moves</a:t>
            </a:r>
          </a:p>
          <a:p>
            <a:r>
              <a:t>faster with real learners in front of it than with anything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whatever their family can pay.</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5980176"/>
            <a:ext cx="10509199" cy="256032"/>
          </a:xfrm>
          <a:prstGeom prst="rect">
            <a:avLst/>
          </a:prstGeom>
          <a:noFill/>
        </p:spPr>
        <p:txBody>
          <a:bodyPr wrap="square" lIns="0" rIns="0" tIns="0" bIns="0" anchor="t">
            <a:spAutoFit/>
          </a:bodyPr>
          <a:lstStyle/>
          <a:p>
            <a:pPr algn="l">
              <a:spcBef>
                <a:spcPts val="0"/>
              </a:spcBef>
              <a:spcAft>
                <a:spcPts val="0"/>
              </a:spcAft>
            </a:pPr>
            <a:r>
              <a:rPr sz="1100" b="1" i="0">
                <a:solidFill>
                  <a:srgbClr val="0F766E"/>
                </a:solidFill>
                <a:latin typeface="Arial"/>
              </a:rPr>
              <a:t>It is live right now, and free to open:  dagar-ap19.vercel.app</a:t>
            </a:r>
          </a:p>
        </p:txBody>
      </p:sp>
      <p:sp>
        <p:nvSpPr>
          <p:cNvPr id="24" name="TextBox 23"/>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5" name="TextBox 24"/>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500K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Half funded by institutions, half reached directly, of whom a small share subscribe.</a:t>
            </a:r>
          </a:p>
          <a:p>
            <a:pPr algn="l">
              <a:spcBef>
                <a:spcPts val="0"/>
              </a:spcBef>
              <a:spcAft>
                <a:spcPts val="0"/>
              </a:spcAft>
            </a:pPr>
            <a:r>
              <a:rPr sz="1100" b="1" i="0">
                <a:solidFill>
                  <a:srgbClr val="1A2733"/>
                </a:solidFill>
                <a:latin typeface="Arial"/>
              </a:rPr>
              <a:t>₹13.3 Cr  ·  $1.51M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is ever priced out of learning here.</a:t>
            </a:r>
          </a:p>
          <a:p>
            <a:pPr algn="l">
              <a:lnSpc>
                <a:spcPct val="124000"/>
              </a:lnSpc>
              <a:spcBef>
                <a:spcPts val="0"/>
              </a:spcBef>
              <a:spcAft>
                <a:spcPts val="0"/>
              </a:spcAft>
            </a:pPr>
            <a:r>
              <a:rPr sz="1000" b="0" i="0">
                <a:solidFill>
                  <a:srgbClr val="3F4A57"/>
                </a:solidFill>
                <a:latin typeface="Arial"/>
              </a:rPr>
              <a:t>Two routes to the same product. Institutions buy reach for learners who cannot pay, at ₹450 each. Families who can pay subscribe for depth and fund the rest. The core lessons stay free either way, and ₹450 is a floor set by cost: an active learner costs about ₹370 a year. Tiers on slide 23.</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 min</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Marking is done by Opus, deliberately stronger than the Sonnet it marks, so when three runs disagree it means the TUTOR answered differently.</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47 of 50</a:t>
            </a:r>
          </a:p>
          <a:p>
            <a:pPr algn="l">
              <a:lnSpc>
                <a:spcPct val="122000"/>
              </a:lnSpc>
              <a:spcBef>
                <a:spcPts val="0"/>
              </a:spcBef>
              <a:spcAft>
                <a:spcPts val="0"/>
              </a:spcAft>
            </a:pPr>
            <a:r>
              <a:rPr sz="950" b="0" i="0">
                <a:solidFill>
                  <a:srgbClr val="3F4A57"/>
                </a:solidFill>
                <a:latin typeface="Arial"/>
              </a:rPr>
              <a:t>9 of 9 on the attacks, 3 of 3 on defects we already fixed, and 21 of 22 on real learner traffic. Above the 90% we set ourselves, and it took a stronger judge to see it.</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36 questions learners have sent the tutor, 11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53 offers made, 3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38 learners used it. 19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52</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38</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16 of 19</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respondents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19 responses is not a market study, and the last quote is worth more than all the rest.</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18 of 19 said it helped them understand something, 16 would come back, a learner asked us to build the feature we already ship, and only 14 of 38 active learners have ever opened the tutor.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out of 10 and averaged, on what learners tell us and on what we watch them do. Reach is left out: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TextBox 7"/>
          <p:cNvSpPr txBox="1"/>
          <p:nvPr/>
        </p:nvSpPr>
        <p:spPr>
          <a:xfrm>
            <a:off x="621792" y="1847088"/>
            <a:ext cx="36576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RANK</a:t>
            </a:r>
          </a:p>
        </p:txBody>
      </p:sp>
      <p:sp>
        <p:nvSpPr>
          <p:cNvPr id="9" name="TextBox 8"/>
          <p:cNvSpPr txBox="1"/>
          <p:nvPr/>
        </p:nvSpPr>
        <p:spPr>
          <a:xfrm>
            <a:off x="1133856"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10" name="TextBox 9"/>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1" name="TextBox 10"/>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2" name="TextBox 11"/>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3" name="TextBox 12"/>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4" name="Rectangle 13"/>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4825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1</a:t>
            </a:r>
          </a:p>
        </p:txBody>
      </p:sp>
      <p:sp>
        <p:nvSpPr>
          <p:cNvPr id="17" name="TextBox 16"/>
          <p:cNvSpPr txBox="1"/>
          <p:nvPr/>
        </p:nvSpPr>
        <p:spPr>
          <a:xfrm>
            <a:off x="1133856" y="2020824"/>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18" name="TextBox 17"/>
          <p:cNvSpPr txBox="1"/>
          <p:nvPr/>
        </p:nvSpPr>
        <p:spPr>
          <a:xfrm>
            <a:off x="1133856" y="2194560"/>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Joint loudest request, 8 of 19 in a forced choice. One chapter per grade is a ceiling: finish it and there is nothing to return to</a:t>
            </a:r>
          </a:p>
        </p:txBody>
      </p:sp>
      <p:sp>
        <p:nvSpPr>
          <p:cNvPr id="19" name="TextBox 18"/>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0" name="TextBox 19"/>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1" name="TextBox 20"/>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2" name="TextBox 21"/>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9.0</a:t>
            </a:r>
          </a:p>
        </p:txBody>
      </p:sp>
      <p:sp>
        <p:nvSpPr>
          <p:cNvPr id="23" name="TextBox 22"/>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4" name="Rectangle 23"/>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247802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2</a:t>
            </a:r>
          </a:p>
        </p:txBody>
      </p:sp>
      <p:sp>
        <p:nvSpPr>
          <p:cNvPr id="26" name="TextBox 25"/>
          <p:cNvSpPr txBox="1"/>
          <p:nvPr/>
        </p:nvSpPr>
        <p:spPr>
          <a:xfrm>
            <a:off x="1133856" y="245059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practice questions, and a wider quiz pool</a:t>
            </a:r>
          </a:p>
        </p:txBody>
      </p:sp>
      <p:sp>
        <p:nvSpPr>
          <p:cNvPr id="27" name="TextBox 26"/>
          <p:cNvSpPr txBox="1"/>
          <p:nvPr/>
        </p:nvSpPr>
        <p:spPr>
          <a:xfrm>
            <a:off x="1133856" y="262432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Joint loudest too, 8 of 19. A chapter quiz is 8 questions and a retake is the same 8, so there is nothing new to come back for</a:t>
            </a:r>
          </a:p>
        </p:txBody>
      </p:sp>
      <p:sp>
        <p:nvSpPr>
          <p:cNvPr id="28" name="TextBox 27"/>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9" name="TextBox 28"/>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0" name="TextBox 29"/>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1" name="TextBox 30"/>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8.7</a:t>
            </a:r>
          </a:p>
        </p:txBody>
      </p:sp>
      <p:sp>
        <p:nvSpPr>
          <p:cNvPr id="32" name="TextBox 31"/>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3" name="Rectangle 32"/>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290779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3</a:t>
            </a:r>
          </a:p>
        </p:txBody>
      </p:sp>
      <p:sp>
        <p:nvSpPr>
          <p:cNvPr id="36" name="TextBox 35"/>
          <p:cNvSpPr txBox="1"/>
          <p:nvPr/>
        </p:nvSpPr>
        <p:spPr>
          <a:xfrm>
            <a:off x="1133856" y="288036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37" name="TextBox 36"/>
          <p:cNvSpPr txBox="1"/>
          <p:nvPr/>
        </p:nvSpPr>
        <p:spPr>
          <a:xfrm>
            <a:off x="1133856" y="305409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11 of 36 tutor messages are about the screen. 14 of 38 have ever opened the tutor</a:t>
            </a:r>
          </a:p>
        </p:txBody>
      </p:sp>
      <p:sp>
        <p:nvSpPr>
          <p:cNvPr id="38" name="TextBox 37"/>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9" name="TextBox 38"/>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0" name="TextBox 39"/>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1" name="TextBox 40"/>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8.3</a:t>
            </a:r>
          </a:p>
        </p:txBody>
      </p:sp>
      <p:sp>
        <p:nvSpPr>
          <p:cNvPr id="42" name="TextBox 41"/>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43" name="Rectangle 42"/>
          <p:cNvSpPr/>
          <p:nvPr/>
        </p:nvSpPr>
        <p:spPr>
          <a:xfrm>
            <a:off x="475488" y="3300984"/>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333756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4</a:t>
            </a:r>
          </a:p>
        </p:txBody>
      </p:sp>
      <p:sp>
        <p:nvSpPr>
          <p:cNvPr id="45" name="TextBox 44"/>
          <p:cNvSpPr txBox="1"/>
          <p:nvPr/>
        </p:nvSpPr>
        <p:spPr>
          <a:xfrm>
            <a:off x="1133856" y="331012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46" name="TextBox 45"/>
          <p:cNvSpPr txBox="1"/>
          <p:nvPr/>
        </p:nvSpPr>
        <p:spPr>
          <a:xfrm>
            <a:off x="1133856" y="3483864"/>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47" name="TextBox 46"/>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8" name="TextBox 47"/>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49" name="TextBox 48"/>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50" name="TextBox 49"/>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51" name="TextBox 50"/>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52" name="Rectangle 51"/>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3767328"/>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5</a:t>
            </a:r>
          </a:p>
        </p:txBody>
      </p:sp>
      <p:sp>
        <p:nvSpPr>
          <p:cNvPr id="55" name="TextBox 54"/>
          <p:cNvSpPr txBox="1"/>
          <p:nvPr/>
        </p:nvSpPr>
        <p:spPr>
          <a:xfrm>
            <a:off x="1133856" y="3739896"/>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56" name="TextBox 55"/>
          <p:cNvSpPr txBox="1"/>
          <p:nvPr/>
        </p:nvSpPr>
        <p:spPr>
          <a:xfrm>
            <a:off x="1133856" y="3913632"/>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57" name="TextBox 56"/>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58" name="TextBox 57"/>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9" name="TextBox 58"/>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60" name="TextBox 59"/>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61" name="TextBox 60"/>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62" name="Rectangle 61"/>
          <p:cNvSpPr/>
          <p:nvPr/>
        </p:nvSpPr>
        <p:spPr>
          <a:xfrm>
            <a:off x="475488" y="4160520"/>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 y="419709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6</a:t>
            </a:r>
          </a:p>
        </p:txBody>
      </p:sp>
      <p:sp>
        <p:nvSpPr>
          <p:cNvPr id="64" name="TextBox 63"/>
          <p:cNvSpPr txBox="1"/>
          <p:nvPr/>
        </p:nvSpPr>
        <p:spPr>
          <a:xfrm>
            <a:off x="1133856" y="4169663"/>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65" name="TextBox 64"/>
          <p:cNvSpPr txBox="1"/>
          <p:nvPr/>
        </p:nvSpPr>
        <p:spPr>
          <a:xfrm>
            <a:off x="1133856" y="4343399"/>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66" name="TextBox 65"/>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67" name="TextBox 66"/>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8" name="TextBox 67"/>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69" name="TextBox 68"/>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70" name="TextBox 69"/>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71" name="Rectangle 70"/>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 y="462686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7</a:t>
            </a:r>
          </a:p>
        </p:txBody>
      </p:sp>
      <p:sp>
        <p:nvSpPr>
          <p:cNvPr id="74" name="TextBox 73"/>
          <p:cNvSpPr txBox="1"/>
          <p:nvPr/>
        </p:nvSpPr>
        <p:spPr>
          <a:xfrm>
            <a:off x="1133856" y="459943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75" name="TextBox 74"/>
          <p:cNvSpPr txBox="1"/>
          <p:nvPr/>
        </p:nvSpPr>
        <p:spPr>
          <a:xfrm>
            <a:off x="1133856" y="477316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76" name="TextBox 75"/>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7" name="TextBox 76"/>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8" name="TextBox 77"/>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9" name="TextBox 78"/>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80" name="TextBox 79"/>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81" name="Rectangle 80"/>
          <p:cNvSpPr/>
          <p:nvPr/>
        </p:nvSpPr>
        <p:spPr>
          <a:xfrm>
            <a:off x="475488" y="5020056"/>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21792" y="505663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8</a:t>
            </a:r>
          </a:p>
        </p:txBody>
      </p:sp>
      <p:sp>
        <p:nvSpPr>
          <p:cNvPr id="83" name="TextBox 82"/>
          <p:cNvSpPr txBox="1"/>
          <p:nvPr/>
        </p:nvSpPr>
        <p:spPr>
          <a:xfrm>
            <a:off x="1133856" y="502920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84" name="TextBox 83"/>
          <p:cNvSpPr txBox="1"/>
          <p:nvPr/>
        </p:nvSpPr>
        <p:spPr>
          <a:xfrm>
            <a:off x="1133856" y="520293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53 offers and 3 accepted is not yet a reason to pay anyone to be on call</a:t>
            </a:r>
          </a:p>
        </p:txBody>
      </p:sp>
      <p:sp>
        <p:nvSpPr>
          <p:cNvPr id="85" name="TextBox 84"/>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86" name="TextBox 85"/>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87" name="TextBox 86"/>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88" name="TextBox 87"/>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89" name="TextBox 88"/>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90" name="Rectangle 89"/>
          <p:cNvSpPr/>
          <p:nvPr/>
        </p:nvSpPr>
        <p:spPr>
          <a:xfrm>
            <a:off x="475488" y="5449824"/>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75488" y="544982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21792" y="548640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9</a:t>
            </a:r>
          </a:p>
        </p:txBody>
      </p:sp>
      <p:sp>
        <p:nvSpPr>
          <p:cNvPr id="93" name="TextBox 92"/>
          <p:cNvSpPr txBox="1"/>
          <p:nvPr/>
        </p:nvSpPr>
        <p:spPr>
          <a:xfrm>
            <a:off x="1133856" y="545896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 more languages, a view for teachers</a:t>
            </a:r>
          </a:p>
        </p:txBody>
      </p:sp>
      <p:sp>
        <p:nvSpPr>
          <p:cNvPr id="94" name="TextBox 93"/>
          <p:cNvSpPr txBox="1"/>
          <p:nvPr/>
        </p:nvSpPr>
        <p:spPr>
          <a:xfrm>
            <a:off x="1133856" y="5632703"/>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next slide. Not scored here, because breadth is what solving one learner properly earns you, and these get numbers when the rows above are done</a:t>
            </a:r>
          </a:p>
        </p:txBody>
      </p:sp>
      <p:sp>
        <p:nvSpPr>
          <p:cNvPr id="95" name="TextBox 94"/>
          <p:cNvSpPr txBox="1"/>
          <p:nvPr/>
        </p:nvSpPr>
        <p:spPr>
          <a:xfrm>
            <a:off x="788212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6" name="TextBox 95"/>
          <p:cNvSpPr txBox="1"/>
          <p:nvPr/>
        </p:nvSpPr>
        <p:spPr>
          <a:xfrm>
            <a:off x="852220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7" name="TextBox 96"/>
          <p:cNvSpPr txBox="1"/>
          <p:nvPr/>
        </p:nvSpPr>
        <p:spPr>
          <a:xfrm>
            <a:off x="9162288"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8" name="TextBox 97"/>
          <p:cNvSpPr txBox="1"/>
          <p:nvPr/>
        </p:nvSpPr>
        <p:spPr>
          <a:xfrm>
            <a:off x="9893807" y="546811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99" name="TextBox 98"/>
          <p:cNvSpPr txBox="1"/>
          <p:nvPr/>
        </p:nvSpPr>
        <p:spPr>
          <a:xfrm>
            <a:off x="10762487" y="5522975"/>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100" name="Rounded Rectangle 99"/>
          <p:cNvSpPr/>
          <p:nvPr/>
        </p:nvSpPr>
        <p:spPr>
          <a:xfrm>
            <a:off x="566928" y="6099048"/>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66928" y="6217920"/>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77824" y="6236208"/>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Depth first, and depth is specific: more to learn, more to practise, and a screen that does not hide either of them.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LONG-TERM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learner, solved properly, then repeated.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Three phases. Each one starts when the phase before it has been proven, not when a date arrives.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Rounded Rectangle 7"/>
          <p:cNvSpPr/>
          <p:nvPr/>
        </p:nvSpPr>
        <p:spPr>
          <a:xfrm>
            <a:off x="566928"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54864" cy="4754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PHASE 1</a:t>
            </a:r>
          </a:p>
        </p:txBody>
      </p:sp>
      <p:sp>
        <p:nvSpPr>
          <p:cNvPr id="11" name="TextBox 10"/>
          <p:cNvSpPr txBox="1"/>
          <p:nvPr/>
        </p:nvSpPr>
        <p:spPr>
          <a:xfrm>
            <a:off x="768096"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Shipped</a:t>
            </a:r>
          </a:p>
        </p:txBody>
      </p:sp>
      <p:sp>
        <p:nvSpPr>
          <p:cNvPr id="12" name="TextBox 11"/>
          <p:cNvSpPr txBox="1"/>
          <p:nvPr/>
        </p:nvSpPr>
        <p:spPr>
          <a:xfrm>
            <a:off x="621792"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One subject, three classes, two languages</a:t>
            </a:r>
          </a:p>
        </p:txBody>
      </p:sp>
      <p:sp>
        <p:nvSpPr>
          <p:cNvPr id="13" name="TextBox 12"/>
          <p:cNvSpPr txBox="1"/>
          <p:nvPr/>
        </p:nvSpPr>
        <p:spPr>
          <a:xfrm>
            <a:off x="621792"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NCERT Mathematics for Classes 6 to 8, every lesson in Hindi and English</a:t>
            </a:r>
          </a:p>
        </p:txBody>
      </p:sp>
      <p:sp>
        <p:nvSpPr>
          <p:cNvPr id="14" name="TextBox 13"/>
          <p:cNvSpPr txBox="1"/>
          <p:nvPr/>
        </p:nvSpPr>
        <p:spPr>
          <a:xfrm>
            <a:off x="621792"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The full learning loop</a:t>
            </a:r>
          </a:p>
        </p:txBody>
      </p:sp>
      <p:sp>
        <p:nvSpPr>
          <p:cNvPr id="15" name="TextBox 14"/>
          <p:cNvSpPr txBox="1"/>
          <p:nvPr/>
        </p:nvSpPr>
        <p:spPr>
          <a:xfrm>
            <a:off x="621792"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Lessons, AI tutor, practice, quiz, mastery, streaks, milestones</a:t>
            </a:r>
          </a:p>
        </p:txBody>
      </p:sp>
      <p:sp>
        <p:nvSpPr>
          <p:cNvPr id="16" name="TextBox 15"/>
          <p:cNvSpPr txBox="1"/>
          <p:nvPr/>
        </p:nvSpPr>
        <p:spPr>
          <a:xfrm>
            <a:off x="621792"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parent who needs no account</a:t>
            </a:r>
          </a:p>
        </p:txBody>
      </p:sp>
      <p:sp>
        <p:nvSpPr>
          <p:cNvPr id="17" name="TextBox 16"/>
          <p:cNvSpPr txBox="1"/>
          <p:nvPr/>
        </p:nvSpPr>
        <p:spPr>
          <a:xfrm>
            <a:off x="621792"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Progress as a private link, and a mentor request captured for demand</a:t>
            </a:r>
          </a:p>
        </p:txBody>
      </p:sp>
      <p:sp>
        <p:nvSpPr>
          <p:cNvPr id="18" name="TextBox 17"/>
          <p:cNvSpPr txBox="1"/>
          <p:nvPr/>
        </p:nvSpPr>
        <p:spPr>
          <a:xfrm>
            <a:off x="621792"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Free while we learn</a:t>
            </a:r>
          </a:p>
        </p:txBody>
      </p:sp>
      <p:sp>
        <p:nvSpPr>
          <p:cNvPr id="19" name="TextBox 18"/>
          <p:cNvSpPr txBox="1"/>
          <p:nvPr/>
        </p:nvSpPr>
        <p:spPr>
          <a:xfrm>
            <a:off x="621792"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Pricing now would contaminate the activation and retention numbers we are reading. It is a stage, not the model</a:t>
            </a:r>
          </a:p>
        </p:txBody>
      </p:sp>
      <p:sp>
        <p:nvSpPr>
          <p:cNvPr id="20" name="Rounded Rectangle 19"/>
          <p:cNvSpPr/>
          <p:nvPr/>
        </p:nvSpPr>
        <p:spPr>
          <a:xfrm>
            <a:off x="4344314"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4314" y="1883664"/>
            <a:ext cx="54864" cy="475488"/>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5482"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5B6673"/>
                </a:solidFill>
                <a:latin typeface="Arial"/>
              </a:rPr>
              <a:t>PHASE 2</a:t>
            </a:r>
          </a:p>
        </p:txBody>
      </p:sp>
      <p:sp>
        <p:nvSpPr>
          <p:cNvPr id="23" name="TextBox 22"/>
          <p:cNvSpPr txBox="1"/>
          <p:nvPr/>
        </p:nvSpPr>
        <p:spPr>
          <a:xfrm>
            <a:off x="4545482"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Expansion, once depth is done</a:t>
            </a:r>
          </a:p>
        </p:txBody>
      </p:sp>
      <p:sp>
        <p:nvSpPr>
          <p:cNvPr id="24" name="TextBox 23"/>
          <p:cNvSpPr txBox="1"/>
          <p:nvPr/>
        </p:nvSpPr>
        <p:spPr>
          <a:xfrm>
            <a:off x="4399178"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a:t>
            </a:r>
          </a:p>
        </p:txBody>
      </p:sp>
      <p:sp>
        <p:nvSpPr>
          <p:cNvPr id="25" name="TextBox 24"/>
          <p:cNvSpPr txBox="1"/>
          <p:nvPr/>
        </p:nvSpPr>
        <p:spPr>
          <a:xfrm>
            <a:off x="4399178"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Science next, then the classes either side of 6 to 8. The content model already takes them</a:t>
            </a:r>
          </a:p>
        </p:txBody>
      </p:sp>
      <p:sp>
        <p:nvSpPr>
          <p:cNvPr id="26" name="TextBox 25"/>
          <p:cNvSpPr txBox="1"/>
          <p:nvPr/>
        </p:nvSpPr>
        <p:spPr>
          <a:xfrm>
            <a:off x="4399178"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languages</a:t>
            </a:r>
          </a:p>
        </p:txBody>
      </p:sp>
      <p:sp>
        <p:nvSpPr>
          <p:cNvPr id="27" name="TextBox 26"/>
          <p:cNvSpPr txBox="1"/>
          <p:nvPr/>
        </p:nvSpPr>
        <p:spPr>
          <a:xfrm>
            <a:off x="4399178"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Marathi, Tamil and Bengali. The bilingual work was built as a pattern, not a special case</a:t>
            </a:r>
          </a:p>
        </p:txBody>
      </p:sp>
      <p:sp>
        <p:nvSpPr>
          <p:cNvPr id="28" name="TextBox 27"/>
          <p:cNvSpPr txBox="1"/>
          <p:nvPr/>
        </p:nvSpPr>
        <p:spPr>
          <a:xfrm>
            <a:off x="4399178"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Views for the adults</a:t>
            </a:r>
          </a:p>
        </p:txBody>
      </p:sp>
      <p:sp>
        <p:nvSpPr>
          <p:cNvPr id="29" name="TextBox 28"/>
          <p:cNvSpPr txBox="1"/>
          <p:nvPr/>
        </p:nvSpPr>
        <p:spPr>
          <a:xfrm>
            <a:off x="4399178"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dashboard for a class, an NGO dashboard for a cohort, and the WhatsApp summary once Meta approves</a:t>
            </a:r>
          </a:p>
        </p:txBody>
      </p:sp>
      <p:sp>
        <p:nvSpPr>
          <p:cNvPr id="30" name="TextBox 29"/>
          <p:cNvSpPr txBox="1"/>
          <p:nvPr/>
        </p:nvSpPr>
        <p:spPr>
          <a:xfrm>
            <a:off x="4399178"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First money, from both sides</a:t>
            </a:r>
          </a:p>
        </p:txBody>
      </p:sp>
      <p:sp>
        <p:nvSpPr>
          <p:cNvPr id="31" name="TextBox 30"/>
          <p:cNvSpPr txBox="1"/>
          <p:nvPr/>
        </p:nvSpPr>
        <p:spPr>
          <a:xfrm>
            <a:off x="4399178"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Paid CSR and NGO pilots, and Dagar Plus for families who can pay, tested in parallel rather than one after the other</a:t>
            </a:r>
          </a:p>
        </p:txBody>
      </p:sp>
      <p:sp>
        <p:nvSpPr>
          <p:cNvPr id="32" name="Rounded Rectangle 31"/>
          <p:cNvSpPr/>
          <p:nvPr/>
        </p:nvSpPr>
        <p:spPr>
          <a:xfrm>
            <a:off x="8121700"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1700" y="1883664"/>
            <a:ext cx="54864" cy="4754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2868"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B45309"/>
                </a:solidFill>
                <a:latin typeface="Arial"/>
              </a:rPr>
              <a:t>PHASE 3</a:t>
            </a:r>
          </a:p>
        </p:txBody>
      </p:sp>
      <p:sp>
        <p:nvSpPr>
          <p:cNvPr id="35" name="TextBox 34"/>
          <p:cNvSpPr txBox="1"/>
          <p:nvPr/>
        </p:nvSpPr>
        <p:spPr>
          <a:xfrm>
            <a:off x="8322868"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The platform it is meant to be</a:t>
            </a:r>
          </a:p>
        </p:txBody>
      </p:sp>
      <p:sp>
        <p:nvSpPr>
          <p:cNvPr id="36" name="TextBox 35"/>
          <p:cNvSpPr txBox="1"/>
          <p:nvPr/>
        </p:nvSpPr>
        <p:spPr>
          <a:xfrm>
            <a:off x="8176564"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Accessibility as the product, not a setting</a:t>
            </a:r>
          </a:p>
        </p:txBody>
      </p:sp>
      <p:sp>
        <p:nvSpPr>
          <p:cNvPr id="37" name="TextBox 36"/>
          <p:cNvSpPr txBox="1"/>
          <p:nvPr/>
        </p:nvSpPr>
        <p:spPr>
          <a:xfrm>
            <a:off x="8176564"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For learners with visual, hearing and speech impairments and for neurodiverse learners, with voice-first learning throughout</a:t>
            </a:r>
          </a:p>
        </p:txBody>
      </p:sp>
      <p:sp>
        <p:nvSpPr>
          <p:cNvPr id="38" name="TextBox 37"/>
          <p:cNvSpPr txBox="1"/>
          <p:nvPr/>
        </p:nvSpPr>
        <p:spPr>
          <a:xfrm>
            <a:off x="8176564"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New personas, not just new content</a:t>
            </a:r>
          </a:p>
        </p:txBody>
      </p:sp>
      <p:sp>
        <p:nvSpPr>
          <p:cNvPr id="39" name="TextBox 38"/>
          <p:cNvSpPr txBox="1"/>
          <p:nvPr/>
        </p:nvSpPr>
        <p:spPr>
          <a:xfrm>
            <a:off x="8176564"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Adult literacy learners, and the groups above designed for rather than accommodated. Same engine, a different learner</a:t>
            </a:r>
          </a:p>
        </p:txBody>
      </p:sp>
      <p:sp>
        <p:nvSpPr>
          <p:cNvPr id="40" name="TextBox 39"/>
          <p:cNvSpPr txBox="1"/>
          <p:nvPr/>
        </p:nvSpPr>
        <p:spPr>
          <a:xfrm>
            <a:off x="8176564"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Learning that works offline</a:t>
            </a:r>
          </a:p>
        </p:txBody>
      </p:sp>
      <p:sp>
        <p:nvSpPr>
          <p:cNvPr id="41" name="TextBox 40"/>
          <p:cNvSpPr txBox="1"/>
          <p:nvPr/>
        </p:nvSpPr>
        <p:spPr>
          <a:xfrm>
            <a:off x="8176564"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The last barrier that is about infrastructure rather than teaching</a:t>
            </a:r>
          </a:p>
        </p:txBody>
      </p:sp>
      <p:sp>
        <p:nvSpPr>
          <p:cNvPr id="42" name="TextBox 41"/>
          <p:cNvSpPr txBox="1"/>
          <p:nvPr/>
        </p:nvSpPr>
        <p:spPr>
          <a:xfrm>
            <a:off x="8176564"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Live classes, then a mentor</a:t>
            </a:r>
          </a:p>
        </p:txBody>
      </p:sp>
      <p:sp>
        <p:nvSpPr>
          <p:cNvPr id="43" name="TextBox 42"/>
          <p:cNvSpPr txBox="1"/>
          <p:nvPr/>
        </p:nvSpPr>
        <p:spPr>
          <a:xfrm>
            <a:off x="8176564"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to a batch first, because that scales. One-to-one after, and only if the demand signal we collect today holds up</a:t>
            </a:r>
          </a:p>
        </p:txBody>
      </p:sp>
      <p:sp>
        <p:nvSpPr>
          <p:cNvPr id="44" name="Rounded Rectangle 43"/>
          <p:cNvSpPr/>
          <p:nvPr/>
        </p:nvSpPr>
        <p:spPr>
          <a:xfrm>
            <a:off x="566928" y="5742432"/>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5861304"/>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 y="5879592"/>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No dates on this slide. A phase starts when the one before it is proven, and saying otherwise would be the easiest thing here to be wrong about.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22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Nothing to install, and nothing in the way.</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hardest step in Indian edtech is the first one. Dagar removes the install, the app store and the parent's account. Open it now: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22</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a:t>
            </a:r>
          </a:p>
          <a:p>
            <a:pPr algn="l">
              <a:lnSpc>
                <a:spcPct val="115000"/>
              </a:lnSpc>
              <a:spcBef>
                <a:spcPts val="0"/>
              </a:spcBef>
              <a:spcAft>
                <a:spcPts val="300"/>
              </a:spcAft>
            </a:pPr>
            <a:r>
              <a:rPr sz="1100" b="1" i="0">
                <a:solidFill>
                  <a:srgbClr val="1A2733"/>
                </a:solidFill>
                <a:latin typeface="Arial"/>
              </a:rPr>
              <a:t>link to open it</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apps to install</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52</a:t>
            </a:r>
          </a:p>
          <a:p>
            <a:pPr algn="l">
              <a:lnSpc>
                <a:spcPct val="115000"/>
              </a:lnSpc>
              <a:spcBef>
                <a:spcPts val="0"/>
              </a:spcBef>
              <a:spcAft>
                <a:spcPts val="300"/>
              </a:spcAft>
            </a:pPr>
            <a:r>
              <a:rPr sz="1100" b="1" i="0">
                <a:solidFill>
                  <a:srgbClr val="1A2733"/>
                </a:solidFill>
                <a:latin typeface="Arial"/>
              </a:rPr>
              <a:t>have joined</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spent on marketing</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Opening it is a link, not a download</a:t>
            </a:r>
          </a:p>
          <a:p>
            <a:pPr algn="l">
              <a:lnSpc>
                <a:spcPct val="122000"/>
              </a:lnSpc>
              <a:spcBef>
                <a:spcPts val="0"/>
              </a:spcBef>
              <a:spcAft>
                <a:spcPts val="0"/>
              </a:spcAft>
            </a:pPr>
            <a:r>
              <a:rPr sz="950" b="0" i="0">
                <a:solidFill>
                  <a:srgbClr val="3F4A57"/>
                </a:solidFill>
                <a:latin typeface="Arial"/>
              </a:rPr>
              <a:t>Dagar is a web app that installs to the home screen with its own icon and no browser bar. On a shared phone with 16GB and a data plan that matters, asking a family to install a 40MB app from a store loses most of them before the first lesson.</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parent needs no account, ever</a:t>
            </a:r>
          </a:p>
          <a:p>
            <a:pPr algn="l">
              <a:lnSpc>
                <a:spcPct val="122000"/>
              </a:lnSpc>
              <a:spcBef>
                <a:spcPts val="0"/>
              </a:spcBef>
              <a:spcAft>
                <a:spcPts val="0"/>
              </a:spcAft>
            </a:pPr>
            <a:r>
              <a:rPr sz="950" b="0" i="0">
                <a:solidFill>
                  <a:srgbClr val="3F4A57"/>
                </a:solidFill>
                <a:latin typeface="Arial"/>
              </a:rPr>
              <a:t>They open a private link and see the last seven days. No sign-up, no password, no app, nothing to remember. The parent we most want to reach is the one least likely to complete a registration form.</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One teacher onboards a whole class</a:t>
            </a:r>
          </a:p>
          <a:p>
            <a:pPr algn="l">
              <a:lnSpc>
                <a:spcPct val="122000"/>
              </a:lnSpc>
              <a:spcBef>
                <a:spcPts val="0"/>
              </a:spcBef>
              <a:spcAft>
                <a:spcPts val="0"/>
              </a:spcAft>
            </a:pPr>
            <a:r>
              <a:rPr sz="950" b="0" i="0">
                <a:solidFill>
                  <a:srgbClr val="3F4A57"/>
                </a:solidFill>
                <a:latin typeface="Arial"/>
              </a:rPr>
              <a:t>That is how the 46 accounts happened: a teacher shared one link. No advertising, no incentive, no per-learner effort. The unit of adoption is a classroom, and the cost of adding one is a message.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are the path to scale</a:t>
            </a:r>
          </a:p>
          <a:p>
            <a:pPr algn="l">
              <a:lnSpc>
                <a:spcPct val="122000"/>
              </a:lnSpc>
              <a:spcBef>
                <a:spcPts val="0"/>
              </a:spcBef>
              <a:spcAft>
                <a:spcPts val="0"/>
              </a:spcAft>
            </a:pPr>
            <a:r>
              <a:rPr sz="950" b="0" i="0">
                <a:solidFill>
                  <a:srgbClr val="3F4A57"/>
                </a:solidFill>
                <a:latin typeface="Arial"/>
              </a:rPr>
              <a:t>NGO, CSR and government programmes buy per learner and already fund exactly this. The three-year target is roughly 250,000 learners, which is under 1% of the 30 million in Classes 6 to 8 who follow this curriculum.</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One channel is proven. The other is an argument.</a:t>
            </a:r>
          </a:p>
          <a:p>
            <a:pPr algn="l">
              <a:lnSpc>
                <a:spcPct val="126000"/>
              </a:lnSpc>
              <a:spcBef>
                <a:spcPts val="0"/>
              </a:spcBef>
              <a:spcAft>
                <a:spcPts val="0"/>
              </a:spcAft>
            </a:pPr>
            <a:r>
              <a:rPr sz="1050" b="0" i="0">
                <a:solidFill>
                  <a:srgbClr val="3F4A57"/>
                </a:solidFill>
                <a:latin typeface="Arial"/>
              </a:rPr>
              <a:t>A teacher sharing a link with her class is tested, and it works: 46 accounts, 30 of them finishing a lesson, with nothing spent. Selling to an NGO or a CSR programme is not tested at all, and we are not going to pretend a funnel exists because we drew one. What makes it credible is that the institutional motion is the same motion, repeated: an institution is a room full of teachers, and each of them already has the only thing needed to start, which is a class and a link.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23 · MONETISATION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Some pay. Some never will. Both get the same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lessons stay free for everyone. Institutions fund the learners who cannot pay, and families who can pay subscribe for more.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23</a:t>
            </a:r>
          </a:p>
        </p:txBody>
      </p:sp>
      <p:sp>
        <p:nvSpPr>
          <p:cNvPr id="8" name="Rounded Rectangle 7"/>
          <p:cNvSpPr/>
          <p:nvPr/>
        </p:nvSpPr>
        <p:spPr>
          <a:xfrm>
            <a:off x="566928"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FREE</a:t>
            </a:r>
          </a:p>
        </p:txBody>
      </p:sp>
      <p:sp>
        <p:nvSpPr>
          <p:cNvPr id="12" name="TextBox 11"/>
          <p:cNvSpPr txBox="1"/>
          <p:nvPr/>
        </p:nvSpPr>
        <p:spPr>
          <a:xfrm>
            <a:off x="713232"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₹0</a:t>
            </a:r>
          </a:p>
        </p:txBody>
      </p:sp>
      <p:sp>
        <p:nvSpPr>
          <p:cNvPr id="13" name="TextBox 12"/>
          <p:cNvSpPr txBox="1"/>
          <p:nvPr/>
        </p:nvSpPr>
        <p:spPr>
          <a:xfrm>
            <a:off x="713232"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The core, free for good: lessons, practice, quizzes, progress and the parent summary, tutor capped at 10 questions a day.</a:t>
            </a:r>
          </a:p>
        </p:txBody>
      </p:sp>
      <p:sp>
        <p:nvSpPr>
          <p:cNvPr id="14" name="Rounded Rectangle 13"/>
          <p:cNvSpPr/>
          <p:nvPr/>
        </p:nvSpPr>
        <p:spPr>
          <a:xfrm>
            <a:off x="2811414"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11414"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11414"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57718"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PLUS</a:t>
            </a:r>
          </a:p>
        </p:txBody>
      </p:sp>
      <p:sp>
        <p:nvSpPr>
          <p:cNvPr id="18" name="TextBox 17"/>
          <p:cNvSpPr txBox="1"/>
          <p:nvPr/>
        </p:nvSpPr>
        <p:spPr>
          <a:xfrm>
            <a:off x="2957718"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₹99 / mo</a:t>
            </a:r>
          </a:p>
        </p:txBody>
      </p:sp>
      <p:sp>
        <p:nvSpPr>
          <p:cNvPr id="19" name="TextBox 18"/>
          <p:cNvSpPr txBox="1"/>
          <p:nvPr/>
        </p:nvSpPr>
        <p:spPr>
          <a:xfrm>
            <a:off x="2957718"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Depth. Unlimited AI tutor, deeper adaptive practice, revision plans and fuller parent insight.</a:t>
            </a:r>
          </a:p>
        </p:txBody>
      </p:sp>
      <p:sp>
        <p:nvSpPr>
          <p:cNvPr id="20" name="Rounded Rectangle 19"/>
          <p:cNvSpPr/>
          <p:nvPr/>
        </p:nvSpPr>
        <p:spPr>
          <a:xfrm>
            <a:off x="5055900"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55900"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55900"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02204"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LIVE</a:t>
            </a:r>
          </a:p>
        </p:txBody>
      </p:sp>
      <p:sp>
        <p:nvSpPr>
          <p:cNvPr id="24" name="TextBox 23"/>
          <p:cNvSpPr txBox="1"/>
          <p:nvPr/>
        </p:nvSpPr>
        <p:spPr>
          <a:xfrm>
            <a:off x="5202204"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₹399 / mo</a:t>
            </a:r>
          </a:p>
        </p:txBody>
      </p:sp>
      <p:sp>
        <p:nvSpPr>
          <p:cNvPr id="25" name="TextBox 24"/>
          <p:cNvSpPr txBox="1"/>
          <p:nvPr/>
        </p:nvSpPr>
        <p:spPr>
          <a:xfrm>
            <a:off x="5202204"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Plus, and a teacher. Live cohort classes several times a week, one teacher explaining concepts to a batch, the model PhysicsWallah proved at scale.</a:t>
            </a:r>
          </a:p>
        </p:txBody>
      </p:sp>
      <p:sp>
        <p:nvSpPr>
          <p:cNvPr id="26" name="Rounded Rectangle 25"/>
          <p:cNvSpPr/>
          <p:nvPr/>
        </p:nvSpPr>
        <p:spPr>
          <a:xfrm>
            <a:off x="7300386"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00386"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00386" y="1883664"/>
            <a:ext cx="45720" cy="2066543"/>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6690"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ONE TO ONE</a:t>
            </a:r>
          </a:p>
        </p:txBody>
      </p:sp>
      <p:sp>
        <p:nvSpPr>
          <p:cNvPr id="30" name="TextBox 29"/>
          <p:cNvSpPr txBox="1"/>
          <p:nvPr/>
        </p:nvSpPr>
        <p:spPr>
          <a:xfrm>
            <a:off x="7446690"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₹1,499 / mo</a:t>
            </a:r>
          </a:p>
        </p:txBody>
      </p:sp>
      <p:sp>
        <p:nvSpPr>
          <p:cNvPr id="31" name="TextBox 30"/>
          <p:cNvSpPr txBox="1"/>
          <p:nvPr/>
        </p:nvSpPr>
        <p:spPr>
          <a:xfrm>
            <a:off x="7446690"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Live, and two private sessions a month. Priced at a teacher's real hourly cost. Monthly only: we will not take a year up front for teachers we have not hired.</a:t>
            </a:r>
          </a:p>
        </p:txBody>
      </p:sp>
      <p:sp>
        <p:nvSpPr>
          <p:cNvPr id="32" name="Rounded Rectangle 31"/>
          <p:cNvSpPr/>
          <p:nvPr/>
        </p:nvSpPr>
        <p:spPr>
          <a:xfrm>
            <a:off x="9544872"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544872"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44872" y="1883664"/>
            <a:ext cx="45720" cy="206654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91176"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INSTITUTIONS</a:t>
            </a:r>
          </a:p>
        </p:txBody>
      </p:sp>
      <p:sp>
        <p:nvSpPr>
          <p:cNvPr id="36" name="TextBox 35"/>
          <p:cNvSpPr txBox="1"/>
          <p:nvPr/>
        </p:nvSpPr>
        <p:spPr>
          <a:xfrm>
            <a:off x="9691176"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₹450–600 / yr</a:t>
            </a:r>
          </a:p>
        </p:txBody>
      </p:sp>
      <p:sp>
        <p:nvSpPr>
          <p:cNvPr id="37" name="TextBox 36"/>
          <p:cNvSpPr txBox="1"/>
          <p:nvPr/>
        </p:nvSpPr>
        <p:spPr>
          <a:xfrm>
            <a:off x="9691176"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Per learner. NGO, CSR and government licences, and they can fund one-to-one for the learners our struggle signals flag.</a:t>
            </a:r>
          </a:p>
        </p:txBody>
      </p:sp>
      <p:sp>
        <p:nvSpPr>
          <p:cNvPr id="38" name="Rounded Rectangle 37"/>
          <p:cNvSpPr/>
          <p:nvPr/>
        </p:nvSpPr>
        <p:spPr>
          <a:xfrm>
            <a:off x="566928"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6928"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Two routes, running in parallel</a:t>
            </a:r>
          </a:p>
          <a:p>
            <a:pPr algn="l">
              <a:lnSpc>
                <a:spcPct val="122000"/>
              </a:lnSpc>
              <a:spcBef>
                <a:spcPts val="0"/>
              </a:spcBef>
              <a:spcAft>
                <a:spcPts val="0"/>
              </a:spcAft>
            </a:pPr>
            <a:r>
              <a:rPr sz="950" b="0" i="0">
                <a:solidFill>
                  <a:srgbClr val="3F4A57"/>
                </a:solidFill>
                <a:latin typeface="Arial"/>
              </a:rPr>
              <a:t>Institutions buy reach for learners who cannot pay: CSR is mandated in India by Section 135 and already buys per beneficiary. Alongside that we sell directly to families in tier 2 and tier 3 cities who can find ₹99 a month but never ₹5,000 for a tutor.</a:t>
            </a:r>
          </a:p>
        </p:txBody>
      </p:sp>
      <p:sp>
        <p:nvSpPr>
          <p:cNvPr id="41" name="Rounded Rectangle 40"/>
          <p:cNvSpPr/>
          <p:nvPr/>
        </p:nvSpPr>
        <p:spPr>
          <a:xfrm>
            <a:off x="4319930"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319930"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5962"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of free users subscribing</a:t>
            </a:r>
          </a:p>
          <a:p>
            <a:pPr algn="l">
              <a:lnSpc>
                <a:spcPct val="122000"/>
              </a:lnSpc>
              <a:spcBef>
                <a:spcPts val="0"/>
              </a:spcBef>
              <a:spcAft>
                <a:spcPts val="0"/>
              </a:spcAft>
            </a:pPr>
            <a:r>
              <a:rPr sz="950" b="0" i="0">
                <a:solidFill>
                  <a:srgbClr val="3F4A57"/>
                </a:solidFill>
                <a:latin typeface="Arial"/>
              </a:rPr>
              <a:t>Indian edtech converts 2 to 5% on general learning and 8 to 15% on exam prep. Duolingo, whose daily habit loop we copied deliberately, reaches 8.9%. We model 4%: the top of the general band, well below the app we learned it from.</a:t>
            </a:r>
          </a:p>
        </p:txBody>
      </p:sp>
      <p:sp>
        <p:nvSpPr>
          <p:cNvPr id="44" name="Rounded Rectangle 43"/>
          <p:cNvSpPr/>
          <p:nvPr/>
        </p:nvSpPr>
        <p:spPr>
          <a:xfrm>
            <a:off x="8072932"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072932" y="431596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28964"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advertising, ever</a:t>
            </a:r>
          </a:p>
          <a:p>
            <a:pPr algn="l">
              <a:lnSpc>
                <a:spcPct val="122000"/>
              </a:lnSpc>
              <a:spcBef>
                <a:spcPts val="0"/>
              </a:spcBef>
              <a:spcAft>
                <a:spcPts val="0"/>
              </a:spcAft>
            </a:pPr>
            <a:r>
              <a:rPr sz="950" b="0" i="0">
                <a:solidFill>
                  <a:srgbClr val="3F4A57"/>
                </a:solidFill>
                <a:latin typeface="Arial"/>
              </a:rPr>
              <a:t>The DPDP Act 2023 forbids behavioural tracking and targeted advertising aimed at under-18s, so our marketing speaks to parents and never to children. The usual way a free product pays for itself is closed to us, and we would not want it open.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24 · IN THEIR WORDS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They told us it works, and what to fix.</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came from inside the product, from an account that had used it, spelling left as typed. Try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24</a:t>
            </a:r>
          </a:p>
        </p:txBody>
      </p:sp>
      <p:sp>
        <p:nvSpPr>
          <p:cNvPr id="8" name="TextBox 7"/>
          <p:cNvSpPr txBox="1"/>
          <p:nvPr/>
        </p:nvSpPr>
        <p:spPr>
          <a:xfrm>
            <a:off x="566928" y="1883664"/>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Did it help you understand something?</a:t>
            </a:r>
          </a:p>
        </p:txBody>
      </p:sp>
      <p:sp>
        <p:nvSpPr>
          <p:cNvPr id="9" name="TextBox 8"/>
          <p:cNvSpPr txBox="1"/>
          <p:nvPr/>
        </p:nvSpPr>
        <p:spPr>
          <a:xfrm>
            <a:off x="566928" y="2103120"/>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10" name="Rectangle 9"/>
          <p:cNvSpPr/>
          <p:nvPr/>
        </p:nvSpPr>
        <p:spPr>
          <a:xfrm>
            <a:off x="1755648" y="2144268"/>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55648" y="2144268"/>
            <a:ext cx="1431757"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093976"/>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17</a:t>
            </a:r>
          </a:p>
        </p:txBody>
      </p:sp>
      <p:sp>
        <p:nvSpPr>
          <p:cNvPr id="13" name="TextBox 12"/>
          <p:cNvSpPr txBox="1"/>
          <p:nvPr/>
        </p:nvSpPr>
        <p:spPr>
          <a:xfrm>
            <a:off x="566928" y="23408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A bit</a:t>
            </a:r>
          </a:p>
        </p:txBody>
      </p:sp>
      <p:sp>
        <p:nvSpPr>
          <p:cNvPr id="14" name="Rectangle 13"/>
          <p:cNvSpPr/>
          <p:nvPr/>
        </p:nvSpPr>
        <p:spPr>
          <a:xfrm>
            <a:off x="1755648" y="23820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755648" y="2382011"/>
            <a:ext cx="84221"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19856" y="23317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17" name="TextBox 16"/>
          <p:cNvSpPr txBox="1"/>
          <p:nvPr/>
        </p:nvSpPr>
        <p:spPr>
          <a:xfrm>
            <a:off x="566928" y="25786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18" name="Rectangle 17"/>
          <p:cNvSpPr/>
          <p:nvPr/>
        </p:nvSpPr>
        <p:spPr>
          <a:xfrm>
            <a:off x="1755648" y="26197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755648" y="2619755"/>
            <a:ext cx="84221"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9856" y="25694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21" name="TextBox 20"/>
          <p:cNvSpPr txBox="1"/>
          <p:nvPr/>
        </p:nvSpPr>
        <p:spPr>
          <a:xfrm>
            <a:off x="566928" y="30358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Would you use Dagar again?</a:t>
            </a:r>
          </a:p>
        </p:txBody>
      </p:sp>
      <p:sp>
        <p:nvSpPr>
          <p:cNvPr id="22" name="TextBox 21"/>
          <p:cNvSpPr txBox="1"/>
          <p:nvPr/>
        </p:nvSpPr>
        <p:spPr>
          <a:xfrm>
            <a:off x="566928" y="32552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23" name="Rectangle 22"/>
          <p:cNvSpPr/>
          <p:nvPr/>
        </p:nvSpPr>
        <p:spPr>
          <a:xfrm>
            <a:off x="1755648" y="32964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755648" y="3296411"/>
            <a:ext cx="1347536"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19856" y="32461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16</a:t>
            </a:r>
          </a:p>
        </p:txBody>
      </p:sp>
      <p:sp>
        <p:nvSpPr>
          <p:cNvPr id="26" name="TextBox 25"/>
          <p:cNvSpPr txBox="1"/>
          <p:nvPr/>
        </p:nvSpPr>
        <p:spPr>
          <a:xfrm>
            <a:off x="566928" y="34930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Maybe</a:t>
            </a:r>
          </a:p>
        </p:txBody>
      </p:sp>
      <p:sp>
        <p:nvSpPr>
          <p:cNvPr id="27" name="Rectangle 26"/>
          <p:cNvSpPr/>
          <p:nvPr/>
        </p:nvSpPr>
        <p:spPr>
          <a:xfrm>
            <a:off x="1755648" y="35341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755648" y="3534155"/>
            <a:ext cx="84221"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19856" y="34838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30" name="TextBox 29"/>
          <p:cNvSpPr txBox="1"/>
          <p:nvPr/>
        </p:nvSpPr>
        <p:spPr>
          <a:xfrm>
            <a:off x="566928" y="37307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31" name="Rectangle 30"/>
          <p:cNvSpPr/>
          <p:nvPr/>
        </p:nvSpPr>
        <p:spPr>
          <a:xfrm>
            <a:off x="1755648" y="37718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55648" y="3771899"/>
            <a:ext cx="168442"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19856" y="37216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2</a:t>
            </a:r>
          </a:p>
        </p:txBody>
      </p:sp>
      <p:sp>
        <p:nvSpPr>
          <p:cNvPr id="34" name="TextBox 33"/>
          <p:cNvSpPr txBox="1"/>
          <p:nvPr/>
        </p:nvSpPr>
        <p:spPr>
          <a:xfrm>
            <a:off x="566928" y="4187951"/>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If we could do only ONE more thing</a:t>
            </a:r>
          </a:p>
        </p:txBody>
      </p:sp>
      <p:sp>
        <p:nvSpPr>
          <p:cNvPr id="35" name="TextBox 34"/>
          <p:cNvSpPr txBox="1"/>
          <p:nvPr/>
        </p:nvSpPr>
        <p:spPr>
          <a:xfrm>
            <a:off x="566928" y="44074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practice</a:t>
            </a:r>
          </a:p>
        </p:txBody>
      </p:sp>
      <p:sp>
        <p:nvSpPr>
          <p:cNvPr id="36" name="Rectangle 35"/>
          <p:cNvSpPr/>
          <p:nvPr/>
        </p:nvSpPr>
        <p:spPr>
          <a:xfrm>
            <a:off x="1755648" y="44485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755648" y="4448555"/>
            <a:ext cx="673768"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419856" y="4398264"/>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8</a:t>
            </a:r>
          </a:p>
        </p:txBody>
      </p:sp>
      <p:sp>
        <p:nvSpPr>
          <p:cNvPr id="39" name="TextBox 38"/>
          <p:cNvSpPr txBox="1"/>
          <p:nvPr/>
        </p:nvSpPr>
        <p:spPr>
          <a:xfrm>
            <a:off x="566928" y="46451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chapters</a:t>
            </a:r>
          </a:p>
        </p:txBody>
      </p:sp>
      <p:sp>
        <p:nvSpPr>
          <p:cNvPr id="40" name="Rectangle 39"/>
          <p:cNvSpPr/>
          <p:nvPr/>
        </p:nvSpPr>
        <p:spPr>
          <a:xfrm>
            <a:off x="1755648" y="46862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755648" y="4686299"/>
            <a:ext cx="673768"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19856" y="46360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8</a:t>
            </a:r>
          </a:p>
        </p:txBody>
      </p:sp>
      <p:sp>
        <p:nvSpPr>
          <p:cNvPr id="43" name="TextBox 42"/>
          <p:cNvSpPr txBox="1"/>
          <p:nvPr/>
        </p:nvSpPr>
        <p:spPr>
          <a:xfrm>
            <a:off x="566928" y="4882895"/>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Something else</a:t>
            </a:r>
          </a:p>
        </p:txBody>
      </p:sp>
      <p:sp>
        <p:nvSpPr>
          <p:cNvPr id="44" name="Rectangle 43"/>
          <p:cNvSpPr/>
          <p:nvPr/>
        </p:nvSpPr>
        <p:spPr>
          <a:xfrm>
            <a:off x="1755648" y="4924043"/>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755648" y="4924043"/>
            <a:ext cx="168442"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19856" y="4873751"/>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2</a:t>
            </a:r>
          </a:p>
        </p:txBody>
      </p:sp>
      <p:sp>
        <p:nvSpPr>
          <p:cNvPr id="47" name="TextBox 46"/>
          <p:cNvSpPr txBox="1"/>
          <p:nvPr/>
        </p:nvSpPr>
        <p:spPr>
          <a:xfrm>
            <a:off x="566928" y="5120639"/>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The tutor</a:t>
            </a:r>
          </a:p>
        </p:txBody>
      </p:sp>
      <p:sp>
        <p:nvSpPr>
          <p:cNvPr id="48" name="Rectangle 47"/>
          <p:cNvSpPr/>
          <p:nvPr/>
        </p:nvSpPr>
        <p:spPr>
          <a:xfrm>
            <a:off x="1755648" y="5161787"/>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755648" y="5161787"/>
            <a:ext cx="84221"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419856" y="5111495"/>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51" name="Rounded Rectangle 50"/>
          <p:cNvSpPr/>
          <p:nvPr/>
        </p:nvSpPr>
        <p:spPr>
          <a:xfrm>
            <a:off x="4087368"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087368"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251959"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PARENT</a:t>
            </a:r>
          </a:p>
        </p:txBody>
      </p:sp>
      <p:sp>
        <p:nvSpPr>
          <p:cNvPr id="54" name="TextBox 53"/>
          <p:cNvSpPr txBox="1"/>
          <p:nvPr/>
        </p:nvSpPr>
        <p:spPr>
          <a:xfrm>
            <a:off x="4251959"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“It feels like having a patient math tutor in my pocket 24/7.”</a:t>
            </a:r>
          </a:p>
        </p:txBody>
      </p:sp>
      <p:sp>
        <p:nvSpPr>
          <p:cNvPr id="55" name="Rounded Rectangle 54"/>
          <p:cNvSpPr/>
          <p:nvPr/>
        </p:nvSpPr>
        <p:spPr>
          <a:xfrm>
            <a:off x="7956651"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956651"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21243"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58" name="TextBox 57"/>
          <p:cNvSpPr txBox="1"/>
          <p:nvPr/>
        </p:nvSpPr>
        <p:spPr>
          <a:xfrm>
            <a:off x="8121243"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“The way it engages with us to making learning simpler.”</a:t>
            </a:r>
          </a:p>
        </p:txBody>
      </p:sp>
      <p:sp>
        <p:nvSpPr>
          <p:cNvPr id="59" name="Rounded Rectangle 58"/>
          <p:cNvSpPr/>
          <p:nvPr/>
        </p:nvSpPr>
        <p:spPr>
          <a:xfrm>
            <a:off x="4087368"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087368"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251959"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OTHER</a:t>
            </a:r>
          </a:p>
        </p:txBody>
      </p:sp>
      <p:sp>
        <p:nvSpPr>
          <p:cNvPr id="62" name="TextBox 61"/>
          <p:cNvSpPr txBox="1"/>
          <p:nvPr/>
        </p:nvSpPr>
        <p:spPr>
          <a:xfrm>
            <a:off x="4251959"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“Dagar ka concept kaafi accha laga. Lessons simple aur easy to understand hain, aur practice questions bhi helpful hain. Hindi/English dono m h.”</a:t>
            </a:r>
          </a:p>
        </p:txBody>
      </p:sp>
      <p:sp>
        <p:nvSpPr>
          <p:cNvPr id="63" name="Rounded Rectangle 62"/>
          <p:cNvSpPr/>
          <p:nvPr/>
        </p:nvSpPr>
        <p:spPr>
          <a:xfrm>
            <a:off x="7956651"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956651"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121243"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66" name="TextBox 65"/>
          <p:cNvSpPr txBox="1"/>
          <p:nvPr/>
        </p:nvSpPr>
        <p:spPr>
          <a:xfrm>
            <a:off x="8121243"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“Explanation is very important. … Now this app is like practice paper. It can help students to practice more and make it in fun way.”</a:t>
            </a:r>
          </a:p>
        </p:txBody>
      </p:sp>
      <p:sp>
        <p:nvSpPr>
          <p:cNvPr id="67" name="Rounded Rectangle 66"/>
          <p:cNvSpPr/>
          <p:nvPr/>
        </p:nvSpPr>
        <p:spPr>
          <a:xfrm>
            <a:off x="4087368"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087368"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251959"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OTHER</a:t>
            </a:r>
          </a:p>
        </p:txBody>
      </p:sp>
      <p:sp>
        <p:nvSpPr>
          <p:cNvPr id="70" name="TextBox 69"/>
          <p:cNvSpPr txBox="1"/>
          <p:nvPr/>
        </p:nvSpPr>
        <p:spPr>
          <a:xfrm>
            <a:off x="4251959"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“Okay, but please add a few more chapters along with some additional practice questions.”</a:t>
            </a:r>
          </a:p>
        </p:txBody>
      </p:sp>
      <p:sp>
        <p:nvSpPr>
          <p:cNvPr id="71" name="Rounded Rectangle 70"/>
          <p:cNvSpPr/>
          <p:nvPr/>
        </p:nvSpPr>
        <p:spPr>
          <a:xfrm>
            <a:off x="7956651"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7956651"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121243"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STUDENT</a:t>
            </a:r>
          </a:p>
        </p:txBody>
      </p:sp>
      <p:sp>
        <p:nvSpPr>
          <p:cNvPr id="74" name="TextBox 73"/>
          <p:cNvSpPr txBox="1"/>
          <p:nvPr/>
        </p:nvSpPr>
        <p:spPr>
          <a:xfrm>
            <a:off x="8121243"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Asked what confused them, one answer was two words: “Data handling chapter.”</a:t>
            </a:r>
          </a:p>
        </p:txBody>
      </p:sp>
      <p:sp>
        <p:nvSpPr>
          <p:cNvPr id="75" name="Rounded Rectangle 74"/>
          <p:cNvSpPr/>
          <p:nvPr/>
        </p:nvSpPr>
        <p:spPr>
          <a:xfrm>
            <a:off x="566928" y="5431536"/>
            <a:ext cx="11057839" cy="8412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66928" y="5577840"/>
            <a:ext cx="54864" cy="5486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77824" y="5541264"/>
            <a:ext cx="10417759" cy="658368"/>
          </a:xfrm>
          <a:prstGeom prst="rect">
            <a:avLst/>
          </a:prstGeom>
          <a:noFill/>
        </p:spPr>
        <p:txBody>
          <a:bodyPr wrap="square" lIns="0" rIns="0" tIns="0" bIns="0" anchor="t">
            <a:spAutoFit/>
          </a:bodyPr>
          <a:lstStyle/>
          <a:p>
            <a:pPr algn="l">
              <a:spcBef>
                <a:spcPts val="0"/>
              </a:spcBef>
              <a:spcAft>
                <a:spcPts val="300"/>
              </a:spcAft>
            </a:pPr>
            <a:r>
              <a:rPr sz="1200" b="1" i="0">
                <a:solidFill>
                  <a:srgbClr val="1A2733"/>
                </a:solidFill>
                <a:latin typeface="Arial"/>
              </a:rPr>
              <a:t>18 of 19 said it helped them understand something.</a:t>
            </a:r>
          </a:p>
          <a:p>
            <a:pPr algn="l">
              <a:lnSpc>
                <a:spcPct val="124000"/>
              </a:lnSpc>
              <a:spcBef>
                <a:spcPts val="0"/>
              </a:spcBef>
              <a:spcAft>
                <a:spcPts val="0"/>
              </a:spcAft>
            </a:pPr>
            <a:r>
              <a:rPr sz="1000" b="0" i="0">
                <a:solidFill>
                  <a:srgbClr val="3F4A57"/>
                </a:solidFill>
                <a:latin typeface="Arial"/>
              </a:rPr>
              <a:t>16 would come back. And the loudest request was simply more of it: practice and chapters, tied.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25 · DEMO</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Five minutes, one learner's evening.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recording runs the loop end to end, from choosing a language to a finished lesson, narrated in English and in Hindi. Or open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25</a:t>
            </a:r>
          </a:p>
        </p:txBody>
      </p:sp>
      <p:pic>
        <p:nvPicPr>
          <p:cNvPr id="8" name="Picture 7" descr="dashboard-en.png"/>
          <p:cNvPicPr>
            <a:picLocks noChangeAspect="1"/>
          </p:cNvPicPr>
          <p:nvPr/>
        </p:nvPicPr>
        <p:blipFill>
          <a:blip r:embed="rId2"/>
          <a:stretch>
            <a:fillRect/>
          </a:stretch>
        </p:blipFill>
        <p:spPr>
          <a:xfrm>
            <a:off x="1381748" y="1883664"/>
            <a:ext cx="1134818" cy="2395728"/>
          </a:xfrm>
          <a:prstGeom prst="rect">
            <a:avLst/>
          </a:prstGeom>
        </p:spPr>
      </p:pic>
      <p:sp>
        <p:nvSpPr>
          <p:cNvPr id="9" name="TextBox 8"/>
          <p:cNvSpPr txBox="1"/>
          <p:nvPr/>
        </p:nvSpPr>
        <p:spPr>
          <a:xfrm>
            <a:off x="658368"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1 · She opens it</a:t>
            </a:r>
          </a:p>
        </p:txBody>
      </p:sp>
      <p:sp>
        <p:nvSpPr>
          <p:cNvPr id="10" name="TextBox 9"/>
          <p:cNvSpPr txBox="1"/>
          <p:nvPr/>
        </p:nvSpPr>
        <p:spPr>
          <a:xfrm>
            <a:off x="658368"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thing to do next, a streak, and a goal she can finish tonight.</a:t>
            </a:r>
          </a:p>
        </p:txBody>
      </p:sp>
      <p:pic>
        <p:nvPicPr>
          <p:cNvPr id="11" name="Picture 10" descr="lesson-step.png"/>
          <p:cNvPicPr>
            <a:picLocks noChangeAspect="1"/>
          </p:cNvPicPr>
          <p:nvPr/>
        </p:nvPicPr>
        <p:blipFill>
          <a:blip r:embed="rId3"/>
          <a:stretch>
            <a:fillRect/>
          </a:stretch>
        </p:blipFill>
        <p:spPr>
          <a:xfrm>
            <a:off x="4146208" y="1883664"/>
            <a:ext cx="1134818" cy="2395728"/>
          </a:xfrm>
          <a:prstGeom prst="rect">
            <a:avLst/>
          </a:prstGeom>
        </p:spPr>
      </p:pic>
      <p:sp>
        <p:nvSpPr>
          <p:cNvPr id="12" name="TextBox 11"/>
          <p:cNvSpPr txBox="1"/>
          <p:nvPr/>
        </p:nvSpPr>
        <p:spPr>
          <a:xfrm>
            <a:off x="342282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2 · A lesson she answers</a:t>
            </a:r>
          </a:p>
        </p:txBody>
      </p:sp>
      <p:sp>
        <p:nvSpPr>
          <p:cNvPr id="13" name="TextBox 12"/>
          <p:cNvSpPr txBox="1"/>
          <p:nvPr/>
        </p:nvSpPr>
        <p:spPr>
          <a:xfrm>
            <a:off x="342282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idea per screen, a real diagram, and a hint before any answer.</a:t>
            </a:r>
          </a:p>
        </p:txBody>
      </p:sp>
      <p:pic>
        <p:nvPicPr>
          <p:cNvPr id="14" name="Picture 13" descr="practice-tiles.png"/>
          <p:cNvPicPr>
            <a:picLocks noChangeAspect="1"/>
          </p:cNvPicPr>
          <p:nvPr/>
        </p:nvPicPr>
        <p:blipFill>
          <a:blip r:embed="rId4"/>
          <a:stretch>
            <a:fillRect/>
          </a:stretch>
        </p:blipFill>
        <p:spPr>
          <a:xfrm>
            <a:off x="6910668" y="1883664"/>
            <a:ext cx="1134818" cy="2395728"/>
          </a:xfrm>
          <a:prstGeom prst="rect">
            <a:avLst/>
          </a:prstGeom>
        </p:spPr>
      </p:pic>
      <p:sp>
        <p:nvSpPr>
          <p:cNvPr id="15" name="TextBox 14"/>
          <p:cNvSpPr txBox="1"/>
          <p:nvPr/>
        </p:nvSpPr>
        <p:spPr>
          <a:xfrm>
            <a:off x="618728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3 · Practice while it is warm</a:t>
            </a:r>
          </a:p>
        </p:txBody>
      </p:sp>
      <p:sp>
        <p:nvSpPr>
          <p:cNvPr id="16" name="TextBox 15"/>
          <p:cNvSpPr txBox="1"/>
          <p:nvPr/>
        </p:nvSpPr>
        <p:spPr>
          <a:xfrm>
            <a:off x="618728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Graded by code, not by AI. Wrong is amber, and it comes with a way forward.</a:t>
            </a:r>
          </a:p>
        </p:txBody>
      </p:sp>
      <p:pic>
        <p:nvPicPr>
          <p:cNvPr id="17" name="Picture 16" descr="progress-en.png"/>
          <p:cNvPicPr>
            <a:picLocks noChangeAspect="1"/>
          </p:cNvPicPr>
          <p:nvPr/>
        </p:nvPicPr>
        <p:blipFill>
          <a:blip r:embed="rId5"/>
          <a:stretch>
            <a:fillRect/>
          </a:stretch>
        </p:blipFill>
        <p:spPr>
          <a:xfrm>
            <a:off x="9675128" y="1883664"/>
            <a:ext cx="1134818" cy="2395728"/>
          </a:xfrm>
          <a:prstGeom prst="rect">
            <a:avLst/>
          </a:prstGeom>
        </p:spPr>
      </p:pic>
      <p:sp>
        <p:nvSpPr>
          <p:cNvPr id="18" name="TextBox 17"/>
          <p:cNvSpPr txBox="1"/>
          <p:nvPr/>
        </p:nvSpPr>
        <p:spPr>
          <a:xfrm>
            <a:off x="895174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4 · Progress she can see</a:t>
            </a:r>
          </a:p>
        </p:txBody>
      </p:sp>
      <p:sp>
        <p:nvSpPr>
          <p:cNvPr id="19" name="TextBox 18"/>
          <p:cNvSpPr txBox="1"/>
          <p:nvPr/>
        </p:nvSpPr>
        <p:spPr>
          <a:xfrm>
            <a:off x="895174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Mastery per concept, the week, and the same numbers her parent sees.</a:t>
            </a:r>
          </a:p>
        </p:txBody>
      </p:sp>
      <p:sp>
        <p:nvSpPr>
          <p:cNvPr id="20" name="Rounded Rectangle 19"/>
          <p:cNvSpPr/>
          <p:nvPr/>
        </p:nvSpPr>
        <p:spPr>
          <a:xfrm>
            <a:off x="566928" y="5212079"/>
            <a:ext cx="11057839" cy="78638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49240"/>
            <a:ext cx="54864" cy="5120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330951"/>
            <a:ext cx="5163159" cy="237744"/>
          </a:xfrm>
          <a:prstGeom prst="rect">
            <a:avLst/>
          </a:prstGeom>
          <a:noFill/>
        </p:spPr>
        <p:txBody>
          <a:bodyPr wrap="square" lIns="0" rIns="0" tIns="0" bIns="0" anchor="t">
            <a:spAutoFit/>
          </a:bodyPr>
          <a:lstStyle/>
          <a:p>
            <a:pPr algn="l">
              <a:spcBef>
                <a:spcPts val="0"/>
              </a:spcBef>
              <a:spcAft>
                <a:spcPts val="0"/>
              </a:spcAft>
            </a:pPr>
            <a:r>
              <a:rPr sz="1150" b="1" i="0">
                <a:solidFill>
                  <a:srgbClr val="0F766E"/>
                </a:solidFill>
                <a:latin typeface="Arial"/>
              </a:rPr>
              <a:t>Watch in English</a:t>
            </a:r>
          </a:p>
        </p:txBody>
      </p:sp>
      <p:sp>
        <p:nvSpPr>
          <p:cNvPr id="23" name="TextBox 22"/>
          <p:cNvSpPr txBox="1"/>
          <p:nvPr/>
        </p:nvSpPr>
        <p:spPr>
          <a:xfrm>
            <a:off x="877824" y="5559551"/>
            <a:ext cx="5163159" cy="219456"/>
          </a:xfrm>
          <a:prstGeom prst="rect">
            <a:avLst/>
          </a:prstGeom>
          <a:noFill/>
        </p:spPr>
        <p:txBody>
          <a:bodyPr wrap="square" lIns="0" rIns="0" tIns="0" bIns="0" anchor="t">
            <a:spAutoFit/>
          </a:bodyPr>
          <a:lstStyle/>
          <a:p>
            <a:pPr algn="l">
              <a:spcBef>
                <a:spcPts val="0"/>
              </a:spcBef>
              <a:spcAft>
                <a:spcPts val="0"/>
              </a:spcAft>
            </a:pPr>
            <a:r>
              <a:rPr sz="1000" b="0" i="0">
                <a:solidFill>
                  <a:srgbClr val="3F4A57"/>
                </a:solidFill>
                <a:latin typeface="Arial"/>
              </a:rPr>
              <a:t>dagar-ap19.vercel.app/demo-en.mp4</a:t>
            </a:r>
          </a:p>
        </p:txBody>
      </p:sp>
      <p:sp>
        <p:nvSpPr>
          <p:cNvPr id="24" name="TextBox 23"/>
          <p:cNvSpPr txBox="1"/>
          <p:nvPr/>
        </p:nvSpPr>
        <p:spPr>
          <a:xfrm>
            <a:off x="6406743" y="5330951"/>
            <a:ext cx="5163159" cy="237744"/>
          </a:xfrm>
          <a:prstGeom prst="rect">
            <a:avLst/>
          </a:prstGeom>
          <a:noFill/>
        </p:spPr>
        <p:txBody>
          <a:bodyPr wrap="square" lIns="0" rIns="0" tIns="0" bIns="0" anchor="t">
            <a:spAutoFit/>
          </a:bodyPr>
          <a:lstStyle/>
          <a:p>
            <a:pPr algn="l">
              <a:spcBef>
                <a:spcPts val="0"/>
              </a:spcBef>
              <a:spcAft>
                <a:spcPts val="0"/>
              </a:spcAft>
            </a:pPr>
            <a:r>
              <a:rPr sz="1150" b="1" i="0">
                <a:solidFill>
                  <a:srgbClr val="0F766E"/>
                </a:solidFill>
                <a:latin typeface="Arial"/>
              </a:rPr>
              <a:t>हिंदी में देखिए</a:t>
            </a:r>
          </a:p>
        </p:txBody>
      </p:sp>
      <p:sp>
        <p:nvSpPr>
          <p:cNvPr id="25" name="TextBox 24"/>
          <p:cNvSpPr txBox="1"/>
          <p:nvPr/>
        </p:nvSpPr>
        <p:spPr>
          <a:xfrm>
            <a:off x="6406743" y="5559551"/>
            <a:ext cx="5163159" cy="219456"/>
          </a:xfrm>
          <a:prstGeom prst="rect">
            <a:avLst/>
          </a:prstGeom>
          <a:noFill/>
        </p:spPr>
        <p:txBody>
          <a:bodyPr wrap="square" lIns="0" rIns="0" tIns="0" bIns="0" anchor="t">
            <a:spAutoFit/>
          </a:bodyPr>
          <a:lstStyle/>
          <a:p>
            <a:pPr algn="l">
              <a:spcBef>
                <a:spcPts val="0"/>
              </a:spcBef>
              <a:spcAft>
                <a:spcPts val="0"/>
              </a:spcAft>
            </a:pPr>
            <a:r>
              <a:rPr sz="1000" b="0" i="0">
                <a:solidFill>
                  <a:srgbClr val="3F4A57"/>
                </a:solidFill>
                <a:latin typeface="Arial"/>
              </a:rPr>
              <a:t>dagar-ap19.vercel.app/demo-hi.mp4</a:t>
            </a:r>
          </a:p>
        </p:txBody>
      </p:sp>
      <p:sp>
        <p:nvSpPr>
          <p:cNvPr id="26" name="TextBox 25"/>
          <p:cNvSpPr txBox="1"/>
          <p:nvPr/>
        </p:nvSpPr>
        <p:spPr>
          <a:xfrm>
            <a:off x="877824" y="5760719"/>
            <a:ext cx="10417759" cy="219456"/>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Short of time, play it at 1.5x. The narration is generated, in both languages, on purpose.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26 · THE ASK</a:t>
            </a:r>
          </a:p>
        </p:txBody>
      </p:sp>
      <p:sp>
        <p:nvSpPr>
          <p:cNvPr id="4" name="TextBox 3"/>
          <p:cNvSpPr txBox="1"/>
          <p:nvPr/>
        </p:nvSpPr>
        <p:spPr>
          <a:xfrm>
            <a:off x="566928" y="1097280"/>
            <a:ext cx="10509199" cy="1463040"/>
          </a:xfrm>
          <a:prstGeom prst="rect">
            <a:avLst/>
          </a:prstGeom>
          <a:noFill/>
        </p:spPr>
        <p:txBody>
          <a:bodyPr wrap="square" lIns="0" rIns="0" tIns="0" bIns="0" anchor="t">
            <a:spAutoFit/>
          </a:bodyPr>
          <a:lstStyle/>
          <a:p>
            <a:pPr algn="l">
              <a:lnSpc>
                <a:spcPct val="108000"/>
              </a:lnSpc>
              <a:spcBef>
                <a:spcPts val="0"/>
              </a:spcBef>
              <a:spcAft>
                <a:spcPts val="800"/>
              </a:spcAft>
            </a:pPr>
            <a:r>
              <a:rPr sz="3400" b="1" i="0">
                <a:solidFill>
                  <a:srgbClr val="1A2733"/>
                </a:solidFill>
                <a:latin typeface="Arial"/>
              </a:rPr>
              <a:t>It is not a prototype.</a:t>
            </a:r>
          </a:p>
          <a:p>
            <a:pPr algn="l">
              <a:lnSpc>
                <a:spcPct val="108000"/>
              </a:lnSpc>
              <a:spcBef>
                <a:spcPts val="0"/>
              </a:spcBef>
              <a:spcAft>
                <a:spcPts val="0"/>
              </a:spcAft>
            </a:pPr>
            <a:r>
              <a:rPr sz="3400" b="1" i="0">
                <a:solidFill>
                  <a:srgbClr val="0F766E"/>
                </a:solidFill>
                <a:latin typeface="Arial"/>
              </a:rPr>
              <a:t>Open it on your phone and give it to a child.</a:t>
            </a:r>
          </a:p>
        </p:txBody>
      </p:sp>
      <p:sp>
        <p:nvSpPr>
          <p:cNvPr id="5" name="TextBox 4"/>
          <p:cNvSpPr txBox="1"/>
          <p:nvPr/>
        </p:nvSpPr>
        <p:spPr>
          <a:xfrm>
            <a:off x="566928" y="2542032"/>
            <a:ext cx="10509199" cy="457200"/>
          </a:xfrm>
          <a:prstGeom prst="rect">
            <a:avLst/>
          </a:prstGeom>
          <a:noFill/>
        </p:spPr>
        <p:txBody>
          <a:bodyPr wrap="square" lIns="0" rIns="0" tIns="0" bIns="0" anchor="t">
            <a:spAutoFit/>
          </a:bodyPr>
          <a:lstStyle/>
          <a:p>
            <a:pPr algn="l">
              <a:spcBef>
                <a:spcPts val="0"/>
              </a:spcBef>
              <a:spcAft>
                <a:spcPts val="0"/>
              </a:spcAft>
            </a:pPr>
            <a:r>
              <a:rPr sz="1500" b="0" i="0">
                <a:solidFill>
                  <a:srgbClr val="5B6673"/>
                </a:solidFill>
                <a:latin typeface="Arial"/>
              </a:rPr>
              <a:t>dagar-ap19.vercel.app   ·   no download, no account for parents, free to try</a:t>
            </a:r>
          </a:p>
        </p:txBody>
      </p:sp>
      <p:sp>
        <p:nvSpPr>
          <p:cNvPr id="6" name="Rounded Rectangle 5"/>
          <p:cNvSpPr/>
          <p:nvPr/>
        </p:nvSpPr>
        <p:spPr>
          <a:xfrm>
            <a:off x="566928"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38</a:t>
            </a:r>
          </a:p>
          <a:p>
            <a:pPr algn="l">
              <a:lnSpc>
                <a:spcPct val="115000"/>
              </a:lnSpc>
              <a:spcBef>
                <a:spcPts val="0"/>
              </a:spcBef>
              <a:spcAft>
                <a:spcPts val="300"/>
              </a:spcAft>
            </a:pPr>
            <a:r>
              <a:rPr sz="1100" b="1" i="0">
                <a:solidFill>
                  <a:srgbClr val="1A2733"/>
                </a:solidFill>
                <a:latin typeface="Arial"/>
              </a:rPr>
              <a:t>learners, real ones</a:t>
            </a:r>
          </a:p>
        </p:txBody>
      </p:sp>
      <p:sp>
        <p:nvSpPr>
          <p:cNvPr id="8" name="Rounded Rectangle 7"/>
          <p:cNvSpPr/>
          <p:nvPr/>
        </p:nvSpPr>
        <p:spPr>
          <a:xfrm>
            <a:off x="281543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5318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166</a:t>
            </a:r>
          </a:p>
          <a:p>
            <a:pPr algn="l">
              <a:lnSpc>
                <a:spcPct val="115000"/>
              </a:lnSpc>
              <a:spcBef>
                <a:spcPts val="0"/>
              </a:spcBef>
              <a:spcAft>
                <a:spcPts val="300"/>
              </a:spcAft>
            </a:pPr>
            <a:r>
              <a:rPr sz="1100" b="1" i="0">
                <a:solidFill>
                  <a:srgbClr val="1A2733"/>
                </a:solidFill>
                <a:latin typeface="Arial"/>
              </a:rPr>
              <a:t>lessons finished</a:t>
            </a:r>
          </a:p>
        </p:txBody>
      </p:sp>
      <p:sp>
        <p:nvSpPr>
          <p:cNvPr id="10" name="Rounded Rectangle 9"/>
          <p:cNvSpPr/>
          <p:nvPr/>
        </p:nvSpPr>
        <p:spPr>
          <a:xfrm>
            <a:off x="506394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169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1,069</a:t>
            </a:r>
          </a:p>
          <a:p>
            <a:pPr algn="l">
              <a:lnSpc>
                <a:spcPct val="115000"/>
              </a:lnSpc>
              <a:spcBef>
                <a:spcPts val="0"/>
              </a:spcBef>
              <a:spcAft>
                <a:spcPts val="300"/>
              </a:spcAft>
            </a:pPr>
            <a:r>
              <a:rPr sz="1100" b="1" i="0">
                <a:solidFill>
                  <a:srgbClr val="1A2733"/>
                </a:solidFill>
                <a:latin typeface="Arial"/>
              </a:rPr>
              <a:t>questions answered</a:t>
            </a:r>
          </a:p>
        </p:txBody>
      </p:sp>
      <p:sp>
        <p:nvSpPr>
          <p:cNvPr id="12" name="Rounded Rectangle 11"/>
          <p:cNvSpPr/>
          <p:nvPr/>
        </p:nvSpPr>
        <p:spPr>
          <a:xfrm>
            <a:off x="7312456"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50200"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 of 19</a:t>
            </a:r>
          </a:p>
          <a:p>
            <a:pPr algn="l">
              <a:lnSpc>
                <a:spcPct val="115000"/>
              </a:lnSpc>
              <a:spcBef>
                <a:spcPts val="0"/>
              </a:spcBef>
              <a:spcAft>
                <a:spcPts val="300"/>
              </a:spcAft>
            </a:pPr>
            <a:r>
              <a:rPr sz="1100" b="1" i="0">
                <a:solidFill>
                  <a:srgbClr val="1A2733"/>
                </a:solidFill>
                <a:latin typeface="Arial"/>
              </a:rPr>
              <a:t>said it helped</a:t>
            </a:r>
          </a:p>
        </p:txBody>
      </p:sp>
      <p:sp>
        <p:nvSpPr>
          <p:cNvPr id="14" name="Rounded Rectangle 13"/>
          <p:cNvSpPr/>
          <p:nvPr/>
        </p:nvSpPr>
        <p:spPr>
          <a:xfrm>
            <a:off x="566928" y="4462272"/>
            <a:ext cx="11057839" cy="137160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81728"/>
            <a:ext cx="54864" cy="9326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645152"/>
            <a:ext cx="10417759" cy="1042415"/>
          </a:xfrm>
          <a:prstGeom prst="rect">
            <a:avLst/>
          </a:prstGeom>
          <a:noFill/>
        </p:spPr>
        <p:txBody>
          <a:bodyPr wrap="square" lIns="0" rIns="0" tIns="0" bIns="0" anchor="t">
            <a:spAutoFit/>
          </a:bodyPr>
          <a:lstStyle/>
          <a:p>
            <a:pPr algn="l">
              <a:spcBef>
                <a:spcPts val="0"/>
              </a:spcBef>
              <a:spcAft>
                <a:spcPts val="600"/>
              </a:spcAft>
            </a:pPr>
            <a:r>
              <a:rPr sz="1500" b="1" i="0">
                <a:solidFill>
                  <a:srgbClr val="1A2733"/>
                </a:solidFill>
                <a:latin typeface="Arial"/>
              </a:rPr>
              <a:t>Every learner deserves a guide. Most never get one.</a:t>
            </a:r>
          </a:p>
          <a:p>
            <a:pPr algn="l">
              <a:lnSpc>
                <a:spcPct val="130000"/>
              </a:lnSpc>
              <a:spcBef>
                <a:spcPts val="0"/>
              </a:spcBef>
              <a:spcAft>
                <a:spcPts val="0"/>
              </a:spcAft>
            </a:pPr>
            <a:r>
              <a:rPr sz="1150" b="0" i="0">
                <a:solidFill>
                  <a:srgbClr val="3F4A57"/>
                </a:solidFill>
                <a:latin typeface="Arial"/>
              </a:rPr>
              <a:t>The learners we built this for are the ones a stretched classroom cannot reach: behind in mathematics, studying in Hindi, on a phone they share, in families who cannot buy the tuition that would fix it. Four days does not solve that. It was enough to show that a tutor which knows their exact lesson, answers in their language and costs them nothing is buildable, and that when you put it in front of 38 of them, they use it.</a:t>
            </a:r>
          </a:p>
        </p:txBody>
      </p:sp>
      <p:sp>
        <p:nvSpPr>
          <p:cNvPr id="17" name="TextBox 16"/>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18" name="TextBox 17"/>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