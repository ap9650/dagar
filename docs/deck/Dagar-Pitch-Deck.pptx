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Learners never pay for the core learning loop. Institutions pay for reach,</a:t>
            </a:r>
          </a:p>
          <a:p>
            <a:r>
              <a:t>families pay only for depth. Everything else on this slide is a consequence of</a:t>
            </a:r>
          </a:p>
          <a:p>
            <a:r>
              <a:t>that, and it comes from the product's own targeting rather than from a pricing</a:t>
            </a:r>
          </a:p>
          <a:p>
            <a:r>
              <a:t>workshop.</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VIDEO CANNOT BE PLAYED</a:t>
            </a:r>
          </a:p>
          <a:p>
            <a:r>
              <a:t>This slide is the demo. Four screens in the order a learner meets them, and the</a:t>
            </a:r>
          </a:p>
          <a:p>
            <a:r>
              <a:t>address to open it live. Nothing in the recording is on the video only.</a:t>
            </a:r>
          </a:p>
          <a:p/>
          <a:p>
            <a:r>
              <a:t>WHAT TO POINT AT WHILE IT PLAYS</a:t>
            </a:r>
          </a:p>
          <a:p>
            <a:r>
              <a:t>The order, not the features. Lesson, then practice on the same concept while it</a:t>
            </a:r>
          </a:p>
          <a:p>
            <a:r>
              <a:t>is still warm, then progress that the parent sees without an account. Every</a:t>
            </a:r>
          </a:p>
          <a:p>
            <a:r>
              <a:t>competitor has lessons and quizzes. The sequence is the product.</a:t>
            </a:r>
          </a:p>
          <a:p/>
          <a:p>
            <a:r>
              <a:t>WHY THE VOICE IS SYNTHETIC</a:t>
            </a:r>
          </a:p>
          <a:p>
            <a:r>
              <a:t>Two reasons and the second is the real one. It keeps the demo re-recordable</a:t>
            </a:r>
          </a:p>
          <a:p>
            <a:r>
              <a:t>when the product changes, and it means the Hindi version exists at all rather</a:t>
            </a:r>
          </a:p>
          <a:p>
            <a:r>
              <a:t>than waiting for someone to record it. The product's whole argument is that a</a:t>
            </a:r>
          </a:p>
          <a:p>
            <a:r>
              <a:t>learner should not have to work in their second language to get help, and a</a:t>
            </a:r>
          </a:p>
          <a:p>
            <a:r>
              <a:t>demo that is English-only would contradict that on the way out of the room.</a:t>
            </a:r>
          </a:p>
          <a:p/>
          <a:p>
            <a:r>
              <a:t>IF ASKED WHETHER IT IS A REAL RECORDING</a:t>
            </a:r>
          </a:p>
          <a:p>
            <a:r>
              <a:t>Yes. It is the running app on a phone, not a prototype and not a mock-up. Only</a:t>
            </a:r>
          </a:p>
          <a:p>
            <a:r>
              <a:t>the voice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and free to open right now: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24.</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Second loudest ask, 6 of 15.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deliberately</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trying to read</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institutions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that test willingness to pay for outcomes rather than for features</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verified mentor network</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Only if the demand signal we are collecting today says learners want one</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download, and nothing to pay.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joined from one class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Institutions do.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Our learners are defined by not affording tuition, so a consumer subscription cannot be the engine without contradicting who the product is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FREE</a:t>
            </a:r>
          </a:p>
        </p:txBody>
      </p:sp>
      <p:sp>
        <p:nvSpPr>
          <p:cNvPr id="12" name="TextBox 11"/>
          <p:cNvSpPr txBox="1"/>
          <p:nvPr/>
        </p:nvSpPr>
        <p:spPr>
          <a:xfrm>
            <a:off x="749808"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₹0</a:t>
            </a:r>
          </a:p>
        </p:txBody>
      </p:sp>
      <p:sp>
        <p:nvSpPr>
          <p:cNvPr id="13" name="TextBox 12"/>
          <p:cNvSpPr txBox="1"/>
          <p:nvPr/>
        </p:nvSpPr>
        <p:spPr>
          <a:xfrm>
            <a:off x="749808"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Everything needed to learn. Full curriculum, lessons, practice, quizzes, progress, streaks and the parent summary. AI tutor capped at 10 questions a day.</a:t>
            </a:r>
          </a:p>
        </p:txBody>
      </p:sp>
      <p:sp>
        <p:nvSpPr>
          <p:cNvPr id="14" name="Rounded Rectangle 13"/>
          <p:cNvSpPr/>
          <p:nvPr/>
        </p:nvSpPr>
        <p:spPr>
          <a:xfrm>
            <a:off x="3381679"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1679"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1679"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PLUS</a:t>
            </a:r>
          </a:p>
        </p:txBody>
      </p:sp>
      <p:sp>
        <p:nvSpPr>
          <p:cNvPr id="18" name="TextBox 17"/>
          <p:cNvSpPr txBox="1"/>
          <p:nvPr/>
        </p:nvSpPr>
        <p:spPr>
          <a:xfrm>
            <a:off x="3564559"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₹99 / month</a:t>
            </a:r>
          </a:p>
        </p:txBody>
      </p:sp>
      <p:sp>
        <p:nvSpPr>
          <p:cNvPr id="19" name="TextBox 18"/>
          <p:cNvSpPr txBox="1"/>
          <p:nvPr/>
        </p:nvSpPr>
        <p:spPr>
          <a:xfrm>
            <a:off x="3564559"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Depth, for the families who want it and can pay. Unlimited AI tutor, deeper adaptive practice, revision plans and fuller parent insight.</a:t>
            </a:r>
          </a:p>
        </p:txBody>
      </p:sp>
      <p:sp>
        <p:nvSpPr>
          <p:cNvPr id="20" name="Rounded Rectangle 19"/>
          <p:cNvSpPr/>
          <p:nvPr/>
        </p:nvSpPr>
        <p:spPr>
          <a:xfrm>
            <a:off x="6196431"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6431"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1"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DAGAR MENTOR</a:t>
            </a:r>
          </a:p>
        </p:txBody>
      </p:sp>
      <p:sp>
        <p:nvSpPr>
          <p:cNvPr id="24" name="TextBox 23"/>
          <p:cNvSpPr txBox="1"/>
          <p:nvPr/>
        </p:nvSpPr>
        <p:spPr>
          <a:xfrm>
            <a:off x="6379311"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 ₹299 / month</a:t>
            </a:r>
          </a:p>
        </p:txBody>
      </p:sp>
      <p:sp>
        <p:nvSpPr>
          <p:cNvPr id="25" name="TextBox 24"/>
          <p:cNvSpPr txBox="1"/>
          <p:nvPr/>
        </p:nvSpPr>
        <p:spPr>
          <a:xfrm>
            <a:off x="6379311"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Sessions with a real person. Not sold until mentors are verified and on call, because selling ahead of supply loses a parent's trust once and for good.</a:t>
            </a:r>
          </a:p>
        </p:txBody>
      </p:sp>
      <p:sp>
        <p:nvSpPr>
          <p:cNvPr id="26" name="Rounded Rectangle 25"/>
          <p:cNvSpPr/>
          <p:nvPr/>
        </p:nvSpPr>
        <p:spPr>
          <a:xfrm>
            <a:off x="9011183"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11183"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11183"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94063"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INSTITUTIONS</a:t>
            </a:r>
          </a:p>
        </p:txBody>
      </p:sp>
      <p:sp>
        <p:nvSpPr>
          <p:cNvPr id="30" name="TextBox 29"/>
          <p:cNvSpPr txBox="1"/>
          <p:nvPr/>
        </p:nvSpPr>
        <p:spPr>
          <a:xfrm>
            <a:off x="9194063"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₹450 to ₹600</a:t>
            </a:r>
          </a:p>
        </p:txBody>
      </p:sp>
      <p:sp>
        <p:nvSpPr>
          <p:cNvPr id="31" name="TextBox 30"/>
          <p:cNvSpPr txBox="1"/>
          <p:nvPr/>
        </p:nvSpPr>
        <p:spPr>
          <a:xfrm>
            <a:off x="9194063"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Per learner, per year. The scalable engine: NGO, CSR and government licences with cohort dashboards, reporting and bulk onboarding.</a:t>
            </a:r>
          </a:p>
        </p:txBody>
      </p:sp>
      <p:sp>
        <p:nvSpPr>
          <p:cNvPr id="32" name="Rounded Rectangle 31"/>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66928"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floor: ₹370 a learner a year</a:t>
            </a:r>
          </a:p>
          <a:p>
            <a:pPr algn="l">
              <a:lnSpc>
                <a:spcPct val="122000"/>
              </a:lnSpc>
              <a:spcBef>
                <a:spcPts val="0"/>
              </a:spcBef>
              <a:spcAft>
                <a:spcPts val="0"/>
              </a:spcAft>
            </a:pPr>
            <a:r>
              <a:rPr sz="950" b="0" i="0">
                <a:solidFill>
                  <a:srgbClr val="3F4A57"/>
                </a:solidFill>
                <a:latin typeface="Arial"/>
              </a:rPr>
              <a:t>Roughly ₹330 of AI and ₹40 of infrastructure, modelled from published token pricing rather than measured per learner. Nothing is priced below it, so ₹450 leaves ₹80. Thin, and the risk is an institution treating ₹450 as a ceiling.</a:t>
            </a:r>
          </a:p>
        </p:txBody>
      </p:sp>
      <p:sp>
        <p:nvSpPr>
          <p:cNvPr id="35" name="Rounded Rectangle 34"/>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not families</a:t>
            </a:r>
          </a:p>
          <a:p>
            <a:pPr algn="l">
              <a:lnSpc>
                <a:spcPct val="122000"/>
              </a:lnSpc>
              <a:spcBef>
                <a:spcPts val="0"/>
              </a:spcBef>
              <a:spcAft>
                <a:spcPts val="0"/>
              </a:spcAft>
            </a:pPr>
            <a:r>
              <a:rPr sz="950" b="0" i="0">
                <a:solidFill>
                  <a:srgbClr val="3F4A57"/>
                </a:solidFill>
                <a:latin typeface="Arial"/>
              </a:rPr>
              <a:t>Conversion among families who cannot afford tuition is realistically 1 to 2%. CSR budgets are mandated in India and already buy per beneficiary, so one NGO cohort beats a thousand families we would rather not charge.</a:t>
            </a:r>
          </a:p>
        </p:txBody>
      </p:sp>
      <p:sp>
        <p:nvSpPr>
          <p:cNvPr id="38" name="Rounded Rectangle 37"/>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and parental consent does not unlock it. Every user we have is 11 to 14. The usual way a free product pays for itself is closed, and we would not want it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0</a:t>
            </a:r>
          </a:p>
        </p:txBody>
      </p:sp>
      <p:sp>
        <p:nvSpPr>
          <p:cNvPr id="20" name="TextBox 19"/>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1" name="TextBox 20"/>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2" name="Rectangle 21"/>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55648" y="3296411"/>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25" name="TextBox 24"/>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26" name="Rectangle 25"/>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55648" y="3534155"/>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9" name="TextBox 28"/>
          <p:cNvSpPr txBox="1"/>
          <p:nvPr/>
        </p:nvSpPr>
        <p:spPr>
          <a:xfrm>
            <a:off x="566928" y="39502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0" name="TextBox 29"/>
          <p:cNvSpPr txBox="1"/>
          <p:nvPr/>
        </p:nvSpPr>
        <p:spPr>
          <a:xfrm>
            <a:off x="566928" y="41696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31" name="Rectangle 30"/>
          <p:cNvSpPr/>
          <p:nvPr/>
        </p:nvSpPr>
        <p:spPr>
          <a:xfrm>
            <a:off x="1755648" y="4210812"/>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4210812"/>
            <a:ext cx="74676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41605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7</a:t>
            </a:r>
          </a:p>
        </p:txBody>
      </p:sp>
      <p:sp>
        <p:nvSpPr>
          <p:cNvPr id="34" name="TextBox 33"/>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5" name="Rectangle 34"/>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755648" y="4448555"/>
            <a:ext cx="64008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6</a:t>
            </a:r>
          </a:p>
        </p:txBody>
      </p:sp>
      <p:sp>
        <p:nvSpPr>
          <p:cNvPr id="38" name="TextBox 37"/>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39" name="Rectangle 38"/>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55648" y="4686299"/>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2" name="TextBox 41"/>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3" name="Rectangle 42"/>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55648" y="4924043"/>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6" name="Rounded Rectangle 45"/>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49" name="TextBox 48"/>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0" name="Rounded Rectangle 49"/>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3" name="TextBox 52"/>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4" name="Rounded Rectangle 53"/>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57" name="TextBox 56"/>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58" name="Rounded Rectangle 57"/>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1" name="TextBox 60"/>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2" name="Rounded Rectangle 61"/>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65" name="TextBox 64"/>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66" name="Rounded Rectangle 65"/>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69" name="TextBox 68"/>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0" name="Rounded Rectangle 69"/>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Fifteen of fifteen said it helped them understand something.</a:t>
            </a:r>
          </a:p>
          <a:p>
            <a:pPr algn="l">
              <a:lnSpc>
                <a:spcPct val="124000"/>
              </a:lnSpc>
              <a:spcBef>
                <a:spcPts val="0"/>
              </a:spcBef>
              <a:spcAft>
                <a:spcPts val="0"/>
              </a:spcAft>
            </a:pPr>
            <a:r>
              <a:rPr sz="1000" b="0" i="0">
                <a:solidFill>
                  <a:srgbClr val="3F4A57"/>
                </a:solidFill>
                <a:latin typeface="Arial"/>
              </a:rPr>
              <a:t>Fourteen would come back. The one who said no still said it helped. And the loudest request was simply more of it: more chapters, more practice.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DEMO</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Ninety seconds, one learner's evening.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recording follows the loop end to end, narrated in English and in Hindi. Or open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pic>
        <p:nvPicPr>
          <p:cNvPr id="8" name="Picture 7" descr="dashboard-en.png"/>
          <p:cNvPicPr>
            <a:picLocks noChangeAspect="1"/>
          </p:cNvPicPr>
          <p:nvPr/>
        </p:nvPicPr>
        <p:blipFill>
          <a:blip r:embed="rId2"/>
          <a:stretch>
            <a:fillRect/>
          </a:stretch>
        </p:blipFill>
        <p:spPr>
          <a:xfrm>
            <a:off x="1381748" y="1883664"/>
            <a:ext cx="1134818" cy="2395728"/>
          </a:xfrm>
          <a:prstGeom prst="rect">
            <a:avLst/>
          </a:prstGeom>
        </p:spPr>
      </p:pic>
      <p:sp>
        <p:nvSpPr>
          <p:cNvPr id="9" name="TextBox 8"/>
          <p:cNvSpPr txBox="1"/>
          <p:nvPr/>
        </p:nvSpPr>
        <p:spPr>
          <a:xfrm>
            <a:off x="658368"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1 · She opens it</a:t>
            </a:r>
          </a:p>
        </p:txBody>
      </p:sp>
      <p:sp>
        <p:nvSpPr>
          <p:cNvPr id="10" name="TextBox 9"/>
          <p:cNvSpPr txBox="1"/>
          <p:nvPr/>
        </p:nvSpPr>
        <p:spPr>
          <a:xfrm>
            <a:off x="658368"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thing to do next, a streak, and a goal she can finish tonight.</a:t>
            </a:r>
          </a:p>
        </p:txBody>
      </p:sp>
      <p:pic>
        <p:nvPicPr>
          <p:cNvPr id="11" name="Picture 10" descr="lesson-step.png"/>
          <p:cNvPicPr>
            <a:picLocks noChangeAspect="1"/>
          </p:cNvPicPr>
          <p:nvPr/>
        </p:nvPicPr>
        <p:blipFill>
          <a:blip r:embed="rId3"/>
          <a:stretch>
            <a:fillRect/>
          </a:stretch>
        </p:blipFill>
        <p:spPr>
          <a:xfrm>
            <a:off x="4146208" y="1883664"/>
            <a:ext cx="1134818" cy="2395728"/>
          </a:xfrm>
          <a:prstGeom prst="rect">
            <a:avLst/>
          </a:prstGeom>
        </p:spPr>
      </p:pic>
      <p:sp>
        <p:nvSpPr>
          <p:cNvPr id="12" name="TextBox 11"/>
          <p:cNvSpPr txBox="1"/>
          <p:nvPr/>
        </p:nvSpPr>
        <p:spPr>
          <a:xfrm>
            <a:off x="342282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2 · A lesson she answers</a:t>
            </a:r>
          </a:p>
        </p:txBody>
      </p:sp>
      <p:sp>
        <p:nvSpPr>
          <p:cNvPr id="13" name="TextBox 12"/>
          <p:cNvSpPr txBox="1"/>
          <p:nvPr/>
        </p:nvSpPr>
        <p:spPr>
          <a:xfrm>
            <a:off x="342282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idea per screen, a real diagram, and a hint before any answer.</a:t>
            </a:r>
          </a:p>
        </p:txBody>
      </p:sp>
      <p:pic>
        <p:nvPicPr>
          <p:cNvPr id="14" name="Picture 13" descr="practice-tiles.png"/>
          <p:cNvPicPr>
            <a:picLocks noChangeAspect="1"/>
          </p:cNvPicPr>
          <p:nvPr/>
        </p:nvPicPr>
        <p:blipFill>
          <a:blip r:embed="rId4"/>
          <a:stretch>
            <a:fillRect/>
          </a:stretch>
        </p:blipFill>
        <p:spPr>
          <a:xfrm>
            <a:off x="6910668" y="1883664"/>
            <a:ext cx="1134818" cy="2395728"/>
          </a:xfrm>
          <a:prstGeom prst="rect">
            <a:avLst/>
          </a:prstGeom>
        </p:spPr>
      </p:pic>
      <p:sp>
        <p:nvSpPr>
          <p:cNvPr id="15" name="TextBox 14"/>
          <p:cNvSpPr txBox="1"/>
          <p:nvPr/>
        </p:nvSpPr>
        <p:spPr>
          <a:xfrm>
            <a:off x="618728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3 · Practice while it is warm</a:t>
            </a:r>
          </a:p>
        </p:txBody>
      </p:sp>
      <p:sp>
        <p:nvSpPr>
          <p:cNvPr id="16" name="TextBox 15"/>
          <p:cNvSpPr txBox="1"/>
          <p:nvPr/>
        </p:nvSpPr>
        <p:spPr>
          <a:xfrm>
            <a:off x="618728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Graded by code, not by AI. Wrong is amber, and it comes with a way forward.</a:t>
            </a:r>
          </a:p>
        </p:txBody>
      </p:sp>
      <p:pic>
        <p:nvPicPr>
          <p:cNvPr id="17" name="Picture 16" descr="progress-en.png"/>
          <p:cNvPicPr>
            <a:picLocks noChangeAspect="1"/>
          </p:cNvPicPr>
          <p:nvPr/>
        </p:nvPicPr>
        <p:blipFill>
          <a:blip r:embed="rId5"/>
          <a:stretch>
            <a:fillRect/>
          </a:stretch>
        </p:blipFill>
        <p:spPr>
          <a:xfrm>
            <a:off x="9675128" y="1883664"/>
            <a:ext cx="1134818" cy="2395728"/>
          </a:xfrm>
          <a:prstGeom prst="rect">
            <a:avLst/>
          </a:prstGeom>
        </p:spPr>
      </p:pic>
      <p:sp>
        <p:nvSpPr>
          <p:cNvPr id="18" name="TextBox 17"/>
          <p:cNvSpPr txBox="1"/>
          <p:nvPr/>
        </p:nvSpPr>
        <p:spPr>
          <a:xfrm>
            <a:off x="895174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4 · Progress she can see</a:t>
            </a:r>
          </a:p>
        </p:txBody>
      </p:sp>
      <p:sp>
        <p:nvSpPr>
          <p:cNvPr id="19" name="TextBox 18"/>
          <p:cNvSpPr txBox="1"/>
          <p:nvPr/>
        </p:nvSpPr>
        <p:spPr>
          <a:xfrm>
            <a:off x="895174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Mastery per concept, the week, and the same numbers her parent sees.</a:t>
            </a:r>
          </a:p>
        </p:txBody>
      </p:sp>
      <p:sp>
        <p:nvSpPr>
          <p:cNvPr id="20" name="Rounded Rectangle 19"/>
          <p:cNvSpPr/>
          <p:nvPr/>
        </p:nvSpPr>
        <p:spPr>
          <a:xfrm>
            <a:off x="566928" y="5248656"/>
            <a:ext cx="11057839" cy="71323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85816"/>
            <a:ext cx="54864" cy="43891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358384"/>
            <a:ext cx="10417759" cy="512064"/>
          </a:xfrm>
          <a:prstGeom prst="rect">
            <a:avLst/>
          </a:prstGeom>
          <a:noFill/>
        </p:spPr>
        <p:txBody>
          <a:bodyPr wrap="square" lIns="0" rIns="0" tIns="0" bIns="0" anchor="t">
            <a:spAutoFit/>
          </a:bodyPr>
          <a:lstStyle/>
          <a:p>
            <a:pPr algn="l">
              <a:spcBef>
                <a:spcPts val="0"/>
              </a:spcBef>
              <a:spcAft>
                <a:spcPts val="200"/>
              </a:spcAft>
            </a:pPr>
            <a:r>
              <a:rPr sz="1150" b="1" i="0">
                <a:solidFill>
                  <a:srgbClr val="1A2733"/>
                </a:solidFill>
                <a:latin typeface="Arial"/>
              </a:rPr>
              <a:t>The narration is synthetic, in both languages, on purpose.</a:t>
            </a:r>
          </a:p>
          <a:p>
            <a:pPr algn="l">
              <a:spcBef>
                <a:spcPts val="0"/>
              </a:spcBef>
              <a:spcAft>
                <a:spcPts val="0"/>
              </a:spcAft>
            </a:pPr>
            <a:r>
              <a:rPr sz="950" b="0" i="0">
                <a:solidFill>
                  <a:srgbClr val="3F4A57"/>
                </a:solidFill>
                <a:latin typeface="Arial"/>
              </a:rPr>
              <a:t>A learner who reads in Hindi should be able to watch the demo in Hindi. It is the same argument the product makes.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27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no cost</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133</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761</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 of 15</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thirty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