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COLOUR</a:t>
            </a:r>
          </a:p>
          <a:p>
            <a:r>
              <a:t>It is the smallest thing on the slide and the one teachers respond to. Say the</a:t>
            </a:r>
          </a:p>
          <a:p>
            <a:r>
              <a:t>reason out loud: a learner who is already behind must never see the colour of</a:t>
            </a:r>
          </a:p>
          <a:p>
            <a:r>
              <a:t>danger because she made a sign error. Amber says not yet. Red says you failed.</a:t>
            </a:r>
          </a:p>
          <a:p/>
          <a:p>
            <a:r>
              <a:t>WHY THIS IS NOT PHASE 3, IN ONE SENTENCE</a:t>
            </a:r>
          </a:p>
          <a:p>
            <a:r>
              <a:t>Because you cannot add access to a product later without rebuilding it.</a:t>
            </a:r>
          </a:p>
          <a:p>
            <a:r>
              <a:t>Contrast, target size, focus order and an accessible name are almost free while</a:t>
            </a:r>
          </a:p>
          <a:p>
            <a:r>
              <a:t>a component is being written, and a rewrite once fifty screens exist. Every</a:t>
            </a:r>
          </a:p>
          <a:p>
            <a:r>
              <a:t>team that schedules accessibility for "later" is choosing the expensive version</a:t>
            </a:r>
          </a:p>
          <a:p>
            <a:r>
              <a:t>of the same work.</a:t>
            </a:r>
          </a:p>
          <a:p/>
          <a:p>
            <a:r>
              <a:t>AND BE HONEST THAT THE COHORT IS NOT THERE YET</a:t>
            </a:r>
          </a:p>
          <a:p>
            <a:r>
              <a:t>Nobody in the beta has told us they have a disability. We built to the standard</a:t>
            </a:r>
          </a:p>
          <a:p>
            <a:r>
              <a:t>anyway, because the alternative is discovering the gap when the first such</a:t>
            </a:r>
          </a:p>
          <a:p>
            <a:r>
              <a:t>learner arrives, at which point it is a rebuild rather than a fix. The PRD's</a:t>
            </a:r>
          </a:p>
          <a:p>
            <a:r>
              <a:t>vision names these learners, and a foundation is how you mean a sentence like</a:t>
            </a:r>
          </a:p>
          <a:p>
            <a:r>
              <a:t>that rather than merely writing it.</a:t>
            </a:r>
          </a:p>
          <a:p/>
          <a:p>
            <a:r>
              <a:t>WHAT WE HAVE NOT DONE</a:t>
            </a:r>
          </a:p>
          <a:p>
            <a:r>
              <a:t>No screen reader testing with an actual screen reader user. No audit against</a:t>
            </a:r>
          </a:p>
          <a:p>
            <a:r>
              <a:t>WCAG by anyone independent. The rules are followed and the tokens are</a:t>
            </a:r>
          </a:p>
          <a:p>
            <a:r>
              <a:t>contrast-checked, but nobody who relies on assistive technology has used Dagar</a:t>
            </a:r>
          </a:p>
          <a:p>
            <a:r>
              <a:t>yet, and that is the gap that matters most on this slide.</a:t>
            </a:r>
          </a:p>
          <a:p/>
          <a:p>
            <a:r>
              <a:t>THE AUDIO IS NOT A FEATURE FOR BLIND LEARNERS</a:t>
            </a:r>
          </a:p>
          <a:p>
            <a:r>
              <a:t>It helps them, but that is not why it exists. It is there for a learner who</a:t>
            </a:r>
          </a:p>
          <a:p>
            <a:r>
              <a:t>reads slowly in her own language, which is a much larger group and one nobody</a:t>
            </a:r>
          </a:p>
          <a:p>
            <a:r>
              <a:t>builds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NUMBER</a:t>
            </a:r>
          </a:p>
          <a:p>
            <a:r>
              <a:t>1,743 is a fact about effort, not about quality. Lead with the ordering:</a:t>
            </a:r>
          </a:p>
          <a:p>
            <a:r>
              <a:t>grading first because a grading bug is the highest-harm, lowest-visibility</a:t>
            </a:r>
          </a:p>
          <a:p>
            <a:r>
              <a:t>failure in the product. Everything else on this slide follows from that</a:t>
            </a:r>
          </a:p>
          <a:p>
            <a:r>
              <a:t>principle.</a:t>
            </a:r>
          </a:p>
          <a:p/>
          <a:p>
            <a:r>
              <a:t>THE STORY IS THE SLIDE</a:t>
            </a:r>
          </a:p>
          <a:p>
            <a:r>
              <a:t>Four progress bugs, all found by a real user on her phone, all passing a green</a:t>
            </a:r>
          </a:p>
          <a:p>
            <a:r>
              <a:t>suite. The suite was not weak, it was the wrong shape: flow tests answer "can</a:t>
            </a:r>
          </a:p>
          <a:p>
            <a:r>
              <a:t>she reach the screen", and every one of those bugs was "do the numbers on it</a:t>
            </a:r>
          </a:p>
          <a:p>
            <a:r>
              <a:t>agree". Saying that out loud is stronger than the count, because it shows a</a:t>
            </a:r>
          </a:p>
          <a:p>
            <a:r>
              <a:t>team that changed its method rather than added to it.</a:t>
            </a:r>
          </a:p>
          <a:p/>
          <a:p>
            <a:r>
              <a:t>IF ASKED WHAT IS STILL UNTESTED</a:t>
            </a:r>
          </a:p>
          <a:p>
            <a:r>
              <a:t>The AI's teaching quality. There is a golden set and an LLM judge, and that</a:t>
            </a:r>
          </a:p>
          <a:p>
            <a:r>
              <a:t>measures whether an explanation is on-curriculum and hints before answering. It</a:t>
            </a:r>
          </a:p>
          <a:p>
            <a:r>
              <a:t>does not measure whether a child understood, and nothing automated does.</a:t>
            </a:r>
          </a:p>
          <a:p/>
          <a:p>
            <a:r>
              <a:t>IF ASKED WHY E2E NEVER ASSERTS A CORRECT ANSWER</a:t>
            </a:r>
          </a:p>
          <a:p>
            <a:r>
              <a:t>Because it cannot reach one. Answer keys are unreachable from the browser (D3),</a:t>
            </a:r>
          </a:p>
          <a:p>
            <a:r>
              <a:t>so a test that knew the right answer would either be hardcoding a fixture that</a:t>
            </a:r>
          </a:p>
          <a:p>
            <a:r>
              <a:t>rots when the seed changes, or proving the key had leaked. Practice is</a:t>
            </a:r>
          </a:p>
          <a:p>
            <a:r>
              <a:t>exercised through the WRONG path instead, which is the one a learner meets far</a:t>
            </a:r>
          </a:p>
          <a:p>
            <a:r>
              <a:t>more often anyway.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FINDING, NOT THE HARNESS</a:t>
            </a:r>
          </a:p>
          <a:p>
            <a:r>
              <a:t>The bottom box is the slide. Anyone can say they wrote an eval set. Almost</a:t>
            </a:r>
          </a:p>
          <a:p>
            <a:r>
              <a:t>nobody can say what their real users turned out to be asking, and "a third of</a:t>
            </a:r>
          </a:p>
          <a:p>
            <a:r>
              <a:t>our AI tutor traffic is people lost in the UI" is a sentence a judge will</a:t>
            </a:r>
          </a:p>
          <a:p>
            <a:r>
              <a:t>remember. The harness is only how we know it.</a:t>
            </a:r>
          </a:p>
          <a:p/>
          <a:p>
            <a:r>
              <a:t>WHY THIS IS MVP SCOPE AND NOT PHASE 2</a:t>
            </a:r>
          </a:p>
          <a:p>
            <a:r>
              <a:t>Every other part of the product is deterministic and testable by ordinary</a:t>
            </a:r>
          </a:p>
          <a:p>
            <a:r>
              <a:t>means. The tutor is the one differentiating claim, and it was the only part</a:t>
            </a:r>
          </a:p>
          <a:p>
            <a:r>
              <a:t>whose quality was asserted rather than measured. A product whose central claim</a:t>
            </a:r>
          </a:p>
          <a:p>
            <a:r>
              <a:t>is the only untested thing in it has the priority backwards. Recorded as D27.</a:t>
            </a:r>
          </a:p>
          <a:p/>
          <a:p>
            <a:r>
              <a:t>IF ASKED WHETHER IT ACTUALLY CAUGHT ANYTHING</a:t>
            </a:r>
          </a:p>
          <a:p>
            <a:r>
              <a:t>Yes, and it caught our own harness too. It found the tutor opening corrections</a:t>
            </a:r>
          </a:p>
          <a:p>
            <a:r>
              <a:t>with verdict words like "careful", which a child grades exactly the same as</a:t>
            </a:r>
          </a:p>
          <a:p>
            <a:r>
              <a:t>"incorrect". It found the tutor telling a learner their message was empty when</a:t>
            </a:r>
          </a:p>
          <a:p>
            <a:r>
              <a:t>they had sent "?". And the first run failed several CORRECT replies, because</a:t>
            </a:r>
          </a:p>
          <a:p>
            <a:r>
              <a:t>the judge was scoring "is this grounded in the lesson" without being shown the</a:t>
            </a:r>
          </a:p>
          <a:p>
            <a:r>
              <a:t>lesson. A judge that cannot check a criterion must not be asked to score it.</a:t>
            </a:r>
          </a:p>
          <a:p/>
          <a:p>
            <a:r>
              <a:t>IF ASKED WHY ONLY 50 CASES</a:t>
            </a:r>
          </a:p>
          <a:p>
            <a:r>
              <a:t>Statistical rigour would want roughly 250 for a 5% margin at 95% confidence.</a:t>
            </a:r>
          </a:p>
          <a:p>
            <a:r>
              <a:t>That is the right target at scale and the wrong one now: at 250 a run takes an</a:t>
            </a:r>
          </a:p>
          <a:p>
            <a:r>
              <a:t>hour and nobody executes it. 50 to 80 is enough to cover every category and</a:t>
            </a:r>
          </a:p>
          <a:p>
            <a:r>
              <a:t>cheap enough to run before every prompt change. It grows by harvesting real</a:t>
            </a:r>
          </a:p>
          <a:p>
            <a:r>
              <a:t>traffic weekly, not by inventing more.</a:t>
            </a:r>
          </a:p>
          <a:p/>
          <a:p>
            <a:r>
              <a:t>IF ASKED WHAT IT STILL DOES NOT MEASURE</a:t>
            </a:r>
          </a:p>
          <a:p>
            <a:r>
              <a:t>Whether a child actually understood. Nothing automated measures that. The set</a:t>
            </a:r>
          </a:p>
          <a:p>
            <a:r>
              <a:t>measures whether the reply was grounded, hinted before answering, stayed in the</a:t>
            </a:r>
          </a:p>
          <a:p>
            <a:r>
              <a:t>learner's language and was safe. Understanding is what the mastery numbers and</a:t>
            </a:r>
          </a:p>
          <a:p>
            <a:r>
              <a:t>the quiz are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a:t>
            </a:r>
          </a:p>
          <a:p>
            <a:r>
              <a:t>Not modesty. Each of these four is a decision with a reason behind it, and a</a:t>
            </a:r>
          </a:p>
          <a:p>
            <a:r>
              <a:t>team that can say why something is absent reads as one that decided rather than</a:t>
            </a:r>
          </a:p>
          <a:p>
            <a:r>
              <a:t>ran out of time. Give the reason, not an apology.</a:t>
            </a:r>
          </a:p>
          <a:p/>
          <a:p>
            <a:r>
              <a:t>IF ASKED WHAT WE WOULD DO DIFFERENTLY</a:t>
            </a:r>
          </a:p>
          <a:p>
            <a:r>
              <a:t>Answer it, do not read it off a slide. The three worth naming: instrument</a:t>
            </a:r>
          </a:p>
          <a:p>
            <a:r>
              <a:t>before building, because three events were not firing and we found out only</a:t>
            </a:r>
          </a:p>
          <a:p>
            <a:r>
              <a:t>when we went looking for the numbers; get it onto a real handset on day one,</a:t>
            </a:r>
          </a:p>
          <a:p>
            <a:r>
              <a:t>because twenty minutes on an Android phone produced six defects no test caught;</a:t>
            </a:r>
          </a:p>
          <a:p>
            <a:r>
              <a:t>and write the tutor's evaluation set before tuning its prompt, because building</a:t>
            </a:r>
          </a:p>
          <a:p>
            <a:r>
              <a:t>it last cost us the finding it contained. All three are written up in the</a:t>
            </a:r>
          </a:p>
          <a:p>
            <a:r>
              <a:t>"How we built it" document.</a:t>
            </a:r>
          </a:p>
          <a:p/>
          <a:p>
            <a:r>
              <a:t>IF ASKED ABOUT THE GAMIFICATION CHOICE</a:t>
            </a:r>
          </a:p>
          <a:p>
            <a:r>
              <a:t>Duolingo's mechanics work brilliantly for an adult learning Spanish by choice.</a:t>
            </a:r>
          </a:p>
          <a:p>
            <a:r>
              <a:t>For a child who is behind and knows it, a streak that can be lost and a heart</a:t>
            </a:r>
          </a:p>
          <a:p>
            <a:r>
              <a:t>that can be spent turn a learning tool into another place to fail. We kept the</a:t>
            </a:r>
          </a:p>
          <a:p>
            <a:r>
              <a:t>streak because it rewards showing up, and gave it a forgiven day so one missed</a:t>
            </a:r>
          </a:p>
          <a:p>
            <a:r>
              <a:t>evening cannot erase three weeks.</a:t>
            </a:r>
          </a:p>
          <a:p/>
          <a:p>
            <a:r>
              <a:t>IF ASKED WHAT WE CUT THAT WE MISS</a:t>
            </a:r>
          </a:p>
          <a:p>
            <a:r>
              <a:t>A wider quiz pool. Eight questions per chapter quiz and the quiz is all eight,</a:t>
            </a:r>
          </a:p>
          <a:p>
            <a:r>
              <a:t>so a retake cannot contain anything new. Order varies per attempt, which is the</a:t>
            </a:r>
          </a:p>
          <a:p>
            <a:r>
              <a:t>cheap half. The real fix is doubling the bank, and most of that work is</a:t>
            </a:r>
          </a:p>
          <a:p>
            <a:r>
              <a:t>verifying answer keys rather than writing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TO SAY OUT LOUD</a:t>
            </a:r>
          </a:p>
          <a:p>
            <a:r>
              <a:t>14 of 15 would use it again, and 15 of 15 said it helped them understand</a:t>
            </a:r>
          </a:p>
          <a:p>
            <a:r>
              <a:t>something (14 "yes", 1 "a bit"). Say the split rather than rounding it to 100%,</a:t>
            </a:r>
          </a:p>
          <a:p>
            <a:r>
              <a:t>because someone will ask and the honest version is stronger than the round one.</a:t>
            </a:r>
          </a:p>
          <a:p/>
          <a:p>
            <a:r>
              <a:t>DISCOUNT THE LEARNER SAMPLE BEFORE ANYONE ELSE DOES</a:t>
            </a:r>
          </a:p>
          <a:p>
            <a:r>
              <a:t>Mostly one class, reached through a family connection. The selection bias runs</a:t>
            </a:r>
          </a:p>
          <a:p>
            <a:r>
              <a:t>towards kindness and we should say so first, because the room will think it</a:t>
            </a:r>
          </a:p>
          <a:p>
            <a:r>
              <a:t>either way and saying it first is what makes the rest credible. It is still 15</a:t>
            </a:r>
          </a:p>
          <a:p>
            <a:r>
              <a:t>responses from 15 distinct signed-in accounts that had used the product, which</a:t>
            </a:r>
          </a:p>
          <a:p>
            <a:r>
              <a:t>is more first-party evidence than most four-day builds have at all.</a:t>
            </a:r>
          </a:p>
          <a:p/>
          <a:p>
            <a:r>
              <a:t>THE TEACHERS ARE A DIFFERENT KIND OF EVIDENCE, SO SAY SO</a:t>
            </a:r>
          </a:p>
          <a:p>
            <a:r>
              <a:t>Both teach mathematics, and both were asked for exactly that reason. That is</a:t>
            </a:r>
          </a:p>
          <a:p>
            <a:r>
              <a:t>not a friendly sample, it is subject-matter review, sought on purpose, by</a:t>
            </a:r>
          </a:p>
          <a:p>
            <a:r>
              <a:t>people who teach this syllabus to this age group every day. If someone frames</a:t>
            </a:r>
          </a:p>
          <a:p>
            <a:r>
              <a:t>it as "you asked your contacts", the answer is that we went looking for the</a:t>
            </a:r>
          </a:p>
          <a:p>
            <a:r>
              <a:t>readers most able to find fault with the teaching, and one of them did: the</a:t>
            </a:r>
          </a:p>
          <a:p>
            <a:r>
              <a:t>English is too hard for Class 6 in a Hindi-dominant area. Nobody being polite</a:t>
            </a:r>
          </a:p>
          <a:p>
            <a:r>
              <a:t>hands you that.</a:t>
            </a:r>
          </a:p>
          <a:p/>
          <a:p>
            <a:r>
              <a:t>THE FOURTH QUOTE IS THE SLIDE</a:t>
            </a:r>
          </a:p>
          <a:p>
            <a:r>
              <a:t>A learner asking for an AI tutor in an app with an AI tutor on every lesson</a:t>
            </a:r>
          </a:p>
          <a:p>
            <a:r>
              <a:t>screen. They named the quiz as what worked, so they had used the product</a:t>
            </a:r>
          </a:p>
          <a:p>
            <a:r>
              <a:t>properly. Pair it with the behavioural number: 11 of 30 active learners have</a:t>
            </a:r>
          </a:p>
          <a:p>
            <a:r>
              <a:t>ever sent the tutor a message, against a 50% target. That is discoverability,</a:t>
            </a:r>
          </a:p>
          <a:p>
            <a:r>
              <a:t>and it is measured rather than felt.</a:t>
            </a:r>
          </a:p>
          <a:p/>
          <a:p>
            <a:r>
              <a:t>IF ASKED WHY NOT MORE RESPONSES</a:t>
            </a:r>
          </a:p>
          <a:p>
            <a:r>
              <a:t>It ran for four days inside one class. The form is in the product and still</a:t>
            </a:r>
          </a:p>
          <a:p>
            <a:r>
              <a:t>collecting. We would rather show 15 real responses with the bias named than a</a:t>
            </a:r>
          </a:p>
          <a:p>
            <a:r>
              <a:t>larger number gathered from people who never opened it.</a:t>
            </a:r>
          </a:p>
          <a:p/>
          <a:p>
            <a:r>
              <a:t>IF ASKED ABOUT THE TEACHER'S LANGUAGE COMMENT</a:t>
            </a:r>
          </a:p>
          <a:p>
            <a:r>
              <a:t>It is the most useful criticism we received. Hindi is in the MVP rather than a</a:t>
            </a:r>
          </a:p>
          <a:p>
            <a:r>
              <a:t>later phase precisely because the learners are Hindi-medium, and a teacher is</a:t>
            </a:r>
          </a:p>
          <a:p>
            <a:r>
              <a:t>still telling us the English is a barrier for Class 6. That is an argument for</a:t>
            </a:r>
          </a:p>
          <a:p>
            <a:r>
              <a:t>defaulting to Hindi by region rather than asking the child to choose.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ICE AND NOT RICE</a:t>
            </a:r>
          </a:p>
          <a:p>
            <a:r>
              <a:t>Reach is the R, and at 46 accounts every item on this list reaches the same</a:t>
            </a:r>
          </a:p>
          <a:p>
            <a:r>
              <a:t>people, so scoring it adds a column of identical numbers and a false sense of</a:t>
            </a:r>
          </a:p>
          <a:p>
            <a:r>
              <a:t>rigour. Ease earns its place instead: the team is one person, and an item that</a:t>
            </a:r>
          </a:p>
          <a:p>
            <a:r>
              <a:t>is valuable and slow genuinely should sit below one that is valuable and quick.</a:t>
            </a:r>
          </a:p>
          <a:p/>
          <a:p>
            <a:r>
              <a:t>DEFEND THE ORDER, NOT THE SCORES</a:t>
            </a:r>
          </a:p>
          <a:p>
            <a:r>
              <a:t>The scores are judgement, not measurement, and anyone can argue a point either</a:t>
            </a:r>
          </a:p>
          <a:p>
            <a:r>
              <a:t>way. What matters is that the ordering changes if you argue successfully, which</a:t>
            </a:r>
          </a:p>
          <a:p>
            <a:r>
              <a:t>is the whole purpose of writing them down. Do not defend an 8 against a 7.</a:t>
            </a:r>
          </a:p>
          <a:p/>
          <a:p>
            <a:r>
              <a:t>THE TWO SOURCES, AND WHY BOTH ARE ON THE LIST</a:t>
            </a:r>
          </a:p>
          <a:p>
            <a:r>
              <a:t>What learners say and what learners do are different instruments and the</a:t>
            </a:r>
          </a:p>
          <a:p>
            <a:r>
              <a:t>roadmap uses both. More chapters is what they asked for: 7 of 15 in a forced</a:t>
            </a:r>
          </a:p>
          <a:p>
            <a:r>
              <a:t>choice, the highest Confidence on the board. Discoverability is what they did:</a:t>
            </a:r>
          </a:p>
          <a:p>
            <a:r>
              <a:t>9 of 25 tutor messages are about the screen, a learner asked us to build a</a:t>
            </a:r>
          </a:p>
          <a:p>
            <a:r>
              <a:t>tutor we already ship, and 11 of 30 have ever opened it against a 50% target.</a:t>
            </a:r>
          </a:p>
          <a:p>
            <a:r>
              <a:t>Neither instrument sees what the other sees, so we ship both first.</a:t>
            </a:r>
          </a:p>
          <a:p/>
          <a:p>
            <a:r>
              <a:t>WHY MORE CHAPTERS SCORES 9.0</a:t>
            </a:r>
          </a:p>
          <a:p>
            <a:r>
              <a:t>Impact 10: one chapter per grade is a hard ceiling. A learner who finishes it</a:t>
            </a:r>
          </a:p>
          <a:p>
            <a:r>
              <a:t>has nothing to come back to, and that is the only failure on this list with no</a:t>
            </a:r>
          </a:p>
          <a:p>
            <a:r>
              <a:t>workaround. Confidence 10: 7 of 15 chose it in a forced choice, over practice,</a:t>
            </a:r>
          </a:p>
          <a:p>
            <a:r>
              <a:t>over the tutor, over everything else, which is the strongest stated signal we</a:t>
            </a:r>
          </a:p>
          <a:p>
            <a:r>
              <a:t>have. Ease 7: the content model, the lesson player and the answer-key</a:t>
            </a:r>
          </a:p>
          <a:p>
            <a:r>
              <a:t>verification script already exist, so widening the syllabus is authoring work</a:t>
            </a:r>
          </a:p>
          <a:p>
            <a:r>
              <a:t>rather than building work. It is not a 9, because a human still has to check</a:t>
            </a:r>
          </a:p>
          <a:p>
            <a:r>
              <a:t>every key and a wrong one tells a child they are wrong when they are right.</a:t>
            </a:r>
          </a:p>
          <a:p/>
          <a:p>
            <a:r>
              <a:t>WHY DISCOVERABILITY SCORES 8.3 AND NOT HIGHER</a:t>
            </a:r>
          </a:p>
          <a:p>
            <a:r>
              <a:t>Impact 8 rather than 9, because learners demonstrably get past the friction:</a:t>
            </a:r>
          </a:p>
          <a:p>
            <a:r>
              <a:t>133 lessons completed and 761 practice questions answered through exactly the</a:t>
            </a:r>
          </a:p>
          <a:p>
            <a:r>
              <a:t>confusion we are describing. It is serious and it is not a wall. Confidence 8,</a:t>
            </a:r>
          </a:p>
          <a:p>
            <a:r>
              <a:t>because we are certain the problem is real and less certain a redesign closes</a:t>
            </a:r>
          </a:p>
          <a:p>
            <a:r>
              <a:t>it completely. This is the more honest reading of our own evidence.</a:t>
            </a:r>
          </a:p>
          <a:p/>
          <a:p>
            <a:r>
              <a:t>IF ASKED WHETHER THE SCORES WERE FITTED TO THE ANSWER</a:t>
            </a:r>
          </a:p>
          <a:p>
            <a:r>
              <a:t>A fair question and the answer is that four of them moved when we re-examined</a:t>
            </a:r>
          </a:p>
          <a:p>
            <a:r>
              <a:t>them, in both directions: chapters went up on Confidence and Ease, and</a:t>
            </a:r>
          </a:p>
          <a:p>
            <a:r>
              <a:t>discoverability came down on Impact and Confidence. The reasons are the two</a:t>
            </a:r>
          </a:p>
          <a:p>
            <a:r>
              <a:t>notes above and each is independently arguable. If someone argues one</a:t>
            </a:r>
          </a:p>
          <a:p>
            <a:r>
              <a:t>successfully the order should change, which is the entire reason for writing</a:t>
            </a:r>
          </a:p>
          <a:p>
            <a:r>
              <a:t>the numbers down instead of asserting a priority.</a:t>
            </a:r>
          </a:p>
          <a:p/>
          <a:p>
            <a:r>
              <a:t>WHY THE LAST ROW HAS NO SCORES</a:t>
            </a:r>
          </a:p>
          <a:p>
            <a:r>
              <a:t>More subjects, more grades, more languages and a teacher view are real and they</a:t>
            </a:r>
          </a:p>
          <a:p>
            <a:r>
              <a:t>are in the PRD. They are deliberately unscored here, because putting a 6.1</a:t>
            </a:r>
          </a:p>
          <a:p>
            <a:r>
              <a:t>beside "more subjects" would be inventing precision about work nobody has</a:t>
            </a:r>
          </a:p>
          <a:p>
            <a:r>
              <a:t>specified yet, and this slide argues that breadth is earned rather than</a:t>
            </a:r>
          </a:p>
          <a:p>
            <a:r>
              <a:t>scheduled. They get numbers when the rows above them are done.</a:t>
            </a:r>
          </a:p>
          <a:p/>
          <a:p>
            <a:r>
              <a:t>IF ASKED WHAT UNLOCKS THE TWO GATED ITEMS</a:t>
            </a:r>
          </a:p>
          <a:p>
            <a:r>
              <a:t>WhatsApp needs Meta business verification and an opt-in from the parent's own</a:t>
            </a:r>
          </a:p>
          <a:p>
            <a:r>
              <a:t>handset, and the summary itself is already built and running as a link. The</a:t>
            </a:r>
          </a:p>
          <a:p>
            <a:r>
              <a:t>mentor service needs demand: 34 offers and 1 acceptance. If that ratio moves,</a:t>
            </a:r>
          </a:p>
          <a:p>
            <a:r>
              <a:t>the item moves with it. Neither is a technical unknown.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THERE ARE NO DATES</a:t>
            </a:r>
          </a:p>
          <a:p>
            <a:r>
              <a:t>Because we would be guessing, and a roadmap with invented dates is the fastest</a:t>
            </a:r>
          </a:p>
          <a:p>
            <a:r>
              <a:t>way to lose a room that has seen a few. Each phase names its precondition</a:t>
            </a:r>
          </a:p>
          <a:p>
            <a:r>
              <a:t>instead. Phase 2 starts when the depth work on slide 21 is done. Phase 3 starts</a:t>
            </a:r>
          </a:p>
          <a:p>
            <a:r>
              <a:t>when Phase 2 has paying institutions and a reason to believe the model holds.</a:t>
            </a:r>
          </a:p>
          <a:p/>
          <a:p>
            <a:r>
              <a:t>THIS IS THE PRD, NOT A DECK INVENTION</a:t>
            </a:r>
          </a:p>
          <a:p>
            <a:r>
              <a:t>These three phases are lifted from the PRD's own roadmap section, so the two</a:t>
            </a:r>
          </a:p>
          <a:p>
            <a:r>
              <a:t>cannot drift apart. If someone asks to see it written down, it is there with</a:t>
            </a:r>
          </a:p>
          <a:p>
            <a:r>
              <a:t>the full feature lists.</a:t>
            </a:r>
          </a:p>
          <a:p/>
          <a:p>
            <a:r>
              <a:t>THE ORDER OF PHASE 2 IS DELIBERATE</a:t>
            </a:r>
          </a:p>
          <a:p>
            <a:r>
              <a:t>Subjects and classes before languages, and both before dashboards for adults.</a:t>
            </a:r>
          </a:p>
          <a:p>
            <a:r>
              <a:t>Every one of those widens the product, but only the first two widen it for the</a:t>
            </a:r>
          </a:p>
          <a:p>
            <a:r>
              <a:t>learner, and the learner is who the product is for.</a:t>
            </a:r>
          </a:p>
          <a:p/>
          <a:p>
            <a:r>
              <a:t>WHAT "NEW PERSONAS" MEANS, IF ASKED</a:t>
            </a:r>
          </a:p>
          <a:p>
            <a:r>
              <a:t>Everything up to here serves one persona: a learner in Classes 6 to 8 who is</a:t>
            </a:r>
          </a:p>
          <a:p>
            <a:r>
              <a:t>behind and cannot afford tuition. Phase 3 widens who the product is for, not</a:t>
            </a:r>
          </a:p>
          <a:p>
            <a:r>
              <a:t>just what it teaches. Adult literacy learners are the clearest case, and they</a:t>
            </a:r>
          </a:p>
          <a:p>
            <a:r>
              <a:t>need the same thing our learners need: one idea at a time, in their language,</a:t>
            </a:r>
          </a:p>
          <a:p>
            <a:r>
              <a:t>with no cost and no judgement. The accessibility groups stop being people we</a:t>
            </a:r>
          </a:p>
          <a:p>
            <a:r>
              <a:t>accommodate and become people we design for. The engine does not change. The</a:t>
            </a:r>
          </a:p>
          <a:p>
            <a:r>
              <a:t>learner does.</a:t>
            </a:r>
          </a:p>
          <a:p/>
          <a:p>
            <a:r>
              <a:t>WHY ACCESSIBILITY IS A PHASE AND NOT A CHECKBOX</a:t>
            </a:r>
          </a:p>
          <a:p>
            <a:r>
              <a:t>WCAG AA is already in the MVP: contrast, keyboard, focus, touch targets,</a:t>
            </a:r>
          </a:p>
          <a:p>
            <a:r>
              <a:t>reduced motion. That is table stakes and it is done. Phase 3 is different in</a:t>
            </a:r>
          </a:p>
          <a:p>
            <a:r>
              <a:t>kind, not degree: a product designed from the start for a learner who cannot</a:t>
            </a:r>
          </a:p>
          <a:p>
            <a:r>
              <a:t>see the screen, or cannot hear the audio, or reads differently. That is a</a:t>
            </a:r>
          </a:p>
          <a:p>
            <a:r>
              <a:t>rebuild of the interaction model, not a settings page, which is why it is</a:t>
            </a:r>
          </a:p>
          <a:p>
            <a:r>
              <a:t>honest to call it a phase.</a:t>
            </a:r>
          </a:p>
          <a:p/>
          <a:p>
            <a:r>
              <a:t>IF ASKED WHICH PHASE 2 ITEM IS CLOSEST</a:t>
            </a:r>
          </a:p>
          <a:p>
            <a:r>
              <a:t>Science. The content model, the lesson player, the practice engine and the</a:t>
            </a:r>
          </a:p>
          <a:p>
            <a:r>
              <a:t>grading are all subject-agnostic already. Adding a subject is authoring and</a:t>
            </a:r>
          </a:p>
          <a:p>
            <a:r>
              <a:t>review, not engineering, and that was a deliberate architectural choice made in</a:t>
            </a:r>
          </a:p>
          <a:p>
            <a:r>
              <a:t>the first two days.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STEP IS THE WHOLE PROBLEM</a:t>
            </a:r>
          </a:p>
          <a:p>
            <a:r>
              <a:t>Every number on this slide is about removing friction before learning starts.</a:t>
            </a:r>
          </a:p>
          <a:p>
            <a:r>
              <a:t>No Play Store account, no APK, no 40MB download on a phone shared between</a:t>
            </a:r>
          </a:p>
          <a:p>
            <a:r>
              <a:t>siblings, and no registration for the parent. Each of those is a place where a</a:t>
            </a:r>
          </a:p>
          <a:p>
            <a:r>
              <a:t>family in the target segment drops out, and none of them has anything to do</a:t>
            </a:r>
          </a:p>
          <a:p>
            <a:r>
              <a:t>with whether the teaching is good.</a:t>
            </a:r>
          </a:p>
          <a:p/>
          <a:p>
            <a:r>
              <a:t>WHY NOT THE PLAY STORE, IF ASKED</a:t>
            </a:r>
          </a:p>
          <a:p>
            <a:r>
              <a:t>A personal developer account opened after November 2023 must run a closed test</a:t>
            </a:r>
          </a:p>
          <a:p>
            <a:r>
              <a:t>with 12 or more testers for 14 continuous days before it can even apply for</a:t>
            </a:r>
          </a:p>
          <a:p>
            <a:r>
              <a:t>production. That is longer than this build. The same web app wraps into a</a:t>
            </a:r>
          </a:p>
          <a:p>
            <a:r>
              <a:t>Trusted Web Activity later with no rewrite, so the store is a packaging</a:t>
            </a:r>
          </a:p>
          <a:p>
            <a:r>
              <a:t>decision we can take whenever it helps, not a dependency. Recorded as D15.</a:t>
            </a:r>
          </a:p>
          <a:p/>
          <a:p>
            <a:r>
              <a:t>BE HONEST ABOUT WHICH CHANNEL IS PROVEN</a:t>
            </a:r>
          </a:p>
          <a:p>
            <a:r>
              <a:t>One. A teacher shared a link with her class and 46 accounts followed, 30 of</a:t>
            </a:r>
          </a:p>
          <a:p>
            <a:r>
              <a:t>which completed a lesson. The NGO and CSR route is reasoned rather than</a:t>
            </a:r>
          </a:p>
          <a:p>
            <a:r>
              <a:t>demonstrated, and saying so is what makes the first number believable.</a:t>
            </a:r>
          </a:p>
          <a:p/>
          <a:p>
            <a:r>
              <a:t>THE INSTITUTIONAL ARGUMENT IN ONE LINE</a:t>
            </a:r>
          </a:p>
          <a:p>
            <a:r>
              <a:t>An institution is a room full of teachers, and the motion that already worked</a:t>
            </a:r>
          </a:p>
          <a:p>
            <a:r>
              <a:t>is one teacher with one class and one link. We are not proposing a different</a:t>
            </a:r>
          </a:p>
          <a:p>
            <a:r>
              <a:t>machine at scale, we are proposing the same one, more times.</a:t>
            </a:r>
          </a:p>
          <a:p/>
          <a:p>
            <a:r>
              <a:t>IF ASKED ABOUT THE 250,000 FIGURE</a:t>
            </a:r>
          </a:p>
          <a:p>
            <a:r>
              <a:t>It is roughly 0.8% of the ~30 million learners in Classes 6 to 8 on this</a:t>
            </a:r>
          </a:p>
          <a:p>
            <a:r>
              <a:t>curriculum with household smartphone access, over three years. The derivation</a:t>
            </a:r>
          </a:p>
          <a:p>
            <a:r>
              <a:t>and its confidence levels are in MARKET_AND_PRICING.md, and the weakest input</a:t>
            </a:r>
          </a:p>
          <a:p>
            <a:r>
              <a:t>is curriculum alignment at about 62%.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SENTENCE</a:t>
            </a:r>
          </a:p>
          <a:p>
            <a:r>
              <a:t>Learners never pay for the core learning loop. Institutions pay for reach,</a:t>
            </a:r>
          </a:p>
          <a:p>
            <a:r>
              <a:t>families pay only for depth. Everything else on this slide is a consequence of</a:t>
            </a:r>
          </a:p>
          <a:p>
            <a:r>
              <a:t>that, and it comes from the product's own targeting rather than from a pricing</a:t>
            </a:r>
          </a:p>
          <a:p>
            <a:r>
              <a:t>workshop.</a:t>
            </a:r>
          </a:p>
          <a:p/>
          <a:p>
            <a:r>
              <a:t>BE PRECISE THAT ₹370 IS MODELLED</a:t>
            </a:r>
          </a:p>
          <a:p>
            <a:r>
              <a:t>It is derived in MARKET_AND_PRICING.md from D11's cost targets and published</a:t>
            </a:r>
          </a:p>
          <a:p>
            <a:r>
              <a:t>token pricing: about ₹330 of AI inference and ₹40 of infrastructure for a fully</a:t>
            </a:r>
          </a:p>
          <a:p>
            <a:r>
              <a:t>active learner per year. It is not yet validated against production, because</a:t>
            </a:r>
          </a:p>
          <a:p>
            <a:r>
              <a:t>test-account purges null the learner attribution on our AI spend rows. Say</a:t>
            </a:r>
          </a:p>
          <a:p>
            <a:r>
              <a:t>"modelled" and not "measured". Someone will ask, and the difference is the</a:t>
            </a:r>
          </a:p>
          <a:p>
            <a:r>
              <a:t>whole credibility of the slide.</a:t>
            </a:r>
          </a:p>
          <a:p/>
          <a:p>
            <a:r>
              <a:t>WHY NOT ADVERTISING, IN ONE LINE</a:t>
            </a:r>
          </a:p>
          <a:p>
            <a:r>
              <a:t>Section 9(3) of the DPDP Act 2023 prohibits tracking, behavioural monitoring</a:t>
            </a:r>
          </a:p>
          <a:p>
            <a:r>
              <a:t>and targeted advertising directed at children, and parental consent does not</a:t>
            </a:r>
          </a:p>
          <a:p>
            <a:r>
              <a:t>lift it. Every user we have is 11 to 14. This is worth saying out loud because</a:t>
            </a:r>
          </a:p>
          <a:p>
            <a:r>
              <a:t>it removes the obvious answer to "how does a free product survive", and because</a:t>
            </a:r>
          </a:p>
          <a:p>
            <a:r>
              <a:t>a team that knows the regulation reads as a team that read it.</a:t>
            </a:r>
          </a:p>
          <a:p/>
          <a:p>
            <a:r>
              <a:t>IF ASKED ABOUT THE 1 TO 2% CONVERSION</a:t>
            </a:r>
          </a:p>
          <a:p>
            <a:r>
              <a:t>It is deliberately pessimistic and it should be. The people we serve are</a:t>
            </a:r>
          </a:p>
          <a:p>
            <a:r>
              <a:t>defined by not being able to afford ₹500 a month of tuition, so assuming they</a:t>
            </a:r>
          </a:p>
          <a:p>
            <a:r>
              <a:t>will pay ₹99 a month at typical freemium rates would be assuming away the</a:t>
            </a:r>
          </a:p>
          <a:p>
            <a:r>
              <a:t>problem the product exists to solve.</a:t>
            </a:r>
          </a:p>
          <a:p/>
          <a:p>
            <a:r>
              <a:t>IF ASKED WHAT KILLS THIS MODEL</a:t>
            </a:r>
          </a:p>
          <a:p>
            <a:r>
              <a:t>Institutions buying on cost per beneficiary and treating ₹450 as a ceiling.</a:t>
            </a:r>
          </a:p>
          <a:p>
            <a:r>
              <a:t>That is in MARKET_AND_PRICING.md as a named risk rather than a footnote. The</a:t>
            </a:r>
          </a:p>
          <a:p>
            <a:r>
              <a:t>mitigation is volume tiers and the fact that a free-tier learner costs about</a:t>
            </a:r>
          </a:p>
          <a:p>
            <a:r>
              <a:t>₹120 rather than ₹370, so a realistic cohort mix carries more margin than the</a:t>
            </a:r>
          </a:p>
          <a:p>
            <a:r>
              <a:t>worst case implies.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4" name="TextBox 23"/>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$1.28M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22.</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ACCESSIBILITY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Accessibility is the base, not a later feature.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 learner with a disability has used Dagar yet. We built to WCAG 2.1 AA anyway, because access designed in from the start costs almost nothing and access retrofitted costs a rebuild.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11057839" cy="1133856"/>
          </a:xfrm>
          <a:prstGeom prst="roundRect">
            <a:avLst>
              <a:gd name="adj" fmla="val 6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54864" cy="7680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48256"/>
            <a:ext cx="10417759" cy="877824"/>
          </a:xfrm>
          <a:prstGeom prst="rect">
            <a:avLst/>
          </a:prstGeom>
          <a:noFill/>
        </p:spPr>
        <p:txBody>
          <a:bodyPr wrap="square" lIns="0" rIns="0" tIns="0" bIns="0" anchor="t">
            <a:spAutoFit/>
          </a:bodyPr>
          <a:lstStyle/>
          <a:p>
            <a:pPr algn="l">
              <a:spcBef>
                <a:spcPts val="0"/>
              </a:spcBef>
              <a:spcAft>
                <a:spcPts val="500"/>
              </a:spcAft>
            </a:pPr>
            <a:r>
              <a:rPr sz="1500" b="1" i="0">
                <a:solidFill>
                  <a:srgbClr val="1A2733"/>
                </a:solidFill>
                <a:latin typeface="Arial"/>
              </a:rPr>
              <a:t>A wrong answer is amber. Red is only ever a system error.</a:t>
            </a:r>
          </a:p>
          <a:p>
            <a:pPr algn="l">
              <a:lnSpc>
                <a:spcPct val="128000"/>
              </a:lnSpc>
              <a:spcBef>
                <a:spcPts val="0"/>
              </a:spcBef>
              <a:spcAft>
                <a:spcPts val="0"/>
              </a:spcAft>
            </a:pPr>
            <a:r>
              <a:rPr sz="1050" b="0" i="0">
                <a:solidFill>
                  <a:srgbClr val="3F4A57"/>
                </a:solidFill>
                <a:latin typeface="Arial"/>
              </a:rPr>
              <a:t>The smallest decision in the product and the one teachers notice first. These learners have been told they are bad at maths for years, and red is the colour of that message. Amber says not yet, and it never appears without a next step beside it: a hint, a worked example, or an invitation to try again. A test fails the build if the two colours are ever confused.</a:t>
            </a:r>
          </a:p>
        </p:txBody>
      </p:sp>
      <p:sp>
        <p:nvSpPr>
          <p:cNvPr id="11" name="Rounded Rectangle 10"/>
          <p:cNvSpPr/>
          <p:nvPr/>
        </p:nvSpPr>
        <p:spPr>
          <a:xfrm>
            <a:off x="566928"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WCAG 2.1 AA everywhere, AAA for body text</a:t>
            </a:r>
          </a:p>
          <a:p>
            <a:pPr algn="l">
              <a:lnSpc>
                <a:spcPct val="122000"/>
              </a:lnSpc>
              <a:spcBef>
                <a:spcPts val="0"/>
              </a:spcBef>
              <a:spcAft>
                <a:spcPts val="0"/>
              </a:spcAft>
            </a:pPr>
            <a:r>
              <a:rPr sz="950" b="0" i="0">
                <a:solidFill>
                  <a:srgbClr val="3F4A57"/>
                </a:solidFill>
                <a:latin typeface="Arial"/>
              </a:rPr>
              <a:t>Every colour in the product is contrast-checked against that standard before it is used. These are cheap LCD screens read outdoors at low brightness to save battery, where grey on grey is not subtle, it is invisible.</a:t>
            </a:r>
          </a:p>
        </p:txBody>
      </p:sp>
      <p:sp>
        <p:nvSpPr>
          <p:cNvPr id="14" name="Rounded Rectangle 13"/>
          <p:cNvSpPr/>
          <p:nvPr/>
        </p:nvSpPr>
        <p:spPr>
          <a:xfrm>
            <a:off x="4319930"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9930"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962"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Every target is at least 44 pixels</a:t>
            </a:r>
          </a:p>
          <a:p>
            <a:pPr algn="l">
              <a:lnSpc>
                <a:spcPct val="122000"/>
              </a:lnSpc>
              <a:spcBef>
                <a:spcPts val="0"/>
              </a:spcBef>
              <a:spcAft>
                <a:spcPts val="0"/>
              </a:spcAft>
            </a:pPr>
            <a:r>
              <a:rPr sz="950" b="0" i="0">
                <a:solidFill>
                  <a:srgbClr val="3F4A57"/>
                </a:solidFill>
                <a:latin typeface="Arial"/>
              </a:rPr>
              <a:t>Including icon buttons. A thumb on a cracked screen is the input device, and a 30-pixel target is a tax on the learner who can least afford it.</a:t>
            </a:r>
          </a:p>
        </p:txBody>
      </p:sp>
      <p:sp>
        <p:nvSpPr>
          <p:cNvPr id="17" name="Rounded Rectangle 16"/>
          <p:cNvSpPr/>
          <p:nvPr/>
        </p:nvSpPr>
        <p:spPr>
          <a:xfrm>
            <a:off x="8072932"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8964"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Colour is never the only signal</a:t>
            </a:r>
          </a:p>
          <a:p>
            <a:pPr algn="l">
              <a:lnSpc>
                <a:spcPct val="122000"/>
              </a:lnSpc>
              <a:spcBef>
                <a:spcPts val="0"/>
              </a:spcBef>
              <a:spcAft>
                <a:spcPts val="0"/>
              </a:spcAft>
            </a:pPr>
            <a:r>
              <a:rPr sz="950" b="0" i="0">
                <a:solidFill>
                  <a:srgbClr val="3F4A57"/>
                </a:solidFill>
                <a:latin typeface="Arial"/>
              </a:rPr>
              <a:t>A filled day carries a tick, a rest day carries a dot, correct carries a check and not quite carries its own word. Nothing on any screen depends on telling two hues apart.</a:t>
            </a:r>
          </a:p>
        </p:txBody>
      </p:sp>
      <p:sp>
        <p:nvSpPr>
          <p:cNvPr id="20" name="Rounded Rectangle 19"/>
          <p:cNvSpPr/>
          <p:nvPr/>
        </p:nvSpPr>
        <p:spPr>
          <a:xfrm>
            <a:off x="566928"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Any step can be listened to</a:t>
            </a:r>
          </a:p>
          <a:p>
            <a:pPr algn="l">
              <a:lnSpc>
                <a:spcPct val="122000"/>
              </a:lnSpc>
              <a:spcBef>
                <a:spcPts val="0"/>
              </a:spcBef>
              <a:spcAft>
                <a:spcPts val="0"/>
              </a:spcAft>
            </a:pPr>
            <a:r>
              <a:rPr sz="950" b="0" i="0">
                <a:solidFill>
                  <a:srgbClr val="3F4A57"/>
                </a:solidFill>
                <a:latin typeface="Arial"/>
              </a:rPr>
              <a:t>In either language, chosen separately from the interface. Reading is a barrier for some learners even in their own language, and the browser's own voice costs nothing to serve.</a:t>
            </a:r>
          </a:p>
        </p:txBody>
      </p:sp>
      <p:sp>
        <p:nvSpPr>
          <p:cNvPr id="23" name="Rounded Rectangle 22"/>
          <p:cNvSpPr/>
          <p:nvPr/>
        </p:nvSpPr>
        <p:spPr>
          <a:xfrm>
            <a:off x="4319930"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19930"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5962"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Motion asks permission</a:t>
            </a:r>
          </a:p>
          <a:p>
            <a:pPr algn="l">
              <a:lnSpc>
                <a:spcPct val="122000"/>
              </a:lnSpc>
              <a:spcBef>
                <a:spcPts val="0"/>
              </a:spcBef>
              <a:spcAft>
                <a:spcPts val="0"/>
              </a:spcAft>
            </a:pPr>
            <a:r>
              <a:rPr sz="950" b="0" i="0">
                <a:solidFill>
                  <a:srgbClr val="3F4A57"/>
                </a:solidFill>
                <a:latin typeface="Arial"/>
              </a:rPr>
              <a:t>Every animation sits behind prefers-reduced-motion. Under it a celebration becomes a static badge rather than disappearing, because the learner should lose the movement, not the moment.</a:t>
            </a:r>
          </a:p>
        </p:txBody>
      </p:sp>
      <p:sp>
        <p:nvSpPr>
          <p:cNvPr id="26" name="Rounded Rectangle 25"/>
          <p:cNvSpPr/>
          <p:nvPr/>
        </p:nvSpPr>
        <p:spPr>
          <a:xfrm>
            <a:off x="8072932"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72932"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8964"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Keyboard reaches everything</a:t>
            </a:r>
          </a:p>
          <a:p>
            <a:pPr algn="l">
              <a:lnSpc>
                <a:spcPct val="122000"/>
              </a:lnSpc>
              <a:spcBef>
                <a:spcPts val="0"/>
              </a:spcBef>
              <a:spcAft>
                <a:spcPts val="0"/>
              </a:spcAft>
            </a:pPr>
            <a:r>
              <a:rPr sz="950" b="0" i="0">
                <a:solidFill>
                  <a:srgbClr val="3F4A57"/>
                </a:solidFill>
                <a:latin typeface="Arial"/>
              </a:rPr>
              <a:t>Semantic HTML, real landmarks, an accessible name on every control, and a visible focus ring. Text reflows at 200% zoom with no sideways scroll.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17 · HOW WE TESTED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Chosen by harm, not by coverage.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1,743 automated tests. The interesting part is which ones exist, and why one whole kind had to be invented after a learner found what the others missed.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17</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1,743</a:t>
            </a:r>
          </a:p>
          <a:p>
            <a:pPr algn="l">
              <a:lnSpc>
                <a:spcPct val="115000"/>
              </a:lnSpc>
              <a:spcBef>
                <a:spcPts val="0"/>
              </a:spcBef>
              <a:spcAft>
                <a:spcPts val="300"/>
              </a:spcAft>
            </a:pPr>
            <a:r>
              <a:rPr sz="1100" b="1" i="0">
                <a:solidFill>
                  <a:srgbClr val="1A2733"/>
                </a:solidFill>
                <a:latin typeface="Arial"/>
              </a:rPr>
              <a:t>automated tests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on grading alone</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attack the boundary</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a:t>
            </a:r>
          </a:p>
          <a:p>
            <a:pPr algn="l">
              <a:lnSpc>
                <a:spcPct val="115000"/>
              </a:lnSpc>
              <a:spcBef>
                <a:spcPts val="0"/>
              </a:spcBef>
              <a:spcAft>
                <a:spcPts val="300"/>
              </a:spcAft>
            </a:pPr>
            <a:r>
              <a:rPr sz="1100" b="1" i="0">
                <a:solidFill>
                  <a:srgbClr val="1A2733"/>
                </a:solidFill>
                <a:latin typeface="Arial"/>
              </a:rPr>
              <a:t>walk the journey</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1. Grading, before anything else</a:t>
            </a:r>
          </a:p>
          <a:p>
            <a:pPr algn="l">
              <a:lnSpc>
                <a:spcPct val="122000"/>
              </a:lnSpc>
              <a:spcBef>
                <a:spcPts val="0"/>
              </a:spcBef>
              <a:spcAft>
                <a:spcPts val="0"/>
              </a:spcAft>
            </a:pPr>
            <a:r>
              <a:rPr sz="950" b="0" i="0">
                <a:solidFill>
                  <a:srgbClr val="3F4A57"/>
                </a:solidFill>
                <a:latin typeface="Arial"/>
              </a:rPr>
              <a:t>A grading bug is silent. Nothing errors, nothing looks broken, and a learner who was right is told she was wrong and concludes she is bad at maths. 46 tests, including that 1/2, 2/4 and 0.5 all pass and that a sign error stays wrong.</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2. The learning engine</a:t>
            </a:r>
          </a:p>
          <a:p>
            <a:pPr algn="l">
              <a:lnSpc>
                <a:spcPct val="122000"/>
              </a:lnSpc>
              <a:spcBef>
                <a:spcPts val="0"/>
              </a:spcBef>
              <a:spcAft>
                <a:spcPts val="0"/>
              </a:spcAft>
            </a:pPr>
            <a:r>
              <a:rPr sz="950" b="0" i="0">
                <a:solidFill>
                  <a:srgbClr val="3F4A57"/>
                </a:solidFill>
                <a:latin typeface="Arial"/>
              </a:rPr>
              <a:t>Mastery at exactly 0.8, a streak surviving one forgiven day and breaking on two, the Asia/Kolkata boundary where 11:50pm and 12:10am are different days. Pure functions, so the edges are cheap to reach.</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3. Security, by attacking it</a:t>
            </a:r>
          </a:p>
          <a:p>
            <a:pPr algn="l">
              <a:lnSpc>
                <a:spcPct val="122000"/>
              </a:lnSpc>
              <a:spcBef>
                <a:spcPts val="0"/>
              </a:spcBef>
              <a:spcAft>
                <a:spcPts val="0"/>
              </a:spcAft>
            </a:pPr>
            <a:r>
              <a:rPr sz="950" b="0" i="0">
                <a:solidFill>
                  <a:srgbClr val="3F4A57"/>
                </a:solidFill>
                <a:latin typeface="Arial"/>
              </a:rPr>
              <a:t>19 tests where one learner tries to read another's attempts, profile and answers, and tries to write a row that is not hers. A policy nobody has attacked is a policy nobody has tested.</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One walk of the whole journey</a:t>
            </a:r>
          </a:p>
          <a:p>
            <a:pPr algn="l">
              <a:lnSpc>
                <a:spcPct val="122000"/>
              </a:lnSpc>
              <a:spcBef>
                <a:spcPts val="0"/>
              </a:spcBef>
              <a:spcAft>
                <a:spcPts val="0"/>
              </a:spcAft>
            </a:pPr>
            <a:r>
              <a:rPr sz="950" b="0" i="0">
                <a:solidFill>
                  <a:srgbClr val="3F4A57"/>
                </a:solidFill>
                <a:latin typeface="Arial"/>
              </a:rPr>
              <a:t>Sign up, lesson, practice, quiz, progress. It never asserts a correct answer, because answer keys are unreachable from a browser by design and a test that knew one would prove the opposite.</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a learner found four bugs the suite could not see.</a:t>
            </a:r>
          </a:p>
          <a:p>
            <a:pPr algn="l">
              <a:lnSpc>
                <a:spcPct val="126000"/>
              </a:lnSpc>
              <a:spcBef>
                <a:spcPts val="0"/>
              </a:spcBef>
              <a:spcAft>
                <a:spcPts val="0"/>
              </a:spcAft>
            </a:pPr>
            <a:r>
              <a:rPr sz="1050" b="0" i="0">
                <a:solidFill>
                  <a:srgbClr val="3F4A57"/>
                </a:solidFill>
                <a:latin typeface="Arial"/>
              </a:rPr>
              <a:t>A lesson that opened blank on revisit. A concept marked keep practising with no way to practise it. Two days on the week strip above a one day streak. Every one passed a full green suite, because every test asserted a FLOW and every bug was a relationship between two numbers on one screen. So we wrote the missing kind: feed one activity log to every element, then assert the elements agree. The strip, the count, the streak and the diary now have to tell the same story, and a script checks the same thing against the live database.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18 · HOW WE TESTED THE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one part no unit test can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Grading is arithmetic and a streak is a fold over dates. The tutor is the differentiating claim, and it was the last thing in the product still being taken on trust.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18</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50</a:t>
            </a:r>
          </a:p>
          <a:p>
            <a:pPr algn="l">
              <a:lnSpc>
                <a:spcPct val="115000"/>
              </a:lnSpc>
              <a:spcBef>
                <a:spcPts val="0"/>
              </a:spcBef>
              <a:spcAft>
                <a:spcPts val="300"/>
              </a:spcAft>
            </a:pPr>
            <a:r>
              <a:rPr sz="1100" b="1" i="0">
                <a:solidFill>
                  <a:srgbClr val="1A2733"/>
                </a:solidFill>
                <a:latin typeface="Arial"/>
              </a:rPr>
              <a:t>golden cases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22</a:t>
            </a:r>
          </a:p>
          <a:p>
            <a:pPr algn="l">
              <a:lnSpc>
                <a:spcPct val="115000"/>
              </a:lnSpc>
              <a:spcBef>
                <a:spcPts val="0"/>
              </a:spcBef>
              <a:spcAft>
                <a:spcPts val="300"/>
              </a:spcAft>
            </a:pPr>
            <a:r>
              <a:rPr sz="1100" b="1" i="0">
                <a:solidFill>
                  <a:srgbClr val="1A2733"/>
                </a:solidFill>
                <a:latin typeface="Arial"/>
              </a:rPr>
              <a:t>verbatim from learners</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a:t>
            </a:r>
          </a:p>
          <a:p>
            <a:pPr algn="l">
              <a:lnSpc>
                <a:spcPct val="115000"/>
              </a:lnSpc>
              <a:spcBef>
                <a:spcPts val="0"/>
              </a:spcBef>
              <a:spcAft>
                <a:spcPts val="300"/>
              </a:spcAft>
            </a:pPr>
            <a:r>
              <a:rPr sz="1100" b="1" i="0">
                <a:solidFill>
                  <a:srgbClr val="1A2733"/>
                </a:solidFill>
                <a:latin typeface="Arial"/>
              </a:rPr>
              <a:t>runs, majority wins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95s</a:t>
            </a:r>
          </a:p>
          <a:p>
            <a:pPr algn="l">
              <a:lnSpc>
                <a:spcPct val="115000"/>
              </a:lnSpc>
              <a:spcBef>
                <a:spcPts val="0"/>
              </a:spcBef>
              <a:spcAft>
                <a:spcPts val="300"/>
              </a:spcAft>
            </a:pPr>
            <a:r>
              <a:rPr sz="1100" b="1" i="0">
                <a:solidFill>
                  <a:srgbClr val="1A2733"/>
                </a:solidFill>
                <a:latin typeface="Arial"/>
              </a:rPr>
              <a:t>for the whole set</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Learners wrote the test set</a:t>
            </a:r>
          </a:p>
          <a:p>
            <a:pPr algn="l">
              <a:lnSpc>
                <a:spcPct val="122000"/>
              </a:lnSpc>
              <a:spcBef>
                <a:spcPts val="0"/>
              </a:spcBef>
              <a:spcAft>
                <a:spcPts val="0"/>
              </a:spcAft>
            </a:pPr>
            <a:r>
              <a:rPr sz="950" b="0" i="0">
                <a:solidFill>
                  <a:srgbClr val="3F4A57"/>
                </a:solidFill>
                <a:latin typeface="Arial"/>
              </a:rPr>
              <a:t>22 of the 50 cases are messages real learners aged 11 to 14 typed into the live tutor, verbatim, typos and all. The other 28 fill gaps those exposed. An imagined set would have been full of questions nobody actually asks.</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Seven criteria, five that never bend</a:t>
            </a:r>
          </a:p>
          <a:p>
            <a:pPr algn="l">
              <a:lnSpc>
                <a:spcPct val="122000"/>
              </a:lnSpc>
              <a:spcBef>
                <a:spcPts val="0"/>
              </a:spcBef>
              <a:spcAft>
                <a:spcPts val="0"/>
              </a:spcAft>
            </a:pPr>
            <a:r>
              <a:rPr sz="950" b="0" i="0">
                <a:solidFill>
                  <a:srgbClr val="3F4A57"/>
                </a:solidFill>
                <a:latin typeface="Arial"/>
              </a:rPr>
              <a:t>Grounded in the lesson. Hints before answers. Never grades, because grading is code. Replies in the learner's language, not the interface's. Safe for a child. A reply that fails one of those fails, however well it reads.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Three runs, majority verdict</a:t>
            </a:r>
          </a:p>
          <a:p>
            <a:pPr algn="l">
              <a:lnSpc>
                <a:spcPct val="122000"/>
              </a:lnSpc>
              <a:spcBef>
                <a:spcPts val="0"/>
              </a:spcBef>
              <a:spcAft>
                <a:spcPts val="0"/>
              </a:spcAft>
            </a:pPr>
            <a:r>
              <a:rPr sz="950" b="0" i="0">
                <a:solidFill>
                  <a:srgbClr val="3F4A57"/>
                </a:solidFill>
                <a:latin typeface="Arial"/>
              </a:rPr>
              <a:t>Both the tutor and the judge are models, so one pass is a sample and not a measurement. The judge is pinned at temperature zero, so when three runs disagree it means the TUTOR answered differently, which is the thing worth knowing.</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Where it stands: 36 of 50</a:t>
            </a:r>
          </a:p>
          <a:p>
            <a:pPr algn="l">
              <a:lnSpc>
                <a:spcPct val="122000"/>
              </a:lnSpc>
              <a:spcBef>
                <a:spcPts val="0"/>
              </a:spcBef>
              <a:spcAft>
                <a:spcPts val="0"/>
              </a:spcAft>
            </a:pPr>
            <a:r>
              <a:rPr sz="950" b="0" i="0">
                <a:solidFill>
                  <a:srgbClr val="3F4A57"/>
                </a:solidFill>
                <a:latin typeface="Arial"/>
              </a:rPr>
              <a:t>Regression holds at 3 of 3 and the wellbeing cases at 2 of 2. Real learner traffic scores 18 of 21. The overall figure is below the 90% we set, and the weakest source is the cases we invented rather than collected.</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the real messages told us something we had not asked.</a:t>
            </a:r>
          </a:p>
          <a:p>
            <a:pPr algn="l">
              <a:lnSpc>
                <a:spcPct val="126000"/>
              </a:lnSpc>
              <a:spcBef>
                <a:spcPts val="0"/>
              </a:spcBef>
              <a:spcAft>
                <a:spcPts val="0"/>
              </a:spcAft>
            </a:pPr>
            <a:r>
              <a:rPr sz="1050" b="0" i="0">
                <a:solidFill>
                  <a:srgbClr val="3F4A57"/>
                </a:solidFill>
                <a:latin typeface="Arial"/>
              </a:rPr>
              <a:t>Of the first 25 questions learners sent the tutor, 9 were not about mathematics at all. They were about the screen: where do I type the answer, I cannot see the options. Five more were "don't know" with nothing to go on, four were "yes" or "0k", and three were an actual conceptual question. Over a third of our AI traffic is a learner lost in the interface, and the first run of the set failed three of the four cases covering it. That is a design finding we would never have reached by imagining what a learner might ask.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19 · TRADE-OFFS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gaps were choices.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things you might expect to find and will not, and the reason each one was left out.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19</a:t>
            </a:r>
          </a:p>
        </p:txBody>
      </p:sp>
      <p:sp>
        <p:nvSpPr>
          <p:cNvPr id="8" name="Rounded Rectangle 7"/>
          <p:cNvSpPr/>
          <p:nvPr/>
        </p:nvSpPr>
        <p:spPr>
          <a:xfrm>
            <a:off x="566928"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leaderboard ranking children against each other</a:t>
            </a:r>
          </a:p>
          <a:p>
            <a:pPr algn="l">
              <a:lnSpc>
                <a:spcPct val="122000"/>
              </a:lnSpc>
              <a:spcBef>
                <a:spcPts val="0"/>
              </a:spcBef>
              <a:spcAft>
                <a:spcPts val="0"/>
              </a:spcAft>
            </a:pPr>
            <a:r>
              <a:rPr sz="950" b="0" i="0">
                <a:solidFill>
                  <a:srgbClr val="3F4A57"/>
                </a:solidFill>
                <a:latin typeface="Arial"/>
              </a:rPr>
              <a:t>Many learning apps show a public table of who is ahead, and take away a life when an answer is wrong. Both land hardest on the child who is already behind. Dagar has streaks and badges, which reward turning up, and nothing that compares one learner to another.</a:t>
            </a:r>
          </a:p>
        </p:txBody>
      </p:sp>
      <p:sp>
        <p:nvSpPr>
          <p:cNvPr id="11" name="Rounded Rectangle 10"/>
          <p:cNvSpPr/>
          <p:nvPr/>
        </p:nvSpPr>
        <p:spPr>
          <a:xfrm>
            <a:off x="6233007"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9039"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real teacher yet behind the offer of human help</a:t>
            </a:r>
          </a:p>
          <a:p>
            <a:pPr algn="l">
              <a:lnSpc>
                <a:spcPct val="122000"/>
              </a:lnSpc>
              <a:spcBef>
                <a:spcPts val="0"/>
              </a:spcBef>
              <a:spcAft>
                <a:spcPts val="0"/>
              </a:spcAft>
            </a:pPr>
            <a:r>
              <a:rPr sz="950" b="0" i="0">
                <a:solidFill>
                  <a:srgbClr val="3F4A57"/>
                </a:solidFill>
                <a:latin typeface="Arial"/>
              </a:rPr>
              <a:t>When a learner keeps getting stuck, Dagar offers to connect them with a person. Today that request is recorded and nobody is employed to answer it. 34 offers made, 1 accepted so far. That number is what we wanted before paying anyone to be on call.</a:t>
            </a:r>
          </a:p>
        </p:txBody>
      </p:sp>
      <p:sp>
        <p:nvSpPr>
          <p:cNvPr id="14" name="Rounded Rectangle 13"/>
          <p:cNvSpPr/>
          <p:nvPr/>
        </p:nvSpPr>
        <p:spPr>
          <a:xfrm>
            <a:off x="566928"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weekly progress report sent to a parent on WhatsApp</a:t>
            </a:r>
          </a:p>
          <a:p>
            <a:pPr algn="l">
              <a:lnSpc>
                <a:spcPct val="122000"/>
              </a:lnSpc>
              <a:spcBef>
                <a:spcPts val="0"/>
              </a:spcBef>
              <a:spcAft>
                <a:spcPts val="0"/>
              </a:spcAft>
            </a:pPr>
            <a:r>
              <a:rPr sz="950" b="0" i="0">
                <a:solidFill>
                  <a:srgbClr val="3F4A57"/>
                </a:solidFill>
                <a:latin typeface="Arial"/>
              </a:rPr>
              <a:t>Parents are not left out: they open a private link any time and see the last seven days, with no account, no app and no password. What is missing is Dagar sending it to them unprompted, which needs Meta business approval and an opt-in from the parent's own phone.</a:t>
            </a:r>
          </a:p>
        </p:txBody>
      </p:sp>
      <p:sp>
        <p:nvSpPr>
          <p:cNvPr id="17" name="Rounded Rectangle 16"/>
          <p:cNvSpPr/>
          <p:nvPr/>
        </p:nvSpPr>
        <p:spPr>
          <a:xfrm>
            <a:off x="6233007"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3007"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9039"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lessons that keep working without internet</a:t>
            </a:r>
          </a:p>
          <a:p>
            <a:pPr algn="l">
              <a:lnSpc>
                <a:spcPct val="122000"/>
              </a:lnSpc>
              <a:spcBef>
                <a:spcPts val="0"/>
              </a:spcBef>
              <a:spcAft>
                <a:spcPts val="0"/>
              </a:spcAft>
            </a:pPr>
            <a:r>
              <a:rPr sz="950" b="0" i="0">
                <a:solidFill>
                  <a:srgbClr val="3F4A57"/>
                </a:solidFill>
                <a:latin typeface="Arial"/>
              </a:rPr>
              <a:t>Nothing is saved to the phone for use offline. It matters for these learners and it is on the roadmap. We did not want to guess which lessons to store before we could see which ones learners actually come back to.</a:t>
            </a:r>
          </a:p>
        </p:txBody>
      </p:sp>
      <p:sp>
        <p:nvSpPr>
          <p:cNvPr id="20" name="Rounded Rectangle 19"/>
          <p:cNvSpPr/>
          <p:nvPr/>
        </p:nvSpPr>
        <p:spPr>
          <a:xfrm>
            <a:off x="566928" y="5120640"/>
            <a:ext cx="11057839" cy="107899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03520"/>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266944"/>
            <a:ext cx="10417759" cy="82296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Three of these are the same decision.</a:t>
            </a:r>
          </a:p>
          <a:p>
            <a:pPr algn="l">
              <a:lnSpc>
                <a:spcPct val="126000"/>
              </a:lnSpc>
              <a:spcBef>
                <a:spcPts val="0"/>
              </a:spcBef>
              <a:spcAft>
                <a:spcPts val="0"/>
              </a:spcAft>
            </a:pPr>
            <a:r>
              <a:rPr sz="1050" b="0" i="0">
                <a:solidFill>
                  <a:srgbClr val="3F4A57"/>
                </a:solidFill>
                <a:latin typeface="Arial"/>
              </a:rPr>
              <a:t>Do not build the expensive version until the cheap one has told you whether anyone wants it. We are counting how many learners ask for a human before we pay anyone to be one. Parents already have a link that works, so the WhatsApp message can wait for approval. Nothing is stored offline until we know what is worth storing. The fourth is not a wait-and-see: no leaderboard is a decision about what this product is for, and it is not for trading.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20 · WHAT REAL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Thirty learners used it. Fifteen told us what they think.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below came from a signed-in account that had used Dagar. Nobody here is reacting to a demo.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20</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signed up</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a:t>
            </a:r>
          </a:p>
          <a:p>
            <a:pPr algn="l">
              <a:lnSpc>
                <a:spcPct val="115000"/>
              </a:lnSpc>
              <a:spcBef>
                <a:spcPts val="0"/>
              </a:spcBef>
              <a:spcAft>
                <a:spcPts val="300"/>
              </a:spcAft>
            </a:pPr>
            <a:r>
              <a:rPr sz="1100" b="1" i="0">
                <a:solidFill>
                  <a:srgbClr val="1A2733"/>
                </a:solidFill>
                <a:latin typeface="Arial"/>
              </a:rPr>
              <a:t>finished a lesson</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a:t>
            </a:r>
          </a:p>
          <a:p>
            <a:pPr algn="l">
              <a:lnSpc>
                <a:spcPct val="115000"/>
              </a:lnSpc>
              <a:spcBef>
                <a:spcPts val="0"/>
              </a:spcBef>
              <a:spcAft>
                <a:spcPts val="300"/>
              </a:spcAft>
            </a:pPr>
            <a:r>
              <a:rPr sz="1100" b="1" i="0">
                <a:solidFill>
                  <a:srgbClr val="1A2733"/>
                </a:solidFill>
                <a:latin typeface="Arial"/>
              </a:rPr>
              <a:t>left feedback</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14 of 15</a:t>
            </a:r>
          </a:p>
          <a:p>
            <a:pPr algn="l">
              <a:lnSpc>
                <a:spcPct val="115000"/>
              </a:lnSpc>
              <a:spcBef>
                <a:spcPts val="0"/>
              </a:spcBef>
              <a:spcAft>
                <a:spcPts val="300"/>
              </a:spcAft>
            </a:pPr>
            <a:r>
              <a:rPr sz="1100" b="1" i="0">
                <a:solidFill>
                  <a:srgbClr val="1A2733"/>
                </a:solidFill>
                <a:latin typeface="Arial"/>
              </a:rPr>
              <a:t>would use it again</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the adaptivity</a:t>
            </a:r>
          </a:p>
          <a:p>
            <a:pPr algn="l">
              <a:lnSpc>
                <a:spcPct val="122000"/>
              </a:lnSpc>
              <a:spcBef>
                <a:spcPts val="0"/>
              </a:spcBef>
              <a:spcAft>
                <a:spcPts val="0"/>
              </a:spcAft>
            </a:pPr>
            <a:r>
              <a:rPr sz="950" b="0" i="0">
                <a:solidFill>
                  <a:srgbClr val="3F4A57"/>
                </a:solidFill>
                <a:latin typeface="Arial"/>
              </a:rPr>
              <a:t>“It adapts to students level and make practice feel like a game instead of homework.”  Two of the fifteen teach mathematics, and were asked because they do.</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on the content design</a:t>
            </a:r>
          </a:p>
          <a:p>
            <a:pPr algn="l">
              <a:lnSpc>
                <a:spcPct val="122000"/>
              </a:lnSpc>
              <a:spcBef>
                <a:spcPts val="0"/>
              </a:spcBef>
              <a:spcAft>
                <a:spcPts val="0"/>
              </a:spcAft>
            </a:pPr>
            <a:r>
              <a:rPr sz="950" b="0" i="0">
                <a:solidFill>
                  <a:srgbClr val="3F4A57"/>
                </a:solidFill>
                <a:latin typeface="Arial"/>
              </a:rPr>
              <a:t>“The way it explained fraction with rotis made them easy to understand.”  Fractions was the chapter written most deliberately concrete first. The comment is about the lesson we most wanted it to be about.</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what is still wrong</a:t>
            </a:r>
          </a:p>
          <a:p>
            <a:pPr algn="l">
              <a:lnSpc>
                <a:spcPct val="122000"/>
              </a:lnSpc>
              <a:spcBef>
                <a:spcPts val="0"/>
              </a:spcBef>
              <a:spcAft>
                <a:spcPts val="0"/>
              </a:spcAft>
            </a:pPr>
            <a:r>
              <a:rPr sz="950" b="0" i="0">
                <a:solidFill>
                  <a:srgbClr val="3F4A57"/>
                </a:solidFill>
                <a:latin typeface="Arial"/>
              </a:rPr>
              <a:t>“Language as it is quite difficult to understand english language for class 6 grade kids especially in hindi dominance area.”  Hindi shipped in the MVP for this reason, and one teacher still says it is not enough.</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asking for what we built</a:t>
            </a:r>
          </a:p>
          <a:p>
            <a:pPr algn="l">
              <a:lnSpc>
                <a:spcPct val="122000"/>
              </a:lnSpc>
              <a:spcBef>
                <a:spcPts val="0"/>
              </a:spcBef>
              <a:spcAft>
                <a:spcPts val="0"/>
              </a:spcAft>
            </a:pPr>
            <a:r>
              <a:rPr sz="950" b="0" i="0">
                <a:solidFill>
                  <a:srgbClr val="3F4A57"/>
                </a:solidFill>
                <a:latin typeface="Arial"/>
              </a:rPr>
              <a:t>“Their could be an ai tutor which would explain ur problems in the notes if you ask it.”  There is an AI tutor on every lesson screen. They named the quiz as what worked, so they were using it.</a:t>
            </a:r>
          </a:p>
        </p:txBody>
      </p:sp>
      <p:sp>
        <p:nvSpPr>
          <p:cNvPr id="28" name="Rounded Rectangle 27"/>
          <p:cNvSpPr/>
          <p:nvPr/>
        </p:nvSpPr>
        <p:spPr>
          <a:xfrm>
            <a:off x="566928" y="4626864"/>
            <a:ext cx="11057839" cy="133502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109728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Fifteen responses is not a market study, and the last quote is worth more than the other fourteen.</a:t>
            </a:r>
          </a:p>
          <a:p>
            <a:pPr algn="l">
              <a:lnSpc>
                <a:spcPct val="126000"/>
              </a:lnSpc>
              <a:spcBef>
                <a:spcPts val="0"/>
              </a:spcBef>
              <a:spcAft>
                <a:spcPts val="0"/>
              </a:spcAft>
            </a:pPr>
            <a:r>
              <a:rPr sz="1050" b="0" i="0">
                <a:solidFill>
                  <a:srgbClr val="3F4A57"/>
                </a:solidFill>
                <a:latin typeface="Arial"/>
              </a:rPr>
              <a:t>Mostly one class, reached through a family connection, so the learners most likely to answer are the ones most likely to be kind. The two mathematics teachers are the opposite case: they were asked because they teach this syllabus to this age group, and one used the space to tell us the English is too hard for Class 6 in a Hindi-dominant area. What survives the discount: 15 of 15 said it helped them understand something, 14 of 15 would come back, a learner asked us to build the feature we already ship, and only 11 of 30 active learners have ever opened the tutor.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21 ·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Depth before breadth.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Impact, Confidence and Ease, each out of 10 and averaged, on what learners tell us and on what we watch them do. Reach is left out: every item reaches the same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21</a:t>
            </a:r>
          </a:p>
        </p:txBody>
      </p:sp>
      <p:sp>
        <p:nvSpPr>
          <p:cNvPr id="8" name="TextBox 7"/>
          <p:cNvSpPr txBox="1"/>
          <p:nvPr/>
        </p:nvSpPr>
        <p:spPr>
          <a:xfrm>
            <a:off x="621792" y="1847088"/>
            <a:ext cx="36576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RANK</a:t>
            </a:r>
          </a:p>
        </p:txBody>
      </p:sp>
      <p:sp>
        <p:nvSpPr>
          <p:cNvPr id="9" name="TextBox 8"/>
          <p:cNvSpPr txBox="1"/>
          <p:nvPr/>
        </p:nvSpPr>
        <p:spPr>
          <a:xfrm>
            <a:off x="1133856" y="1847088"/>
            <a:ext cx="548640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WHAT WE DO NEXT</a:t>
            </a:r>
          </a:p>
        </p:txBody>
      </p:sp>
      <p:sp>
        <p:nvSpPr>
          <p:cNvPr id="10" name="TextBox 9"/>
          <p:cNvSpPr txBox="1"/>
          <p:nvPr/>
        </p:nvSpPr>
        <p:spPr>
          <a:xfrm>
            <a:off x="788212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a:t>
            </a:r>
          </a:p>
        </p:txBody>
      </p:sp>
      <p:sp>
        <p:nvSpPr>
          <p:cNvPr id="11" name="TextBox 10"/>
          <p:cNvSpPr txBox="1"/>
          <p:nvPr/>
        </p:nvSpPr>
        <p:spPr>
          <a:xfrm>
            <a:off x="852220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C</a:t>
            </a:r>
          </a:p>
        </p:txBody>
      </p:sp>
      <p:sp>
        <p:nvSpPr>
          <p:cNvPr id="12" name="TextBox 11"/>
          <p:cNvSpPr txBox="1"/>
          <p:nvPr/>
        </p:nvSpPr>
        <p:spPr>
          <a:xfrm>
            <a:off x="9162288"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E</a:t>
            </a:r>
          </a:p>
        </p:txBody>
      </p:sp>
      <p:sp>
        <p:nvSpPr>
          <p:cNvPr id="13" name="TextBox 12"/>
          <p:cNvSpPr txBox="1"/>
          <p:nvPr/>
        </p:nvSpPr>
        <p:spPr>
          <a:xfrm>
            <a:off x="9893807" y="1847088"/>
            <a:ext cx="82296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ICE</a:t>
            </a:r>
          </a:p>
        </p:txBody>
      </p:sp>
      <p:sp>
        <p:nvSpPr>
          <p:cNvPr id="14" name="Rectangle 13"/>
          <p:cNvSpPr/>
          <p:nvPr/>
        </p:nvSpPr>
        <p:spPr>
          <a:xfrm>
            <a:off x="475488" y="2011680"/>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2011680"/>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204825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1</a:t>
            </a:r>
          </a:p>
        </p:txBody>
      </p:sp>
      <p:sp>
        <p:nvSpPr>
          <p:cNvPr id="17" name="TextBox 16"/>
          <p:cNvSpPr txBox="1"/>
          <p:nvPr/>
        </p:nvSpPr>
        <p:spPr>
          <a:xfrm>
            <a:off x="1133856" y="2020824"/>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chapters across Classes 6 to 8</a:t>
            </a:r>
          </a:p>
        </p:txBody>
      </p:sp>
      <p:sp>
        <p:nvSpPr>
          <p:cNvPr id="18" name="TextBox 17"/>
          <p:cNvSpPr txBox="1"/>
          <p:nvPr/>
        </p:nvSpPr>
        <p:spPr>
          <a:xfrm>
            <a:off x="1133856" y="2194560"/>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loudest request, 7 of 15 in a forced choice. One chapter per grade is a ceiling: finish it and there is nothing to return to</a:t>
            </a:r>
          </a:p>
        </p:txBody>
      </p:sp>
      <p:sp>
        <p:nvSpPr>
          <p:cNvPr id="19" name="TextBox 18"/>
          <p:cNvSpPr txBox="1"/>
          <p:nvPr/>
        </p:nvSpPr>
        <p:spPr>
          <a:xfrm>
            <a:off x="788212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0" name="TextBox 19"/>
          <p:cNvSpPr txBox="1"/>
          <p:nvPr/>
        </p:nvSpPr>
        <p:spPr>
          <a:xfrm>
            <a:off x="852220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1" name="TextBox 20"/>
          <p:cNvSpPr txBox="1"/>
          <p:nvPr/>
        </p:nvSpPr>
        <p:spPr>
          <a:xfrm>
            <a:off x="9162288"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22" name="TextBox 21"/>
          <p:cNvSpPr txBox="1"/>
          <p:nvPr/>
        </p:nvSpPr>
        <p:spPr>
          <a:xfrm>
            <a:off x="9893807" y="2029968"/>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9.0</a:t>
            </a:r>
          </a:p>
        </p:txBody>
      </p:sp>
      <p:sp>
        <p:nvSpPr>
          <p:cNvPr id="23" name="TextBox 22"/>
          <p:cNvSpPr txBox="1"/>
          <p:nvPr/>
        </p:nvSpPr>
        <p:spPr>
          <a:xfrm>
            <a:off x="10762487" y="2084832"/>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24" name="Rectangle 23"/>
          <p:cNvSpPr/>
          <p:nvPr/>
        </p:nvSpPr>
        <p:spPr>
          <a:xfrm>
            <a:off x="475488" y="2441448"/>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 y="247802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2</a:t>
            </a:r>
          </a:p>
        </p:txBody>
      </p:sp>
      <p:sp>
        <p:nvSpPr>
          <p:cNvPr id="26" name="TextBox 25"/>
          <p:cNvSpPr txBox="1"/>
          <p:nvPr/>
        </p:nvSpPr>
        <p:spPr>
          <a:xfrm>
            <a:off x="1133856" y="245059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practice questions, and a wider quiz pool</a:t>
            </a:r>
          </a:p>
        </p:txBody>
      </p:sp>
      <p:sp>
        <p:nvSpPr>
          <p:cNvPr id="27" name="TextBox 26"/>
          <p:cNvSpPr txBox="1"/>
          <p:nvPr/>
        </p:nvSpPr>
        <p:spPr>
          <a:xfrm>
            <a:off x="1133856" y="262432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Second loudest ask, 6 of 15. A chapter quiz is 8 questions and a retake is the same 8, so there is nothing new to come back for</a:t>
            </a:r>
          </a:p>
        </p:txBody>
      </p:sp>
      <p:sp>
        <p:nvSpPr>
          <p:cNvPr id="28" name="TextBox 27"/>
          <p:cNvSpPr txBox="1"/>
          <p:nvPr/>
        </p:nvSpPr>
        <p:spPr>
          <a:xfrm>
            <a:off x="788212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29" name="TextBox 28"/>
          <p:cNvSpPr txBox="1"/>
          <p:nvPr/>
        </p:nvSpPr>
        <p:spPr>
          <a:xfrm>
            <a:off x="852220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0" name="TextBox 29"/>
          <p:cNvSpPr txBox="1"/>
          <p:nvPr/>
        </p:nvSpPr>
        <p:spPr>
          <a:xfrm>
            <a:off x="9162288"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31" name="TextBox 30"/>
          <p:cNvSpPr txBox="1"/>
          <p:nvPr/>
        </p:nvSpPr>
        <p:spPr>
          <a:xfrm>
            <a:off x="9893807" y="245973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8.7</a:t>
            </a:r>
          </a:p>
        </p:txBody>
      </p:sp>
      <p:sp>
        <p:nvSpPr>
          <p:cNvPr id="32" name="TextBox 31"/>
          <p:cNvSpPr txBox="1"/>
          <p:nvPr/>
        </p:nvSpPr>
        <p:spPr>
          <a:xfrm>
            <a:off x="10762487" y="251460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33" name="Rectangle 32"/>
          <p:cNvSpPr/>
          <p:nvPr/>
        </p:nvSpPr>
        <p:spPr>
          <a:xfrm>
            <a:off x="475488" y="2871216"/>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5488" y="2871216"/>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1792" y="290779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3</a:t>
            </a:r>
          </a:p>
        </p:txBody>
      </p:sp>
      <p:sp>
        <p:nvSpPr>
          <p:cNvPr id="36" name="TextBox 35"/>
          <p:cNvSpPr txBox="1"/>
          <p:nvPr/>
        </p:nvSpPr>
        <p:spPr>
          <a:xfrm>
            <a:off x="1133856" y="288036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Make the answer box and the tutor impossible to miss</a:t>
            </a:r>
          </a:p>
        </p:txBody>
      </p:sp>
      <p:sp>
        <p:nvSpPr>
          <p:cNvPr id="37" name="TextBox 36"/>
          <p:cNvSpPr txBox="1"/>
          <p:nvPr/>
        </p:nvSpPr>
        <p:spPr>
          <a:xfrm>
            <a:off x="1133856" y="305409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9 of 25 tutor messages are about the screen. 11 of 30 have ever opened the tutor, against a 50% target</a:t>
            </a:r>
          </a:p>
        </p:txBody>
      </p:sp>
      <p:sp>
        <p:nvSpPr>
          <p:cNvPr id="38" name="TextBox 37"/>
          <p:cNvSpPr txBox="1"/>
          <p:nvPr/>
        </p:nvSpPr>
        <p:spPr>
          <a:xfrm>
            <a:off x="788212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9" name="TextBox 38"/>
          <p:cNvSpPr txBox="1"/>
          <p:nvPr/>
        </p:nvSpPr>
        <p:spPr>
          <a:xfrm>
            <a:off x="852220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0" name="TextBox 39"/>
          <p:cNvSpPr txBox="1"/>
          <p:nvPr/>
        </p:nvSpPr>
        <p:spPr>
          <a:xfrm>
            <a:off x="9162288"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1" name="TextBox 40"/>
          <p:cNvSpPr txBox="1"/>
          <p:nvPr/>
        </p:nvSpPr>
        <p:spPr>
          <a:xfrm>
            <a:off x="9893807" y="288950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8.3</a:t>
            </a:r>
          </a:p>
        </p:txBody>
      </p:sp>
      <p:sp>
        <p:nvSpPr>
          <p:cNvPr id="42" name="TextBox 41"/>
          <p:cNvSpPr txBox="1"/>
          <p:nvPr/>
        </p:nvSpPr>
        <p:spPr>
          <a:xfrm>
            <a:off x="10762487" y="294436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43" name="Rectangle 42"/>
          <p:cNvSpPr/>
          <p:nvPr/>
        </p:nvSpPr>
        <p:spPr>
          <a:xfrm>
            <a:off x="475488" y="3300984"/>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1792" y="333756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4</a:t>
            </a:r>
          </a:p>
        </p:txBody>
      </p:sp>
      <p:sp>
        <p:nvSpPr>
          <p:cNvPr id="45" name="TextBox 44"/>
          <p:cNvSpPr txBox="1"/>
          <p:nvPr/>
        </p:nvSpPr>
        <p:spPr>
          <a:xfrm>
            <a:off x="1133856" y="331012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Default to Hindi where the school is Hindi-medium</a:t>
            </a:r>
          </a:p>
        </p:txBody>
      </p:sp>
      <p:sp>
        <p:nvSpPr>
          <p:cNvPr id="46" name="TextBox 45"/>
          <p:cNvSpPr txBox="1"/>
          <p:nvPr/>
        </p:nvSpPr>
        <p:spPr>
          <a:xfrm>
            <a:off x="1133856" y="3483864"/>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 mathematics teacher: the English is too hard for Class 6 in a Hindi-dominant area</a:t>
            </a:r>
          </a:p>
        </p:txBody>
      </p:sp>
      <p:sp>
        <p:nvSpPr>
          <p:cNvPr id="47" name="TextBox 46"/>
          <p:cNvSpPr txBox="1"/>
          <p:nvPr/>
        </p:nvSpPr>
        <p:spPr>
          <a:xfrm>
            <a:off x="788212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8" name="TextBox 47"/>
          <p:cNvSpPr txBox="1"/>
          <p:nvPr/>
        </p:nvSpPr>
        <p:spPr>
          <a:xfrm>
            <a:off x="852220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49" name="TextBox 48"/>
          <p:cNvSpPr txBox="1"/>
          <p:nvPr/>
        </p:nvSpPr>
        <p:spPr>
          <a:xfrm>
            <a:off x="9162288"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50" name="TextBox 49"/>
          <p:cNvSpPr txBox="1"/>
          <p:nvPr/>
        </p:nvSpPr>
        <p:spPr>
          <a:xfrm>
            <a:off x="9893807" y="331927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8.0</a:t>
            </a:r>
          </a:p>
        </p:txBody>
      </p:sp>
      <p:sp>
        <p:nvSpPr>
          <p:cNvPr id="51" name="TextBox 50"/>
          <p:cNvSpPr txBox="1"/>
          <p:nvPr/>
        </p:nvSpPr>
        <p:spPr>
          <a:xfrm>
            <a:off x="10762487" y="3374136"/>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52" name="Rectangle 51"/>
          <p:cNvSpPr/>
          <p:nvPr/>
        </p:nvSpPr>
        <p:spPr>
          <a:xfrm>
            <a:off x="475488" y="3730752"/>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5488" y="3730752"/>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1792" y="3767328"/>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5</a:t>
            </a:r>
          </a:p>
        </p:txBody>
      </p:sp>
      <p:sp>
        <p:nvSpPr>
          <p:cNvPr id="55" name="TextBox 54"/>
          <p:cNvSpPr txBox="1"/>
          <p:nvPr/>
        </p:nvSpPr>
        <p:spPr>
          <a:xfrm>
            <a:off x="1133856" y="3739896"/>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Practice aimed at the mistake a learner keeps making</a:t>
            </a:r>
          </a:p>
        </p:txBody>
      </p:sp>
      <p:sp>
        <p:nvSpPr>
          <p:cNvPr id="56" name="TextBox 55"/>
          <p:cNvSpPr txBox="1"/>
          <p:nvPr/>
        </p:nvSpPr>
        <p:spPr>
          <a:xfrm>
            <a:off x="1133856" y="3913632"/>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Asked for by a learner in their own words. The mastery data to target it already exists</a:t>
            </a:r>
          </a:p>
        </p:txBody>
      </p:sp>
      <p:sp>
        <p:nvSpPr>
          <p:cNvPr id="57" name="TextBox 56"/>
          <p:cNvSpPr txBox="1"/>
          <p:nvPr/>
        </p:nvSpPr>
        <p:spPr>
          <a:xfrm>
            <a:off x="788212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58" name="TextBox 57"/>
          <p:cNvSpPr txBox="1"/>
          <p:nvPr/>
        </p:nvSpPr>
        <p:spPr>
          <a:xfrm>
            <a:off x="852220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59" name="TextBox 58"/>
          <p:cNvSpPr txBox="1"/>
          <p:nvPr/>
        </p:nvSpPr>
        <p:spPr>
          <a:xfrm>
            <a:off x="9162288"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5</a:t>
            </a:r>
          </a:p>
        </p:txBody>
      </p:sp>
      <p:sp>
        <p:nvSpPr>
          <p:cNvPr id="60" name="TextBox 59"/>
          <p:cNvSpPr txBox="1"/>
          <p:nvPr/>
        </p:nvSpPr>
        <p:spPr>
          <a:xfrm>
            <a:off x="9893807" y="3749040"/>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6.3</a:t>
            </a:r>
          </a:p>
        </p:txBody>
      </p:sp>
      <p:sp>
        <p:nvSpPr>
          <p:cNvPr id="61" name="TextBox 60"/>
          <p:cNvSpPr txBox="1"/>
          <p:nvPr/>
        </p:nvSpPr>
        <p:spPr>
          <a:xfrm>
            <a:off x="10762487" y="3803904"/>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62" name="Rectangle 61"/>
          <p:cNvSpPr/>
          <p:nvPr/>
        </p:nvSpPr>
        <p:spPr>
          <a:xfrm>
            <a:off x="475488" y="4160520"/>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1792" y="419709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6</a:t>
            </a:r>
          </a:p>
        </p:txBody>
      </p:sp>
      <p:sp>
        <p:nvSpPr>
          <p:cNvPr id="64" name="TextBox 63"/>
          <p:cNvSpPr txBox="1"/>
          <p:nvPr/>
        </p:nvSpPr>
        <p:spPr>
          <a:xfrm>
            <a:off x="1133856" y="4169663"/>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Lessons that keep working without internet</a:t>
            </a:r>
          </a:p>
        </p:txBody>
      </p:sp>
      <p:sp>
        <p:nvSpPr>
          <p:cNvPr id="65" name="TextBox 64"/>
          <p:cNvSpPr txBox="1"/>
          <p:nvPr/>
        </p:nvSpPr>
        <p:spPr>
          <a:xfrm>
            <a:off x="1133856" y="4343399"/>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Now that we can see which lessons learners return to, we know what is worth storing</a:t>
            </a:r>
          </a:p>
        </p:txBody>
      </p:sp>
      <p:sp>
        <p:nvSpPr>
          <p:cNvPr id="66" name="TextBox 65"/>
          <p:cNvSpPr txBox="1"/>
          <p:nvPr/>
        </p:nvSpPr>
        <p:spPr>
          <a:xfrm>
            <a:off x="788212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67" name="TextBox 66"/>
          <p:cNvSpPr txBox="1"/>
          <p:nvPr/>
        </p:nvSpPr>
        <p:spPr>
          <a:xfrm>
            <a:off x="852220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68" name="TextBox 67"/>
          <p:cNvSpPr txBox="1"/>
          <p:nvPr/>
        </p:nvSpPr>
        <p:spPr>
          <a:xfrm>
            <a:off x="9162288"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4</a:t>
            </a:r>
          </a:p>
        </p:txBody>
      </p:sp>
      <p:sp>
        <p:nvSpPr>
          <p:cNvPr id="69" name="TextBox 68"/>
          <p:cNvSpPr txBox="1"/>
          <p:nvPr/>
        </p:nvSpPr>
        <p:spPr>
          <a:xfrm>
            <a:off x="9893807" y="4178807"/>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5.7</a:t>
            </a:r>
          </a:p>
        </p:txBody>
      </p:sp>
      <p:sp>
        <p:nvSpPr>
          <p:cNvPr id="70" name="TextBox 69"/>
          <p:cNvSpPr txBox="1"/>
          <p:nvPr/>
        </p:nvSpPr>
        <p:spPr>
          <a:xfrm>
            <a:off x="10762487" y="4233671"/>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71" name="Rectangle 70"/>
          <p:cNvSpPr/>
          <p:nvPr/>
        </p:nvSpPr>
        <p:spPr>
          <a:xfrm>
            <a:off x="475488" y="4590288"/>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75488" y="4590288"/>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1792" y="462686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7</a:t>
            </a:r>
          </a:p>
        </p:txBody>
      </p:sp>
      <p:sp>
        <p:nvSpPr>
          <p:cNvPr id="74" name="TextBox 73"/>
          <p:cNvSpPr txBox="1"/>
          <p:nvPr/>
        </p:nvSpPr>
        <p:spPr>
          <a:xfrm>
            <a:off x="1133856" y="459943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Weekly progress report to parents on WhatsApp</a:t>
            </a:r>
          </a:p>
        </p:txBody>
      </p:sp>
      <p:sp>
        <p:nvSpPr>
          <p:cNvPr id="75" name="TextBox 74"/>
          <p:cNvSpPr txBox="1"/>
          <p:nvPr/>
        </p:nvSpPr>
        <p:spPr>
          <a:xfrm>
            <a:off x="1133856" y="477316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Meta business verification and an opt-in from the parent's own phone. Built and waiting</a:t>
            </a:r>
          </a:p>
        </p:txBody>
      </p:sp>
      <p:sp>
        <p:nvSpPr>
          <p:cNvPr id="76" name="TextBox 75"/>
          <p:cNvSpPr txBox="1"/>
          <p:nvPr/>
        </p:nvSpPr>
        <p:spPr>
          <a:xfrm>
            <a:off x="788212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7" name="TextBox 76"/>
          <p:cNvSpPr txBox="1"/>
          <p:nvPr/>
        </p:nvSpPr>
        <p:spPr>
          <a:xfrm>
            <a:off x="852220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8" name="TextBox 77"/>
          <p:cNvSpPr txBox="1"/>
          <p:nvPr/>
        </p:nvSpPr>
        <p:spPr>
          <a:xfrm>
            <a:off x="9162288"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79" name="TextBox 78"/>
          <p:cNvSpPr txBox="1"/>
          <p:nvPr/>
        </p:nvSpPr>
        <p:spPr>
          <a:xfrm>
            <a:off x="9893807" y="460857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5.0</a:t>
            </a:r>
          </a:p>
        </p:txBody>
      </p:sp>
      <p:sp>
        <p:nvSpPr>
          <p:cNvPr id="80" name="TextBox 79"/>
          <p:cNvSpPr txBox="1"/>
          <p:nvPr/>
        </p:nvSpPr>
        <p:spPr>
          <a:xfrm>
            <a:off x="10762487" y="466344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81" name="Rectangle 80"/>
          <p:cNvSpPr/>
          <p:nvPr/>
        </p:nvSpPr>
        <p:spPr>
          <a:xfrm>
            <a:off x="475488" y="5020056"/>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21792" y="505663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8</a:t>
            </a:r>
          </a:p>
        </p:txBody>
      </p:sp>
      <p:sp>
        <p:nvSpPr>
          <p:cNvPr id="83" name="TextBox 82"/>
          <p:cNvSpPr txBox="1"/>
          <p:nvPr/>
        </p:nvSpPr>
        <p:spPr>
          <a:xfrm>
            <a:off x="1133856" y="502920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Real people behind the offer of human help</a:t>
            </a:r>
          </a:p>
        </p:txBody>
      </p:sp>
      <p:sp>
        <p:nvSpPr>
          <p:cNvPr id="84" name="TextBox 83"/>
          <p:cNvSpPr txBox="1"/>
          <p:nvPr/>
        </p:nvSpPr>
        <p:spPr>
          <a:xfrm>
            <a:off x="1133856" y="520293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demand. 34 offers and 1 acceptance is not yet a reason to pay anyone to be on call</a:t>
            </a:r>
          </a:p>
        </p:txBody>
      </p:sp>
      <p:sp>
        <p:nvSpPr>
          <p:cNvPr id="85" name="TextBox 84"/>
          <p:cNvSpPr txBox="1"/>
          <p:nvPr/>
        </p:nvSpPr>
        <p:spPr>
          <a:xfrm>
            <a:off x="788212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86" name="TextBox 85"/>
          <p:cNvSpPr txBox="1"/>
          <p:nvPr/>
        </p:nvSpPr>
        <p:spPr>
          <a:xfrm>
            <a:off x="852220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87" name="TextBox 86"/>
          <p:cNvSpPr txBox="1"/>
          <p:nvPr/>
        </p:nvSpPr>
        <p:spPr>
          <a:xfrm>
            <a:off x="9162288"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2</a:t>
            </a:r>
          </a:p>
        </p:txBody>
      </p:sp>
      <p:sp>
        <p:nvSpPr>
          <p:cNvPr id="88" name="TextBox 87"/>
          <p:cNvSpPr txBox="1"/>
          <p:nvPr/>
        </p:nvSpPr>
        <p:spPr>
          <a:xfrm>
            <a:off x="9893807" y="503834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4.0</a:t>
            </a:r>
          </a:p>
        </p:txBody>
      </p:sp>
      <p:sp>
        <p:nvSpPr>
          <p:cNvPr id="89" name="TextBox 88"/>
          <p:cNvSpPr txBox="1"/>
          <p:nvPr/>
        </p:nvSpPr>
        <p:spPr>
          <a:xfrm>
            <a:off x="10762487" y="509320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90" name="Rectangle 89"/>
          <p:cNvSpPr/>
          <p:nvPr/>
        </p:nvSpPr>
        <p:spPr>
          <a:xfrm>
            <a:off x="475488" y="5449824"/>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75488" y="5449824"/>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21792" y="548640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9</a:t>
            </a:r>
          </a:p>
        </p:txBody>
      </p:sp>
      <p:sp>
        <p:nvSpPr>
          <p:cNvPr id="93" name="TextBox 92"/>
          <p:cNvSpPr txBox="1"/>
          <p:nvPr/>
        </p:nvSpPr>
        <p:spPr>
          <a:xfrm>
            <a:off x="1133856" y="545896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 more languages, a view for teachers</a:t>
            </a:r>
          </a:p>
        </p:txBody>
      </p:sp>
      <p:sp>
        <p:nvSpPr>
          <p:cNvPr id="94" name="TextBox 93"/>
          <p:cNvSpPr txBox="1"/>
          <p:nvPr/>
        </p:nvSpPr>
        <p:spPr>
          <a:xfrm>
            <a:off x="1133856" y="5632703"/>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next slide. Not scored here, because breadth is what solving one learner properly earns you, and these get numbers when the rows above are done</a:t>
            </a:r>
          </a:p>
        </p:txBody>
      </p:sp>
      <p:sp>
        <p:nvSpPr>
          <p:cNvPr id="95" name="TextBox 94"/>
          <p:cNvSpPr txBox="1"/>
          <p:nvPr/>
        </p:nvSpPr>
        <p:spPr>
          <a:xfrm>
            <a:off x="788212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6" name="TextBox 95"/>
          <p:cNvSpPr txBox="1"/>
          <p:nvPr/>
        </p:nvSpPr>
        <p:spPr>
          <a:xfrm>
            <a:off x="852220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7" name="TextBox 96"/>
          <p:cNvSpPr txBox="1"/>
          <p:nvPr/>
        </p:nvSpPr>
        <p:spPr>
          <a:xfrm>
            <a:off x="9162288"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8" name="TextBox 97"/>
          <p:cNvSpPr txBox="1"/>
          <p:nvPr/>
        </p:nvSpPr>
        <p:spPr>
          <a:xfrm>
            <a:off x="9893807" y="546811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a:t>
            </a:r>
          </a:p>
        </p:txBody>
      </p:sp>
      <p:sp>
        <p:nvSpPr>
          <p:cNvPr id="99" name="TextBox 98"/>
          <p:cNvSpPr txBox="1"/>
          <p:nvPr/>
        </p:nvSpPr>
        <p:spPr>
          <a:xfrm>
            <a:off x="10762487" y="5522975"/>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LATER</a:t>
            </a:r>
          </a:p>
        </p:txBody>
      </p:sp>
      <p:sp>
        <p:nvSpPr>
          <p:cNvPr id="100" name="Rounded Rectangle 99"/>
          <p:cNvSpPr/>
          <p:nvPr/>
        </p:nvSpPr>
        <p:spPr>
          <a:xfrm>
            <a:off x="566928" y="6099048"/>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66928" y="6217920"/>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77824" y="6236208"/>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Depth first, and depth is specific: more to learn, more to practise, and a screen that does not hide either of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22 · LONG-TERM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learner, solved properly, then repeated.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Three phases. Each one starts when the phase before it has been proven, not when a date arrives.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22</a:t>
            </a:r>
          </a:p>
        </p:txBody>
      </p:sp>
      <p:sp>
        <p:nvSpPr>
          <p:cNvPr id="8" name="Rounded Rectangle 7"/>
          <p:cNvSpPr/>
          <p:nvPr/>
        </p:nvSpPr>
        <p:spPr>
          <a:xfrm>
            <a:off x="566928"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54864" cy="4754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PHASE 1</a:t>
            </a:r>
          </a:p>
        </p:txBody>
      </p:sp>
      <p:sp>
        <p:nvSpPr>
          <p:cNvPr id="11" name="TextBox 10"/>
          <p:cNvSpPr txBox="1"/>
          <p:nvPr/>
        </p:nvSpPr>
        <p:spPr>
          <a:xfrm>
            <a:off x="768096"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Shipped</a:t>
            </a:r>
          </a:p>
        </p:txBody>
      </p:sp>
      <p:sp>
        <p:nvSpPr>
          <p:cNvPr id="12" name="TextBox 11"/>
          <p:cNvSpPr txBox="1"/>
          <p:nvPr/>
        </p:nvSpPr>
        <p:spPr>
          <a:xfrm>
            <a:off x="621792"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One subject, three classes, two languages</a:t>
            </a:r>
          </a:p>
        </p:txBody>
      </p:sp>
      <p:sp>
        <p:nvSpPr>
          <p:cNvPr id="13" name="TextBox 12"/>
          <p:cNvSpPr txBox="1"/>
          <p:nvPr/>
        </p:nvSpPr>
        <p:spPr>
          <a:xfrm>
            <a:off x="621792"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NCERT Mathematics for Classes 6 to 8, every lesson in Hindi and English</a:t>
            </a:r>
          </a:p>
        </p:txBody>
      </p:sp>
      <p:sp>
        <p:nvSpPr>
          <p:cNvPr id="14" name="TextBox 13"/>
          <p:cNvSpPr txBox="1"/>
          <p:nvPr/>
        </p:nvSpPr>
        <p:spPr>
          <a:xfrm>
            <a:off x="621792"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The full learning loop</a:t>
            </a:r>
          </a:p>
        </p:txBody>
      </p:sp>
      <p:sp>
        <p:nvSpPr>
          <p:cNvPr id="15" name="TextBox 14"/>
          <p:cNvSpPr txBox="1"/>
          <p:nvPr/>
        </p:nvSpPr>
        <p:spPr>
          <a:xfrm>
            <a:off x="621792"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Lessons, AI tutor, practice, quiz, mastery, streaks, milestones</a:t>
            </a:r>
          </a:p>
        </p:txBody>
      </p:sp>
      <p:sp>
        <p:nvSpPr>
          <p:cNvPr id="16" name="TextBox 15"/>
          <p:cNvSpPr txBox="1"/>
          <p:nvPr/>
        </p:nvSpPr>
        <p:spPr>
          <a:xfrm>
            <a:off x="621792"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parent who needs no account</a:t>
            </a:r>
          </a:p>
        </p:txBody>
      </p:sp>
      <p:sp>
        <p:nvSpPr>
          <p:cNvPr id="17" name="TextBox 16"/>
          <p:cNvSpPr txBox="1"/>
          <p:nvPr/>
        </p:nvSpPr>
        <p:spPr>
          <a:xfrm>
            <a:off x="621792"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Progress as a private link, and a mentor request captured for demand</a:t>
            </a:r>
          </a:p>
        </p:txBody>
      </p:sp>
      <p:sp>
        <p:nvSpPr>
          <p:cNvPr id="18" name="TextBox 17"/>
          <p:cNvSpPr txBox="1"/>
          <p:nvPr/>
        </p:nvSpPr>
        <p:spPr>
          <a:xfrm>
            <a:off x="621792"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Free, deliberately</a:t>
            </a:r>
          </a:p>
        </p:txBody>
      </p:sp>
      <p:sp>
        <p:nvSpPr>
          <p:cNvPr id="19" name="TextBox 18"/>
          <p:cNvSpPr txBox="1"/>
          <p:nvPr/>
        </p:nvSpPr>
        <p:spPr>
          <a:xfrm>
            <a:off x="621792"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Pricing now would contaminate the activation and retention numbers we are trying to read</a:t>
            </a:r>
          </a:p>
        </p:txBody>
      </p:sp>
      <p:sp>
        <p:nvSpPr>
          <p:cNvPr id="20" name="Rounded Rectangle 19"/>
          <p:cNvSpPr/>
          <p:nvPr/>
        </p:nvSpPr>
        <p:spPr>
          <a:xfrm>
            <a:off x="4344314"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4314" y="1883664"/>
            <a:ext cx="54864" cy="475488"/>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45482"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5B6673"/>
                </a:solidFill>
                <a:latin typeface="Arial"/>
              </a:rPr>
              <a:t>PHASE 2</a:t>
            </a:r>
          </a:p>
        </p:txBody>
      </p:sp>
      <p:sp>
        <p:nvSpPr>
          <p:cNvPr id="23" name="TextBox 22"/>
          <p:cNvSpPr txBox="1"/>
          <p:nvPr/>
        </p:nvSpPr>
        <p:spPr>
          <a:xfrm>
            <a:off x="4545482"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Expansion, once depth is done</a:t>
            </a:r>
          </a:p>
        </p:txBody>
      </p:sp>
      <p:sp>
        <p:nvSpPr>
          <p:cNvPr id="24" name="TextBox 23"/>
          <p:cNvSpPr txBox="1"/>
          <p:nvPr/>
        </p:nvSpPr>
        <p:spPr>
          <a:xfrm>
            <a:off x="4399178"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a:t>
            </a:r>
          </a:p>
        </p:txBody>
      </p:sp>
      <p:sp>
        <p:nvSpPr>
          <p:cNvPr id="25" name="TextBox 24"/>
          <p:cNvSpPr txBox="1"/>
          <p:nvPr/>
        </p:nvSpPr>
        <p:spPr>
          <a:xfrm>
            <a:off x="4399178"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Science next, then the classes either side of 6 to 8. The content model already takes them</a:t>
            </a:r>
          </a:p>
        </p:txBody>
      </p:sp>
      <p:sp>
        <p:nvSpPr>
          <p:cNvPr id="26" name="TextBox 25"/>
          <p:cNvSpPr txBox="1"/>
          <p:nvPr/>
        </p:nvSpPr>
        <p:spPr>
          <a:xfrm>
            <a:off x="4399178"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languages</a:t>
            </a:r>
          </a:p>
        </p:txBody>
      </p:sp>
      <p:sp>
        <p:nvSpPr>
          <p:cNvPr id="27" name="TextBox 26"/>
          <p:cNvSpPr txBox="1"/>
          <p:nvPr/>
        </p:nvSpPr>
        <p:spPr>
          <a:xfrm>
            <a:off x="4399178"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Marathi, Tamil and Bengali. The bilingual work was built as a pattern, not a special case</a:t>
            </a:r>
          </a:p>
        </p:txBody>
      </p:sp>
      <p:sp>
        <p:nvSpPr>
          <p:cNvPr id="28" name="TextBox 27"/>
          <p:cNvSpPr txBox="1"/>
          <p:nvPr/>
        </p:nvSpPr>
        <p:spPr>
          <a:xfrm>
            <a:off x="4399178"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Views for the adults</a:t>
            </a:r>
          </a:p>
        </p:txBody>
      </p:sp>
      <p:sp>
        <p:nvSpPr>
          <p:cNvPr id="29" name="TextBox 28"/>
          <p:cNvSpPr txBox="1"/>
          <p:nvPr/>
        </p:nvSpPr>
        <p:spPr>
          <a:xfrm>
            <a:off x="4399178"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 teacher dashboard for a class, an NGO dashboard for a cohort, and the WhatsApp summary once Meta approves</a:t>
            </a:r>
          </a:p>
        </p:txBody>
      </p:sp>
      <p:sp>
        <p:nvSpPr>
          <p:cNvPr id="30" name="TextBox 29"/>
          <p:cNvSpPr txBox="1"/>
          <p:nvPr/>
        </p:nvSpPr>
        <p:spPr>
          <a:xfrm>
            <a:off x="4399178"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First money, from institutions</a:t>
            </a:r>
          </a:p>
        </p:txBody>
      </p:sp>
      <p:sp>
        <p:nvSpPr>
          <p:cNvPr id="31" name="TextBox 30"/>
          <p:cNvSpPr txBox="1"/>
          <p:nvPr/>
        </p:nvSpPr>
        <p:spPr>
          <a:xfrm>
            <a:off x="4399178"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Paid CSR and NGO pilots that test willingness to pay for outcomes rather than for features</a:t>
            </a:r>
          </a:p>
        </p:txBody>
      </p:sp>
      <p:sp>
        <p:nvSpPr>
          <p:cNvPr id="32" name="Rounded Rectangle 31"/>
          <p:cNvSpPr/>
          <p:nvPr/>
        </p:nvSpPr>
        <p:spPr>
          <a:xfrm>
            <a:off x="8121700"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21700" y="1883664"/>
            <a:ext cx="54864" cy="4754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2868"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B45309"/>
                </a:solidFill>
                <a:latin typeface="Arial"/>
              </a:rPr>
              <a:t>PHASE 3</a:t>
            </a:r>
          </a:p>
        </p:txBody>
      </p:sp>
      <p:sp>
        <p:nvSpPr>
          <p:cNvPr id="35" name="TextBox 34"/>
          <p:cNvSpPr txBox="1"/>
          <p:nvPr/>
        </p:nvSpPr>
        <p:spPr>
          <a:xfrm>
            <a:off x="8322868"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The platform it is meant to be</a:t>
            </a:r>
          </a:p>
        </p:txBody>
      </p:sp>
      <p:sp>
        <p:nvSpPr>
          <p:cNvPr id="36" name="TextBox 35"/>
          <p:cNvSpPr txBox="1"/>
          <p:nvPr/>
        </p:nvSpPr>
        <p:spPr>
          <a:xfrm>
            <a:off x="8176564"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Accessibility as the product, not a setting</a:t>
            </a:r>
          </a:p>
        </p:txBody>
      </p:sp>
      <p:sp>
        <p:nvSpPr>
          <p:cNvPr id="37" name="TextBox 36"/>
          <p:cNvSpPr txBox="1"/>
          <p:nvPr/>
        </p:nvSpPr>
        <p:spPr>
          <a:xfrm>
            <a:off x="8176564"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For learners with visual, hearing and speech impairments and for neurodiverse learners, with voice-first learning throughout</a:t>
            </a:r>
          </a:p>
        </p:txBody>
      </p:sp>
      <p:sp>
        <p:nvSpPr>
          <p:cNvPr id="38" name="TextBox 37"/>
          <p:cNvSpPr txBox="1"/>
          <p:nvPr/>
        </p:nvSpPr>
        <p:spPr>
          <a:xfrm>
            <a:off x="8176564"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New personas, not just new content</a:t>
            </a:r>
          </a:p>
        </p:txBody>
      </p:sp>
      <p:sp>
        <p:nvSpPr>
          <p:cNvPr id="39" name="TextBox 38"/>
          <p:cNvSpPr txBox="1"/>
          <p:nvPr/>
        </p:nvSpPr>
        <p:spPr>
          <a:xfrm>
            <a:off x="8176564"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Adult literacy learners, and the groups above designed for rather than accommodated. Same engine, a different learner</a:t>
            </a:r>
          </a:p>
        </p:txBody>
      </p:sp>
      <p:sp>
        <p:nvSpPr>
          <p:cNvPr id="40" name="TextBox 39"/>
          <p:cNvSpPr txBox="1"/>
          <p:nvPr/>
        </p:nvSpPr>
        <p:spPr>
          <a:xfrm>
            <a:off x="8176564"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Learning that works offline</a:t>
            </a:r>
          </a:p>
        </p:txBody>
      </p:sp>
      <p:sp>
        <p:nvSpPr>
          <p:cNvPr id="41" name="TextBox 40"/>
          <p:cNvSpPr txBox="1"/>
          <p:nvPr/>
        </p:nvSpPr>
        <p:spPr>
          <a:xfrm>
            <a:off x="8176564"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The last barrier that is about infrastructure rather than teaching</a:t>
            </a:r>
          </a:p>
        </p:txBody>
      </p:sp>
      <p:sp>
        <p:nvSpPr>
          <p:cNvPr id="42" name="TextBox 41"/>
          <p:cNvSpPr txBox="1"/>
          <p:nvPr/>
        </p:nvSpPr>
        <p:spPr>
          <a:xfrm>
            <a:off x="8176564"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verified mentor network</a:t>
            </a:r>
          </a:p>
        </p:txBody>
      </p:sp>
      <p:sp>
        <p:nvSpPr>
          <p:cNvPr id="43" name="TextBox 42"/>
          <p:cNvSpPr txBox="1"/>
          <p:nvPr/>
        </p:nvSpPr>
        <p:spPr>
          <a:xfrm>
            <a:off x="8176564"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Only if the demand signal we are collecting today says learners want one</a:t>
            </a:r>
          </a:p>
        </p:txBody>
      </p:sp>
      <p:sp>
        <p:nvSpPr>
          <p:cNvPr id="44" name="Rounded Rectangle 43"/>
          <p:cNvSpPr/>
          <p:nvPr/>
        </p:nvSpPr>
        <p:spPr>
          <a:xfrm>
            <a:off x="566928" y="5742432"/>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66928" y="5861304"/>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77824" y="5879592"/>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No dates on this slide. A phase starts when the one before it is proven, and saying otherwise would be the easiest thing here to be wrong about.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23 · ADOPTION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Nothing to download, and nothing to pay.</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hardest step in Indian edtech is the first one. Dagar removes the install, the app store and the parent's account.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23</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a:t>
            </a:r>
          </a:p>
          <a:p>
            <a:pPr algn="l">
              <a:lnSpc>
                <a:spcPct val="115000"/>
              </a:lnSpc>
              <a:spcBef>
                <a:spcPts val="0"/>
              </a:spcBef>
              <a:spcAft>
                <a:spcPts val="300"/>
              </a:spcAft>
            </a:pPr>
            <a:r>
              <a:rPr sz="1100" b="1" i="0">
                <a:solidFill>
                  <a:srgbClr val="1A2733"/>
                </a:solidFill>
                <a:latin typeface="Arial"/>
              </a:rPr>
              <a:t>link to open it</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apps to install</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joined from one class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spent on marketing</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Opening it is a link, not a download</a:t>
            </a:r>
          </a:p>
          <a:p>
            <a:pPr algn="l">
              <a:lnSpc>
                <a:spcPct val="122000"/>
              </a:lnSpc>
              <a:spcBef>
                <a:spcPts val="0"/>
              </a:spcBef>
              <a:spcAft>
                <a:spcPts val="0"/>
              </a:spcAft>
            </a:pPr>
            <a:r>
              <a:rPr sz="950" b="0" i="0">
                <a:solidFill>
                  <a:srgbClr val="3F4A57"/>
                </a:solidFill>
                <a:latin typeface="Arial"/>
              </a:rPr>
              <a:t>Dagar is a web app that installs to the home screen with its own icon and no browser bar. On a shared phone with 16GB and a data plan that matters, asking a family to install a 40MB app from a store loses most of them before the first lesson.</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parent needs no account, ever</a:t>
            </a:r>
          </a:p>
          <a:p>
            <a:pPr algn="l">
              <a:lnSpc>
                <a:spcPct val="122000"/>
              </a:lnSpc>
              <a:spcBef>
                <a:spcPts val="0"/>
              </a:spcBef>
              <a:spcAft>
                <a:spcPts val="0"/>
              </a:spcAft>
            </a:pPr>
            <a:r>
              <a:rPr sz="950" b="0" i="0">
                <a:solidFill>
                  <a:srgbClr val="3F4A57"/>
                </a:solidFill>
                <a:latin typeface="Arial"/>
              </a:rPr>
              <a:t>They open a private link and see the last seven days. No sign-up, no password, no app, nothing to remember. The parent we most want to reach is the one least likely to complete a registration form.</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One teacher onboards a whole class</a:t>
            </a:r>
          </a:p>
          <a:p>
            <a:pPr algn="l">
              <a:lnSpc>
                <a:spcPct val="122000"/>
              </a:lnSpc>
              <a:spcBef>
                <a:spcPts val="0"/>
              </a:spcBef>
              <a:spcAft>
                <a:spcPts val="0"/>
              </a:spcAft>
            </a:pPr>
            <a:r>
              <a:rPr sz="950" b="0" i="0">
                <a:solidFill>
                  <a:srgbClr val="3F4A57"/>
                </a:solidFill>
                <a:latin typeface="Arial"/>
              </a:rPr>
              <a:t>That is how the 46 accounts happened: a teacher shared one link. No advertising, no incentive, no per-learner effort. The unit of adoption is a classroom, and the cost of adding one is a message.</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are the path to scale</a:t>
            </a:r>
          </a:p>
          <a:p>
            <a:pPr algn="l">
              <a:lnSpc>
                <a:spcPct val="122000"/>
              </a:lnSpc>
              <a:spcBef>
                <a:spcPts val="0"/>
              </a:spcBef>
              <a:spcAft>
                <a:spcPts val="0"/>
              </a:spcAft>
            </a:pPr>
            <a:r>
              <a:rPr sz="950" b="0" i="0">
                <a:solidFill>
                  <a:srgbClr val="3F4A57"/>
                </a:solidFill>
                <a:latin typeface="Arial"/>
              </a:rPr>
              <a:t>NGO, CSR and government programmes buy per learner and already fund exactly this. The three-year target is roughly 250,000 learners, which is under 1% of the 30 million in Classes 6 to 8 who follow this curriculum.</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One channel is proven. The other is an argument.</a:t>
            </a:r>
          </a:p>
          <a:p>
            <a:pPr algn="l">
              <a:lnSpc>
                <a:spcPct val="126000"/>
              </a:lnSpc>
              <a:spcBef>
                <a:spcPts val="0"/>
              </a:spcBef>
              <a:spcAft>
                <a:spcPts val="0"/>
              </a:spcAft>
            </a:pPr>
            <a:r>
              <a:rPr sz="1050" b="0" i="0">
                <a:solidFill>
                  <a:srgbClr val="3F4A57"/>
                </a:solidFill>
                <a:latin typeface="Arial"/>
              </a:rPr>
              <a:t>A teacher sharing a link with her class is tested, and it works: 46 accounts, 30 of them finishing a lesson, with nothing spent. Selling to an NGO or a CSR programme is not tested at all, and we are not going to pretend a funnel exists because we drew one. What makes it credible is that the institutional motion is the same motion, repeated: an institution is a room full of teachers, and each of them already has the only thing needed to start, which is a class and a link.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24 · MONETISATION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Learners never pay. Institutions do.</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Our learners are defined by not affording tuition, so a consumer subscription cannot be the engine without contradicting who the product is for.</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24</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for the learning loop</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₹370</a:t>
            </a:r>
          </a:p>
          <a:p>
            <a:pPr algn="l">
              <a:lnSpc>
                <a:spcPct val="115000"/>
              </a:lnSpc>
              <a:spcBef>
                <a:spcPts val="0"/>
              </a:spcBef>
              <a:spcAft>
                <a:spcPts val="300"/>
              </a:spcAft>
            </a:pPr>
            <a:r>
              <a:rPr sz="1100" b="1" i="0">
                <a:solidFill>
                  <a:srgbClr val="1A2733"/>
                </a:solidFill>
                <a:latin typeface="Arial"/>
              </a:rPr>
              <a:t>modelled cost floor</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₹450</a:t>
            </a:r>
          </a:p>
          <a:p>
            <a:pPr algn="l">
              <a:lnSpc>
                <a:spcPct val="115000"/>
              </a:lnSpc>
              <a:spcBef>
                <a:spcPts val="0"/>
              </a:spcBef>
              <a:spcAft>
                <a:spcPts val="300"/>
              </a:spcAft>
            </a:pPr>
            <a:r>
              <a:rPr sz="1100" b="1" i="0">
                <a:solidFill>
                  <a:srgbClr val="1A2733"/>
                </a:solidFill>
                <a:latin typeface="Arial"/>
              </a:rPr>
              <a:t>institutional, per year</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 to 2%</a:t>
            </a:r>
          </a:p>
          <a:p>
            <a:pPr algn="l">
              <a:lnSpc>
                <a:spcPct val="115000"/>
              </a:lnSpc>
              <a:spcBef>
                <a:spcPts val="0"/>
              </a:spcBef>
              <a:spcAft>
                <a:spcPts val="300"/>
              </a:spcAft>
            </a:pPr>
            <a:r>
              <a:rPr sz="1100" b="1" i="0">
                <a:solidFill>
                  <a:srgbClr val="1A2733"/>
                </a:solidFill>
                <a:latin typeface="Arial"/>
              </a:rPr>
              <a:t>consumer conversion</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Four tiers, one rule</a:t>
            </a:r>
          </a:p>
          <a:p>
            <a:pPr algn="l">
              <a:lnSpc>
                <a:spcPct val="122000"/>
              </a:lnSpc>
              <a:spcBef>
                <a:spcPts val="0"/>
              </a:spcBef>
              <a:spcAft>
                <a:spcPts val="0"/>
              </a:spcAft>
            </a:pPr>
            <a:r>
              <a:rPr sz="950" b="0" i="0">
                <a:solidFill>
                  <a:srgbClr val="3F4A57"/>
                </a:solidFill>
                <a:latin typeface="Arial"/>
              </a:rPr>
              <a:t>Free keeps the whole loop: curriculum, practice, quizzes, progress, parent summary, tutor capped at 10 questions a day. Plus is ₹99 a month for unlimited tutoring and depth. Mentor adds ₹299 and only sells once mentors exist. Institutions pay ₹450 to ₹600 a learner.</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floor is a cost, not a target</a:t>
            </a:r>
          </a:p>
          <a:p>
            <a:pPr algn="l">
              <a:lnSpc>
                <a:spcPct val="122000"/>
              </a:lnSpc>
              <a:spcBef>
                <a:spcPts val="0"/>
              </a:spcBef>
              <a:spcAft>
                <a:spcPts val="0"/>
              </a:spcAft>
            </a:pPr>
            <a:r>
              <a:rPr sz="950" b="0" i="0">
                <a:solidFill>
                  <a:srgbClr val="3F4A57"/>
                </a:solidFill>
                <a:latin typeface="Arial"/>
              </a:rPr>
              <a:t>A fully active learner costs about ₹370 a year, roughly ₹330 of AI and ₹40 of infrastructure. No institutional licence is priced below it. This is modelled from published token pricing, not measured per learner, and we say which it is.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because the maths works</a:t>
            </a:r>
          </a:p>
          <a:p>
            <a:pPr algn="l">
              <a:lnSpc>
                <a:spcPct val="122000"/>
              </a:lnSpc>
              <a:spcBef>
                <a:spcPts val="0"/>
              </a:spcBef>
              <a:spcAft>
                <a:spcPts val="0"/>
              </a:spcAft>
            </a:pPr>
            <a:r>
              <a:rPr sz="950" b="0" i="0">
                <a:solidFill>
                  <a:srgbClr val="3F4A57"/>
                </a:solidFill>
                <a:latin typeface="Arial"/>
              </a:rPr>
              <a:t>Conversion among families who cannot afford tuition is realistically 1 to 2%. CSR budgets are mandated in India and already buy per beneficiary, so one NGO cohort beats a thousand families we would rather not charge.</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Advertising is not on the table</a:t>
            </a:r>
          </a:p>
          <a:p>
            <a:pPr algn="l">
              <a:lnSpc>
                <a:spcPct val="122000"/>
              </a:lnSpc>
              <a:spcBef>
                <a:spcPts val="0"/>
              </a:spcBef>
              <a:spcAft>
                <a:spcPts val="0"/>
              </a:spcAft>
            </a:pPr>
            <a:r>
              <a:rPr sz="950" b="0" i="0">
                <a:solidFill>
                  <a:srgbClr val="3F4A57"/>
                </a:solidFill>
                <a:latin typeface="Arial"/>
              </a:rPr>
              <a:t>The DPDP Act 2023 forbids behavioural tracking and targeted advertising directed at anyone under 18, and parental consent does not unlock it. Our entire user base is 11 to 14. That closes the default way free products make money, and we would not want it open.</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 margin is thin, and that is the honest headline.</a:t>
            </a:r>
          </a:p>
          <a:p>
            <a:pPr algn="l">
              <a:lnSpc>
                <a:spcPct val="126000"/>
              </a:lnSpc>
              <a:spcBef>
                <a:spcPts val="0"/>
              </a:spcBef>
              <a:spcAft>
                <a:spcPts val="0"/>
              </a:spcAft>
            </a:pPr>
            <a:r>
              <a:rPr sz="1050" b="0" i="0">
                <a:solidFill>
                  <a:srgbClr val="3F4A57"/>
                </a:solidFill>
                <a:latin typeface="Arial"/>
              </a:rPr>
              <a:t>₹450 against a ₹370 floor is ₹80 a learner, and the risk is that institutions treat ₹450 as a ceiling rather than a starting point, at which point the margin goes negative. Two things move it: inference prices have fallen every year of this technology's existence, and most learners are not fully active, so a cohort costs less than its worst case. Neither is a plan. The plan is to price above cost, publish the number we are pricing against, and not sell reach we cannot afford to serve.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