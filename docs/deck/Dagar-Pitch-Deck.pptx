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RIGHT-HAND COLUMN MATTERS MORE</a:t>
            </a:r>
          </a:p>
          <a:p>
            <a:r>
              <a:t>Anybody can list features they cut. Very few teams will say what they would do</a:t>
            </a:r>
          </a:p>
          <a:p>
            <a:r>
              <a:t>differently, and it is the strongest signal on this slide that the reflection</a:t>
            </a:r>
          </a:p>
          <a:p>
            <a:r>
              <a:t>is real rather than performed. Every one of those four cost us something</a:t>
            </a:r>
          </a:p>
          <a:p>
            <a:r>
              <a:t>measurable.</a:t>
            </a:r>
          </a:p>
          <a:p/>
          <a:p>
            <a:r>
              <a:t>THE ONE THAT BOTHERS US MOST</a:t>
            </a:r>
          </a:p>
          <a:p>
            <a:r>
              <a:t>No evaluation set for the tutor. The tutor is the differentiating claim in the</a:t>
            </a:r>
          </a:p>
          <a:p>
            <a:r>
              <a:t>whole product, and every prompt edit so far has been an untested deploy. We</a:t>
            </a:r>
          </a:p>
          <a:p>
            <a:r>
              <a:t>have twenty learners' worth of real questions to build it from, which is</a:t>
            </a:r>
          </a:p>
          <a:p>
            <a:r>
              <a:t>exactly the input it needs, and it is first after submission.</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 The mistakes were ours.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An honest list is a stronger artefact than a silent one, and the second column is the half most decks leave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TextBox 7"/>
          <p:cNvSpPr txBox="1"/>
          <p:nvPr/>
        </p:nvSpPr>
        <p:spPr>
          <a:xfrm>
            <a:off x="566928" y="1883664"/>
            <a:ext cx="539175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DELIBERATELY NOT BUILT</a:t>
            </a:r>
          </a:p>
        </p:txBody>
      </p:sp>
      <p:sp>
        <p:nvSpPr>
          <p:cNvPr id="9" name="TextBox 8"/>
          <p:cNvSpPr txBox="1"/>
          <p:nvPr/>
        </p:nvSpPr>
        <p:spPr>
          <a:xfrm>
            <a:off x="6233007" y="1883664"/>
            <a:ext cx="5391759" cy="274320"/>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WHAT WE WOULD DO DIFFERENTLY</a:t>
            </a:r>
          </a:p>
        </p:txBody>
      </p:sp>
      <p:sp>
        <p:nvSpPr>
          <p:cNvPr id="10" name="Rounded Rectangle 9"/>
          <p:cNvSpPr/>
          <p:nvPr/>
        </p:nvSpPr>
        <p:spPr>
          <a:xfrm>
            <a:off x="566928" y="2212848"/>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6400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No leaderboards, hearts, lives or XP</a:t>
            </a:r>
          </a:p>
          <a:p>
            <a:pPr algn="l">
              <a:lnSpc>
                <a:spcPct val="122000"/>
              </a:lnSpc>
              <a:spcBef>
                <a:spcPts val="0"/>
              </a:spcBef>
              <a:spcAft>
                <a:spcPts val="0"/>
              </a:spcAft>
            </a:pPr>
            <a:r>
              <a:rPr sz="950" b="0" i="0">
                <a:solidFill>
                  <a:srgbClr val="3F4A57"/>
                </a:solidFill>
                <a:latin typeface="Arial"/>
              </a:rPr>
              <a:t>Every one of those mechanics inverts for a learner who is already behind. Losing a life for a wrong answer punishes exactly the child who needed another try.</a:t>
            </a:r>
          </a:p>
        </p:txBody>
      </p:sp>
      <p:sp>
        <p:nvSpPr>
          <p:cNvPr id="13" name="Rounded Rectangle 12"/>
          <p:cNvSpPr/>
          <p:nvPr/>
        </p:nvSpPr>
        <p:spPr>
          <a:xfrm>
            <a:off x="566928" y="3273552"/>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438144"/>
            <a:ext cx="41148" cy="6400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56432"/>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No mentor service behind the offer</a:t>
            </a:r>
          </a:p>
          <a:p>
            <a:pPr algn="l">
              <a:lnSpc>
                <a:spcPct val="122000"/>
              </a:lnSpc>
              <a:spcBef>
                <a:spcPts val="0"/>
              </a:spcBef>
              <a:spcAft>
                <a:spcPts val="0"/>
              </a:spcAft>
            </a:pPr>
            <a:r>
              <a:rPr sz="950" b="0" i="0">
                <a:solidFill>
                  <a:srgbClr val="3F4A57"/>
                </a:solidFill>
                <a:latin typeface="Arial"/>
              </a:rPr>
              <a:t>Staffing a rota before knowing how often learners ask would be building on an assumption. 34 offers and 1 acceptance is the beginning of the answer.</a:t>
            </a:r>
          </a:p>
        </p:txBody>
      </p:sp>
      <p:sp>
        <p:nvSpPr>
          <p:cNvPr id="16" name="Rounded Rectangle 15"/>
          <p:cNvSpPr/>
          <p:nvPr/>
        </p:nvSpPr>
        <p:spPr>
          <a:xfrm>
            <a:off x="566928" y="4334256"/>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498848"/>
            <a:ext cx="41148" cy="6400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517136"/>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No automatic WhatsApp delivery</a:t>
            </a:r>
          </a:p>
          <a:p>
            <a:pPr algn="l">
              <a:lnSpc>
                <a:spcPct val="122000"/>
              </a:lnSpc>
              <a:spcBef>
                <a:spcPts val="0"/>
              </a:spcBef>
              <a:spcAft>
                <a:spcPts val="0"/>
              </a:spcAft>
            </a:pPr>
            <a:r>
              <a:rPr sz="950" b="0" i="0">
                <a:solidFill>
                  <a:srgbClr val="3F4A57"/>
                </a:solidFill>
                <a:latin typeface="Arial"/>
              </a:rPr>
              <a:t>It needs business verification and an opt-in from the parent's own handset. The link already lets them see progress with no account at all.</a:t>
            </a:r>
          </a:p>
        </p:txBody>
      </p:sp>
      <p:sp>
        <p:nvSpPr>
          <p:cNvPr id="19" name="Rounded Rectangle 18"/>
          <p:cNvSpPr/>
          <p:nvPr/>
        </p:nvSpPr>
        <p:spPr>
          <a:xfrm>
            <a:off x="566928" y="5394959"/>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5559551"/>
            <a:ext cx="41148" cy="6400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577840"/>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No evaluation set for the tutor yet</a:t>
            </a:r>
          </a:p>
          <a:p>
            <a:pPr algn="l">
              <a:lnSpc>
                <a:spcPct val="122000"/>
              </a:lnSpc>
              <a:spcBef>
                <a:spcPts val="0"/>
              </a:spcBef>
              <a:spcAft>
                <a:spcPts val="0"/>
              </a:spcAft>
            </a:pPr>
            <a:r>
              <a:rPr sz="950" b="0" i="0">
                <a:solidFill>
                  <a:srgbClr val="3F4A57"/>
                </a:solidFill>
                <a:latin typeface="Arial"/>
              </a:rPr>
              <a:t>This is the one that bothers us. Until it exists every prompt edit is an untested deploy, and the tutor is the differentiator. First thing after submission.</a:t>
            </a:r>
          </a:p>
        </p:txBody>
      </p:sp>
      <p:sp>
        <p:nvSpPr>
          <p:cNvPr id="22" name="Rounded Rectangle 21"/>
          <p:cNvSpPr/>
          <p:nvPr/>
        </p:nvSpPr>
        <p:spPr>
          <a:xfrm>
            <a:off x="6233007" y="2212848"/>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3007" y="2377440"/>
            <a:ext cx="41148" cy="6400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2395728"/>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Instrument first, then build</a:t>
            </a:r>
          </a:p>
          <a:p>
            <a:pPr algn="l">
              <a:lnSpc>
                <a:spcPct val="122000"/>
              </a:lnSpc>
              <a:spcBef>
                <a:spcPts val="0"/>
              </a:spcBef>
              <a:spcAft>
                <a:spcPts val="0"/>
              </a:spcAft>
            </a:pPr>
            <a:r>
              <a:rPr sz="950" b="0" i="0">
                <a:solidFill>
                  <a:srgbClr val="3F4A57"/>
                </a:solidFill>
                <a:latin typeface="Arial"/>
              </a:rPr>
              <a:t>Three events were not firing at all, and we found out only when we went looking for the numbers. Adding the call while writing the feature costs seconds. Discovering it missing costs the whole period of data.</a:t>
            </a:r>
          </a:p>
        </p:txBody>
      </p:sp>
      <p:sp>
        <p:nvSpPr>
          <p:cNvPr id="25" name="Rounded Rectangle 24"/>
          <p:cNvSpPr/>
          <p:nvPr/>
        </p:nvSpPr>
        <p:spPr>
          <a:xfrm>
            <a:off x="6233007" y="3273552"/>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3007" y="3438144"/>
            <a:ext cx="41148" cy="6400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9039" y="3456432"/>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Get it onto a real phone on day one</a:t>
            </a:r>
          </a:p>
          <a:p>
            <a:pPr algn="l">
              <a:lnSpc>
                <a:spcPct val="122000"/>
              </a:lnSpc>
              <a:spcBef>
                <a:spcPts val="0"/>
              </a:spcBef>
              <a:spcAft>
                <a:spcPts val="0"/>
              </a:spcAft>
            </a:pPr>
            <a:r>
              <a:rPr sz="950" b="0" i="0">
                <a:solidFill>
                  <a:srgbClr val="3F4A57"/>
                </a:solidFill>
                <a:latin typeface="Arial"/>
              </a:rPr>
              <a:t>Six genuine defects came from twenty minutes on an Android handset. No test caught any of them, and several had shipped days earlier.</a:t>
            </a:r>
          </a:p>
        </p:txBody>
      </p:sp>
      <p:sp>
        <p:nvSpPr>
          <p:cNvPr id="28" name="Rounded Rectangle 27"/>
          <p:cNvSpPr/>
          <p:nvPr/>
        </p:nvSpPr>
        <p:spPr>
          <a:xfrm>
            <a:off x="6233007" y="4334256"/>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3007" y="4498848"/>
            <a:ext cx="41148" cy="6400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9039" y="4517136"/>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Write the evaluation set before the prompt</a:t>
            </a:r>
          </a:p>
          <a:p>
            <a:pPr algn="l">
              <a:lnSpc>
                <a:spcPct val="122000"/>
              </a:lnSpc>
              <a:spcBef>
                <a:spcPts val="0"/>
              </a:spcBef>
              <a:spcAft>
                <a:spcPts val="0"/>
              </a:spcAft>
            </a:pPr>
            <a:r>
              <a:rPr sz="950" b="0" i="0">
                <a:solidFill>
                  <a:srgbClr val="3F4A57"/>
                </a:solidFill>
                <a:latin typeface="Arial"/>
              </a:rPr>
              <a:t>We tuned the tutor prompt several times with no harness. Every one of those edits was an act of faith.</a:t>
            </a:r>
          </a:p>
        </p:txBody>
      </p:sp>
      <p:sp>
        <p:nvSpPr>
          <p:cNvPr id="31" name="Rounded Rectangle 30"/>
          <p:cNvSpPr/>
          <p:nvPr/>
        </p:nvSpPr>
        <p:spPr>
          <a:xfrm>
            <a:off x="6233007" y="5394959"/>
            <a:ext cx="5391759" cy="96926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5559551"/>
            <a:ext cx="41148" cy="6400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89039" y="5577840"/>
            <a:ext cx="4934559" cy="640079"/>
          </a:xfrm>
          <a:prstGeom prst="rect">
            <a:avLst/>
          </a:prstGeom>
          <a:noFill/>
        </p:spPr>
        <p:txBody>
          <a:bodyPr wrap="square" lIns="0" rIns="0" tIns="0" bIns="0" anchor="t">
            <a:spAutoFit/>
          </a:bodyPr>
          <a:lstStyle/>
          <a:p>
            <a:pPr algn="l">
              <a:lnSpc>
                <a:spcPct val="105000"/>
              </a:lnSpc>
              <a:spcBef>
                <a:spcPts val="0"/>
              </a:spcBef>
              <a:spcAft>
                <a:spcPts val="500"/>
              </a:spcAft>
            </a:pPr>
            <a:r>
              <a:rPr sz="1100" b="1" i="0">
                <a:solidFill>
                  <a:srgbClr val="1A2733"/>
                </a:solidFill>
                <a:latin typeface="Arial"/>
              </a:rPr>
              <a:t>Exercise the system, do not read the code</a:t>
            </a:r>
          </a:p>
          <a:p>
            <a:pPr algn="l">
              <a:lnSpc>
                <a:spcPct val="122000"/>
              </a:lnSpc>
              <a:spcBef>
                <a:spcPts val="0"/>
              </a:spcBef>
              <a:spcAft>
                <a:spcPts val="0"/>
              </a:spcAft>
            </a:pPr>
            <a:r>
              <a:rPr sz="950" b="0" i="0">
                <a:solidFill>
                  <a:srgbClr val="3F4A57"/>
                </a:solidFill>
                <a:latin typeface="Arial"/>
              </a:rPr>
              <a:t>Twice we believed something worked because the code said so. Reading a policy is not testing a policy, and running the query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