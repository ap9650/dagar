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The lessons are free for everyone, for good. Institutions pay to reach the</a:t>
            </a:r>
          </a:p>
          <a:p>
            <a:r>
              <a:t>learners who never could, and families who can pay subscribe for more practice</a:t>
            </a:r>
          </a:p>
          <a:p>
            <a:r>
              <a:t>and more content. Both run at once, and the second funds the first.</a:t>
            </a:r>
          </a:p>
          <a:p/>
          <a:p>
            <a:r>
              <a:t>WHY THE MVP IS FREE TODAY, IF ASKED</a:t>
            </a:r>
          </a:p>
          <a:p>
            <a:r>
              <a:t>Because it is still being validated, not because free is the business. Charging</a:t>
            </a:r>
          </a:p>
          <a:p>
            <a:r>
              <a:t>now would contaminate the activation and retention numbers we are reading, and</a:t>
            </a:r>
          </a:p>
          <a:p>
            <a:r>
              <a:t>we would rather know whether it works than know whether it sells. The paid tier</a:t>
            </a:r>
          </a:p>
          <a:p>
            <a:r>
              <a:t>follows once H1 to H7 have data.</a:t>
            </a:r>
          </a:p>
          <a:p/>
          <a:p>
            <a:r>
              <a:t>WHAT WE COPIED FROM DUOLINGO, AND WHAT WE DID NOT</a:t>
            </a:r>
          </a:p>
          <a:p>
            <a:r>
              <a:t>The daily habit loop, and the principle that the free tier stays genuinely</a:t>
            </a:r>
          </a:p>
          <a:p>
            <a:r>
              <a:t>useful forever rather than being crippled to force conversion. Not the hearts,</a:t>
            </a:r>
          </a:p>
          <a:p>
            <a:r>
              <a:t>not the lives, not the leaderboard, for the reasons on slide 19.</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whatever their family can pay.</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right now, and free to open: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500K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Half funded by institutions, half reached directly, of whom a small share subscribe.</a:t>
            </a:r>
          </a:p>
          <a:p>
            <a:pPr algn="l">
              <a:spcBef>
                <a:spcPts val="0"/>
              </a:spcBef>
              <a:spcAft>
                <a:spcPts val="0"/>
              </a:spcAft>
            </a:pPr>
            <a:r>
              <a:rPr sz="1100" b="1" i="0">
                <a:solidFill>
                  <a:srgbClr val="1A2733"/>
                </a:solidFill>
                <a:latin typeface="Arial"/>
              </a:rPr>
              <a:t>₹11.6 Cr  ·  $1.36M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is ever priced out of learning here.</a:t>
            </a:r>
          </a:p>
          <a:p>
            <a:pPr algn="l">
              <a:lnSpc>
                <a:spcPct val="124000"/>
              </a:lnSpc>
              <a:spcBef>
                <a:spcPts val="0"/>
              </a:spcBef>
              <a:spcAft>
                <a:spcPts val="0"/>
              </a:spcAft>
            </a:pPr>
            <a:r>
              <a:rPr sz="1000" b="0" i="0">
                <a:solidFill>
                  <a:srgbClr val="3F4A57"/>
                </a:solidFill>
                <a:latin typeface="Arial"/>
              </a:rPr>
              <a:t>Two routes to the same product. Institutions buy reach for learners who cannot pay, at ₹450 each. Families who can pay subscribe for depth and fund the rest. The core lessons stay free either way, and ₹450 is a floor set by cost: an active learner costs about ₹370 a year. Tiers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while we learn</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reading. It is a stage, not the model</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both sides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and a subscription for families who can pay, tested in parallel rather than one after the other</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install, and nothing in the way.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Some pay. Some never will. Both get the same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lessons stay free for everyone. Institutions fund the learners who cannot pay, and families who can pay subscribe for more.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FREE</a:t>
            </a:r>
          </a:p>
        </p:txBody>
      </p:sp>
      <p:sp>
        <p:nvSpPr>
          <p:cNvPr id="12" name="TextBox 11"/>
          <p:cNvSpPr txBox="1"/>
          <p:nvPr/>
        </p:nvSpPr>
        <p:spPr>
          <a:xfrm>
            <a:off x="749808"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₹0</a:t>
            </a:r>
          </a:p>
        </p:txBody>
      </p:sp>
      <p:sp>
        <p:nvSpPr>
          <p:cNvPr id="13" name="TextBox 12"/>
          <p:cNvSpPr txBox="1"/>
          <p:nvPr/>
        </p:nvSpPr>
        <p:spPr>
          <a:xfrm>
            <a:off x="749808"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The core stays free for good: lessons, practice, quizzes, progress and the parent summary, with the tutor capped at 10 questions a day. Today the whole product is free, because we are still gathering evidence.</a:t>
            </a:r>
          </a:p>
        </p:txBody>
      </p:sp>
      <p:sp>
        <p:nvSpPr>
          <p:cNvPr id="14" name="Rounded Rectangle 13"/>
          <p:cNvSpPr/>
          <p:nvPr/>
        </p:nvSpPr>
        <p:spPr>
          <a:xfrm>
            <a:off x="3381679"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679"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1679"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PLUS</a:t>
            </a:r>
          </a:p>
        </p:txBody>
      </p:sp>
      <p:sp>
        <p:nvSpPr>
          <p:cNvPr id="18" name="TextBox 17"/>
          <p:cNvSpPr txBox="1"/>
          <p:nvPr/>
        </p:nvSpPr>
        <p:spPr>
          <a:xfrm>
            <a:off x="3564559"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₹99 / month</a:t>
            </a:r>
          </a:p>
        </p:txBody>
      </p:sp>
      <p:sp>
        <p:nvSpPr>
          <p:cNvPr id="19" name="TextBox 18"/>
          <p:cNvSpPr txBox="1"/>
          <p:nvPr/>
        </p:nvSpPr>
        <p:spPr>
          <a:xfrm>
            <a:off x="3564559"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Depth, for the families who want it and can pay. Unlimited AI tutor, deeper adaptive practice, revision plans and fuller parent insight.</a:t>
            </a:r>
          </a:p>
        </p:txBody>
      </p:sp>
      <p:sp>
        <p:nvSpPr>
          <p:cNvPr id="20" name="Rounded Rectangle 19"/>
          <p:cNvSpPr/>
          <p:nvPr/>
        </p:nvSpPr>
        <p:spPr>
          <a:xfrm>
            <a:off x="6196431"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6431"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1"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DAGAR MENTOR</a:t>
            </a:r>
          </a:p>
        </p:txBody>
      </p:sp>
      <p:sp>
        <p:nvSpPr>
          <p:cNvPr id="24" name="TextBox 23"/>
          <p:cNvSpPr txBox="1"/>
          <p:nvPr/>
        </p:nvSpPr>
        <p:spPr>
          <a:xfrm>
            <a:off x="6379311"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 ₹299 / month</a:t>
            </a:r>
          </a:p>
        </p:txBody>
      </p:sp>
      <p:sp>
        <p:nvSpPr>
          <p:cNvPr id="25" name="TextBox 24"/>
          <p:cNvSpPr txBox="1"/>
          <p:nvPr/>
        </p:nvSpPr>
        <p:spPr>
          <a:xfrm>
            <a:off x="6379311"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Sessions with a real person. Not sold until mentors are verified and on call, because selling ahead of supply loses a parent's trust once and for good.</a:t>
            </a:r>
          </a:p>
        </p:txBody>
      </p:sp>
      <p:sp>
        <p:nvSpPr>
          <p:cNvPr id="26" name="Rounded Rectangle 25"/>
          <p:cNvSpPr/>
          <p:nvPr/>
        </p:nvSpPr>
        <p:spPr>
          <a:xfrm>
            <a:off x="9011183"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11183"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1183"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94063"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INSTITUTIONS</a:t>
            </a:r>
          </a:p>
        </p:txBody>
      </p:sp>
      <p:sp>
        <p:nvSpPr>
          <p:cNvPr id="30" name="TextBox 29"/>
          <p:cNvSpPr txBox="1"/>
          <p:nvPr/>
        </p:nvSpPr>
        <p:spPr>
          <a:xfrm>
            <a:off x="9194063"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₹450 to ₹600</a:t>
            </a:r>
          </a:p>
        </p:txBody>
      </p:sp>
      <p:sp>
        <p:nvSpPr>
          <p:cNvPr id="31" name="TextBox 30"/>
          <p:cNvSpPr txBox="1"/>
          <p:nvPr/>
        </p:nvSpPr>
        <p:spPr>
          <a:xfrm>
            <a:off x="9194063"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Per learner, per year. The scalable engine: NGO, CSR and government licences with cohort dashboards, reporting and bulk onboarding.</a:t>
            </a:r>
          </a:p>
        </p:txBody>
      </p:sp>
      <p:sp>
        <p:nvSpPr>
          <p:cNvPr id="32" name="Rounded Rectangle 31"/>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Two routes, running in parallel</a:t>
            </a:r>
          </a:p>
          <a:p>
            <a:pPr algn="l">
              <a:lnSpc>
                <a:spcPct val="122000"/>
              </a:lnSpc>
              <a:spcBef>
                <a:spcPts val="0"/>
              </a:spcBef>
              <a:spcAft>
                <a:spcPts val="0"/>
              </a:spcAft>
            </a:pPr>
            <a:r>
              <a:rPr sz="950" b="0" i="0">
                <a:solidFill>
                  <a:srgbClr val="3F4A57"/>
                </a:solidFill>
                <a:latin typeface="Arial"/>
              </a:rPr>
              <a:t>Institutions buy reach for learners who cannot pay: CSR is mandated in India by Section 135 and already buys per beneficiary. Alongside that we sell directly to families in tier 2 and tier 3 cities who can find ₹99 a month but never ₹5,000 for a tutor.</a:t>
            </a:r>
          </a:p>
        </p:txBody>
      </p:sp>
      <p:sp>
        <p:nvSpPr>
          <p:cNvPr id="35" name="Rounded Rectangle 34"/>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of free users subscribing</a:t>
            </a:r>
          </a:p>
          <a:p>
            <a:pPr algn="l">
              <a:lnSpc>
                <a:spcPct val="122000"/>
              </a:lnSpc>
              <a:spcBef>
                <a:spcPts val="0"/>
              </a:spcBef>
              <a:spcAft>
                <a:spcPts val="0"/>
              </a:spcAft>
            </a:pPr>
            <a:r>
              <a:rPr sz="950" b="0" i="0">
                <a:solidFill>
                  <a:srgbClr val="3F4A57"/>
                </a:solidFill>
                <a:latin typeface="Arial"/>
              </a:rPr>
              <a:t>Indian edtech converts 2 to 5% on general learning and 8 to 15% on exam prep. Duolingo, whose daily habit loop we copied deliberately, reaches 8.9%. We model 4%: the top of the general band, well below the app we learned it from.</a:t>
            </a:r>
          </a:p>
        </p:txBody>
      </p:sp>
      <p:sp>
        <p:nvSpPr>
          <p:cNvPr id="38" name="Rounded Rectangle 37"/>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so our marketing speaks to parents and never to children. The usual way a free product pays for itself is closed to us,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free to try</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